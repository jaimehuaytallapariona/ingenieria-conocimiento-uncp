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1733" y="6513986"/>
            <a:ext cx="1202266" cy="34401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06" y="120005"/>
            <a:ext cx="1040821" cy="49760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6368" y="341196"/>
            <a:ext cx="3829249" cy="2419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86344" y="213372"/>
            <a:ext cx="820674" cy="51586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98408" y="213372"/>
            <a:ext cx="384822" cy="515861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74608" y="213372"/>
            <a:ext cx="436625" cy="51586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1492" y="2692260"/>
            <a:ext cx="5081015" cy="1114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3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1733" y="6513986"/>
            <a:ext cx="1202266" cy="34401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306" y="120005"/>
            <a:ext cx="1040821" cy="4976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69465" y="304926"/>
            <a:ext cx="5005069" cy="453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789557"/>
            <a:ext cx="7834630" cy="3245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6975" y="6651686"/>
            <a:ext cx="229234" cy="168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jhuaytalla@uncp.edu.p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8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7" Type="http://schemas.openxmlformats.org/officeDocument/2006/relationships/image" Target="../media/image8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10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0.png"/><Relationship Id="rId3" Type="http://schemas.openxmlformats.org/officeDocument/2006/relationships/image" Target="../media/image39.jpg"/><Relationship Id="rId7" Type="http://schemas.openxmlformats.org/officeDocument/2006/relationships/image" Target="../media/image43.jpg"/><Relationship Id="rId12" Type="http://schemas.openxmlformats.org/officeDocument/2006/relationships/image" Target="../media/image48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g"/><Relationship Id="rId11" Type="http://schemas.openxmlformats.org/officeDocument/2006/relationships/image" Target="../media/image47.png"/><Relationship Id="rId5" Type="http://schemas.openxmlformats.org/officeDocument/2006/relationships/image" Target="../media/image41.jpg"/><Relationship Id="rId10" Type="http://schemas.openxmlformats.org/officeDocument/2006/relationships/image" Target="../media/image46.png"/><Relationship Id="rId4" Type="http://schemas.openxmlformats.org/officeDocument/2006/relationships/image" Target="../media/image40.jpg"/><Relationship Id="rId9" Type="http://schemas.openxmlformats.org/officeDocument/2006/relationships/image" Target="../media/image45.png"/><Relationship Id="rId1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g"/><Relationship Id="rId11" Type="http://schemas.openxmlformats.org/officeDocument/2006/relationships/image" Target="../media/image10.png"/><Relationship Id="rId5" Type="http://schemas.openxmlformats.org/officeDocument/2006/relationships/image" Target="../media/image52.jpg"/><Relationship Id="rId10" Type="http://schemas.openxmlformats.org/officeDocument/2006/relationships/image" Target="../media/image57.jpg"/><Relationship Id="rId4" Type="http://schemas.openxmlformats.org/officeDocument/2006/relationships/image" Target="../media/image51.jpg"/><Relationship Id="rId9" Type="http://schemas.openxmlformats.org/officeDocument/2006/relationships/image" Target="../media/image5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4.png"/><Relationship Id="rId7" Type="http://schemas.openxmlformats.org/officeDocument/2006/relationships/image" Target="../media/image30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8.png"/><Relationship Id="rId4" Type="http://schemas.openxmlformats.org/officeDocument/2006/relationships/image" Target="../media/image63.png"/><Relationship Id="rId9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.png"/><Relationship Id="rId2" Type="http://schemas.openxmlformats.org/officeDocument/2006/relationships/image" Target="../media/image67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2.png"/><Relationship Id="rId7" Type="http://schemas.openxmlformats.org/officeDocument/2006/relationships/image" Target="../media/image1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jp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6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10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0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" Type="http://schemas.openxmlformats.org/officeDocument/2006/relationships/image" Target="../media/image99.png"/><Relationship Id="rId16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19" Type="http://schemas.openxmlformats.org/officeDocument/2006/relationships/image" Target="../media/image8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47.png"/><Relationship Id="rId7" Type="http://schemas.openxmlformats.org/officeDocument/2006/relationships/image" Target="../media/image11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8.png"/><Relationship Id="rId5" Type="http://schemas.openxmlformats.org/officeDocument/2006/relationships/image" Target="../media/image56.jpg"/><Relationship Id="rId10" Type="http://schemas.openxmlformats.org/officeDocument/2006/relationships/image" Target="../media/image10.png"/><Relationship Id="rId4" Type="http://schemas.openxmlformats.org/officeDocument/2006/relationships/image" Target="../media/image55.jpg"/><Relationship Id="rId9" Type="http://schemas.openxmlformats.org/officeDocument/2006/relationships/image" Target="../media/image1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6.png"/><Relationship Id="rId18" Type="http://schemas.openxmlformats.org/officeDocument/2006/relationships/image" Target="../media/image10.png"/><Relationship Id="rId3" Type="http://schemas.openxmlformats.org/officeDocument/2006/relationships/image" Target="../media/image29.png"/><Relationship Id="rId7" Type="http://schemas.openxmlformats.org/officeDocument/2006/relationships/image" Target="../media/image121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" Type="http://schemas.openxmlformats.org/officeDocument/2006/relationships/image" Target="../media/image119.png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4.png"/><Relationship Id="rId5" Type="http://schemas.openxmlformats.org/officeDocument/2006/relationships/image" Target="../media/image33.png"/><Relationship Id="rId15" Type="http://schemas.openxmlformats.org/officeDocument/2006/relationships/image" Target="../media/image128.png"/><Relationship Id="rId10" Type="http://schemas.openxmlformats.org/officeDocument/2006/relationships/image" Target="../media/image34.png"/><Relationship Id="rId19" Type="http://schemas.openxmlformats.org/officeDocument/2006/relationships/image" Target="../media/image8.png"/><Relationship Id="rId4" Type="http://schemas.openxmlformats.org/officeDocument/2006/relationships/image" Target="../media/image31.png"/><Relationship Id="rId9" Type="http://schemas.openxmlformats.org/officeDocument/2006/relationships/image" Target="../media/image123.png"/><Relationship Id="rId14" Type="http://schemas.openxmlformats.org/officeDocument/2006/relationships/image" Target="../media/image1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3.png"/><Relationship Id="rId7" Type="http://schemas.openxmlformats.org/officeDocument/2006/relationships/image" Target="../media/image10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0.png"/><Relationship Id="rId5" Type="http://schemas.openxmlformats.org/officeDocument/2006/relationships/image" Target="../media/image140.png"/><Relationship Id="rId10" Type="http://schemas.openxmlformats.org/officeDocument/2006/relationships/image" Target="../media/image144.png"/><Relationship Id="rId4" Type="http://schemas.openxmlformats.org/officeDocument/2006/relationships/image" Target="../media/image139.png"/><Relationship Id="rId9" Type="http://schemas.openxmlformats.org/officeDocument/2006/relationships/image" Target="../media/image14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12" Type="http://schemas.openxmlformats.org/officeDocument/2006/relationships/image" Target="../media/image8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11" Type="http://schemas.openxmlformats.org/officeDocument/2006/relationships/image" Target="../media/image10.png"/><Relationship Id="rId5" Type="http://schemas.openxmlformats.org/officeDocument/2006/relationships/image" Target="../media/image148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ctrTitle"/>
          </p:nvPr>
        </p:nvSpPr>
        <p:spPr>
          <a:xfrm>
            <a:off x="1828800" y="2362200"/>
            <a:ext cx="5081015" cy="153247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560"/>
              </a:spcBef>
            </a:pPr>
            <a:r>
              <a:rPr sz="4800" dirty="0">
                <a:solidFill>
                  <a:srgbClr val="000000"/>
                </a:solidFill>
              </a:rPr>
              <a:t>Redes</a:t>
            </a:r>
            <a:r>
              <a:rPr sz="4800" spc="-60" dirty="0">
                <a:solidFill>
                  <a:srgbClr val="000000"/>
                </a:solidFill>
              </a:rPr>
              <a:t> </a:t>
            </a:r>
            <a:r>
              <a:rPr sz="4800" dirty="0">
                <a:solidFill>
                  <a:srgbClr val="000000"/>
                </a:solidFill>
              </a:rPr>
              <a:t>Neuronales</a:t>
            </a:r>
            <a:r>
              <a:rPr sz="4800" spc="-55" dirty="0">
                <a:solidFill>
                  <a:srgbClr val="000000"/>
                </a:solidFill>
              </a:rPr>
              <a:t> </a:t>
            </a:r>
            <a:r>
              <a:rPr sz="4800" spc="-25" dirty="0">
                <a:solidFill>
                  <a:srgbClr val="000000"/>
                </a:solidFill>
              </a:rPr>
              <a:t>(I)</a:t>
            </a:r>
            <a:endParaRPr sz="48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DB0BA5D-CB0D-D7EF-00C6-653F8DB13F5B}"/>
              </a:ext>
            </a:extLst>
          </p:cNvPr>
          <p:cNvSpPr txBox="1"/>
          <p:nvPr/>
        </p:nvSpPr>
        <p:spPr>
          <a:xfrm>
            <a:off x="2362200" y="434340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Ing. Jaime Antonio </a:t>
            </a:r>
            <a:r>
              <a:rPr lang="es-PE" dirty="0" err="1"/>
              <a:t>Huaytalla</a:t>
            </a:r>
            <a:r>
              <a:rPr lang="es-PE" dirty="0"/>
              <a:t> Pariona</a:t>
            </a:r>
          </a:p>
          <a:p>
            <a:pPr algn="ctr"/>
            <a:r>
              <a:rPr lang="es-PE" dirty="0">
                <a:hlinkClick r:id="rId2"/>
              </a:rPr>
              <a:t>jhuaytalla@uncp.edu.pe</a:t>
            </a:r>
            <a:r>
              <a:rPr lang="es-PE" dirty="0"/>
              <a:t>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DB2B625-6C12-409C-9DB3-43F1F3031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1447800" cy="123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geniería de Sistemas - UNCP">
            <a:extLst>
              <a:ext uri="{FF2B5EF4-FFF2-40B4-BE49-F238E27FC236}">
                <a16:creationId xmlns:a16="http://schemas.microsoft.com/office/drawing/2014/main" id="{1930EFCE-30C3-27E9-8BCB-B0D134DB1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8599"/>
            <a:ext cx="1226735" cy="123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9390" y="592962"/>
            <a:ext cx="112712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>
                <a:solidFill>
                  <a:srgbClr val="B51A00"/>
                </a:solidFill>
              </a:rPr>
              <a:t>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422" y="1426363"/>
            <a:ext cx="8471157" cy="6501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2816" y="1514855"/>
            <a:ext cx="8296909" cy="475615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6096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480"/>
              </a:spcBef>
              <a:tabLst>
                <a:tab pos="688975" algn="l"/>
              </a:tabLst>
            </a:pPr>
            <a:r>
              <a:rPr sz="2400" b="1" spc="-25" dirty="0">
                <a:solidFill>
                  <a:srgbClr val="0000FF"/>
                </a:solidFill>
                <a:latin typeface="Arial"/>
                <a:cs typeface="Arial"/>
              </a:rPr>
              <a:t>1.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	Introducción</a:t>
            </a:r>
            <a:r>
              <a:rPr sz="2400" b="1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24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Conceptos</a:t>
            </a:r>
            <a:r>
              <a:rPr sz="24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Arial"/>
                <a:cs typeface="Arial"/>
              </a:rPr>
              <a:t>Básicos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652068" y="2285441"/>
            <a:ext cx="4490085" cy="184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4699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Redes</a:t>
            </a:r>
            <a:r>
              <a:rPr sz="2400" spc="-1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Neuronales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Simples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7E7E7E"/>
              </a:buClr>
              <a:buFont typeface="Arial MT"/>
              <a:buAutoNum type="arabicPeriod" startAt="2"/>
            </a:pP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900" algn="l"/>
              </a:tabLst>
            </a:pP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Backpropagation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7E7E7E"/>
              </a:buClr>
              <a:buFont typeface="Arial MT"/>
              <a:buAutoNum type="arabicPeriod" startAt="2"/>
            </a:pP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9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Redes</a:t>
            </a:r>
            <a:r>
              <a:rPr sz="2400" spc="-1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Neuronales</a:t>
            </a:r>
            <a:r>
              <a:rPr sz="24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Profundas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A5DB465E-7052-132D-33B6-7EF5FDBBB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C518E19E-7F9A-C71C-A00E-1EB058BE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9325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10" dirty="0"/>
              <a:t> Neuronales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4483"/>
            <a:ext cx="7390765" cy="14681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05104" marR="5080" indent="-193040">
              <a:lnSpc>
                <a:spcPct val="100400"/>
              </a:lnSpc>
              <a:spcBef>
                <a:spcPts val="85"/>
              </a:spcBef>
              <a:buChar char="•"/>
              <a:tabLst>
                <a:tab pos="207645" algn="l"/>
              </a:tabLst>
            </a:pPr>
            <a:r>
              <a:rPr sz="2000" spc="-30" dirty="0">
                <a:latin typeface="Arial MT"/>
                <a:cs typeface="Arial MT"/>
              </a:rPr>
              <a:t>También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llamadas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“Redes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Neuronales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Artificiales”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(ANN:</a:t>
            </a:r>
            <a:r>
              <a:rPr sz="18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i="1" spc="-10" dirty="0">
                <a:solidFill>
                  <a:srgbClr val="7E7E7E"/>
                </a:solidFill>
                <a:latin typeface="Arial"/>
                <a:cs typeface="Arial"/>
              </a:rPr>
              <a:t>Artificial 	</a:t>
            </a:r>
            <a:r>
              <a:rPr sz="1800" i="1" dirty="0">
                <a:solidFill>
                  <a:srgbClr val="7E7E7E"/>
                </a:solidFill>
                <a:latin typeface="Arial"/>
                <a:cs typeface="Arial"/>
              </a:rPr>
              <a:t>Neural</a:t>
            </a:r>
            <a:r>
              <a:rPr sz="1800" i="1" spc="-10" dirty="0">
                <a:solidFill>
                  <a:srgbClr val="7E7E7E"/>
                </a:solidFill>
                <a:latin typeface="Arial"/>
                <a:cs typeface="Arial"/>
              </a:rPr>
              <a:t> Networks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marL="205740" indent="-193040">
              <a:lnSpc>
                <a:spcPct val="100000"/>
              </a:lnSpc>
              <a:spcBef>
                <a:spcPts val="1789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Se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inspiran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en:</a:t>
            </a:r>
            <a:endParaRPr sz="2000">
              <a:latin typeface="Arial MT"/>
              <a:cs typeface="Arial MT"/>
            </a:endParaRPr>
          </a:p>
          <a:p>
            <a:pPr marL="229235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Neuronas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cerebro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humano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652" y="5137150"/>
            <a:ext cx="34880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Interconexiones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10" dirty="0">
                <a:latin typeface="Arial MT"/>
                <a:cs typeface="Arial MT"/>
              </a:rPr>
              <a:t> neuronas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0722" y="2976684"/>
            <a:ext cx="3313694" cy="18190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6264" y="5806440"/>
            <a:ext cx="1865376" cy="47244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4019BA42-2803-2811-4BA7-9893D9DF6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C9E87756-837F-2201-E590-D93A22BE7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9325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10" dirty="0"/>
              <a:t> Neuronales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67330" y="2333117"/>
            <a:ext cx="3615690" cy="1466215"/>
            <a:chOff x="2267330" y="2333117"/>
            <a:chExt cx="3615690" cy="1466215"/>
          </a:xfrm>
        </p:grpSpPr>
        <p:sp>
          <p:nvSpPr>
            <p:cNvPr id="4" name="object 4"/>
            <p:cNvSpPr/>
            <p:nvPr/>
          </p:nvSpPr>
          <p:spPr>
            <a:xfrm>
              <a:off x="3278123" y="2561844"/>
              <a:ext cx="2590800" cy="1009015"/>
            </a:xfrm>
            <a:custGeom>
              <a:avLst/>
              <a:gdLst/>
              <a:ahLst/>
              <a:cxnLst/>
              <a:rect l="l" t="t" r="r" b="b"/>
              <a:pathLst>
                <a:path w="2590800" h="1009014">
                  <a:moveTo>
                    <a:pt x="0" y="504443"/>
                  </a:moveTo>
                  <a:lnTo>
                    <a:pt x="6688" y="452860"/>
                  </a:lnTo>
                  <a:lnTo>
                    <a:pt x="26319" y="402769"/>
                  </a:lnTo>
                  <a:lnTo>
                    <a:pt x="58241" y="354422"/>
                  </a:lnTo>
                  <a:lnTo>
                    <a:pt x="101804" y="308074"/>
                  </a:lnTo>
                  <a:lnTo>
                    <a:pt x="156355" y="263977"/>
                  </a:lnTo>
                  <a:lnTo>
                    <a:pt x="221244" y="222386"/>
                  </a:lnTo>
                  <a:lnTo>
                    <a:pt x="257361" y="202609"/>
                  </a:lnTo>
                  <a:lnTo>
                    <a:pt x="295818" y="183553"/>
                  </a:lnTo>
                  <a:lnTo>
                    <a:pt x="336534" y="165250"/>
                  </a:lnTo>
                  <a:lnTo>
                    <a:pt x="379428" y="147732"/>
                  </a:lnTo>
                  <a:lnTo>
                    <a:pt x="424417" y="131030"/>
                  </a:lnTo>
                  <a:lnTo>
                    <a:pt x="471421" y="115177"/>
                  </a:lnTo>
                  <a:lnTo>
                    <a:pt x="520358" y="100203"/>
                  </a:lnTo>
                  <a:lnTo>
                    <a:pt x="571146" y="86140"/>
                  </a:lnTo>
                  <a:lnTo>
                    <a:pt x="623705" y="73020"/>
                  </a:lnTo>
                  <a:lnTo>
                    <a:pt x="677952" y="60875"/>
                  </a:lnTo>
                  <a:lnTo>
                    <a:pt x="733807" y="49736"/>
                  </a:lnTo>
                  <a:lnTo>
                    <a:pt x="791188" y="39635"/>
                  </a:lnTo>
                  <a:lnTo>
                    <a:pt x="850013" y="30604"/>
                  </a:lnTo>
                  <a:lnTo>
                    <a:pt x="910202" y="22675"/>
                  </a:lnTo>
                  <a:lnTo>
                    <a:pt x="971672" y="15878"/>
                  </a:lnTo>
                  <a:lnTo>
                    <a:pt x="1034342" y="10246"/>
                  </a:lnTo>
                  <a:lnTo>
                    <a:pt x="1098132" y="5811"/>
                  </a:lnTo>
                  <a:lnTo>
                    <a:pt x="1162959" y="2603"/>
                  </a:lnTo>
                  <a:lnTo>
                    <a:pt x="1228742" y="656"/>
                  </a:lnTo>
                  <a:lnTo>
                    <a:pt x="1295400" y="0"/>
                  </a:lnTo>
                  <a:lnTo>
                    <a:pt x="1362057" y="656"/>
                  </a:lnTo>
                  <a:lnTo>
                    <a:pt x="1427840" y="2603"/>
                  </a:lnTo>
                  <a:lnTo>
                    <a:pt x="1492667" y="5811"/>
                  </a:lnTo>
                  <a:lnTo>
                    <a:pt x="1556457" y="10246"/>
                  </a:lnTo>
                  <a:lnTo>
                    <a:pt x="1619127" y="15878"/>
                  </a:lnTo>
                  <a:lnTo>
                    <a:pt x="1680597" y="22675"/>
                  </a:lnTo>
                  <a:lnTo>
                    <a:pt x="1740786" y="30604"/>
                  </a:lnTo>
                  <a:lnTo>
                    <a:pt x="1799611" y="39635"/>
                  </a:lnTo>
                  <a:lnTo>
                    <a:pt x="1856992" y="49736"/>
                  </a:lnTo>
                  <a:lnTo>
                    <a:pt x="1912847" y="60875"/>
                  </a:lnTo>
                  <a:lnTo>
                    <a:pt x="1967094" y="73020"/>
                  </a:lnTo>
                  <a:lnTo>
                    <a:pt x="2019653" y="86140"/>
                  </a:lnTo>
                  <a:lnTo>
                    <a:pt x="2070441" y="100203"/>
                  </a:lnTo>
                  <a:lnTo>
                    <a:pt x="2119378" y="115177"/>
                  </a:lnTo>
                  <a:lnTo>
                    <a:pt x="2166382" y="131030"/>
                  </a:lnTo>
                  <a:lnTo>
                    <a:pt x="2211371" y="147732"/>
                  </a:lnTo>
                  <a:lnTo>
                    <a:pt x="2254265" y="165250"/>
                  </a:lnTo>
                  <a:lnTo>
                    <a:pt x="2294981" y="183553"/>
                  </a:lnTo>
                  <a:lnTo>
                    <a:pt x="2333438" y="202609"/>
                  </a:lnTo>
                  <a:lnTo>
                    <a:pt x="2369555" y="222386"/>
                  </a:lnTo>
                  <a:lnTo>
                    <a:pt x="2403251" y="242853"/>
                  </a:lnTo>
                  <a:lnTo>
                    <a:pt x="2463052" y="285728"/>
                  </a:lnTo>
                  <a:lnTo>
                    <a:pt x="2512191" y="330982"/>
                  </a:lnTo>
                  <a:lnTo>
                    <a:pt x="2550014" y="378361"/>
                  </a:lnTo>
                  <a:lnTo>
                    <a:pt x="2575873" y="427612"/>
                  </a:lnTo>
                  <a:lnTo>
                    <a:pt x="2589114" y="478481"/>
                  </a:lnTo>
                  <a:lnTo>
                    <a:pt x="2590800" y="504443"/>
                  </a:lnTo>
                  <a:lnTo>
                    <a:pt x="2589114" y="530406"/>
                  </a:lnTo>
                  <a:lnTo>
                    <a:pt x="2575873" y="581275"/>
                  </a:lnTo>
                  <a:lnTo>
                    <a:pt x="2550014" y="630526"/>
                  </a:lnTo>
                  <a:lnTo>
                    <a:pt x="2512191" y="677905"/>
                  </a:lnTo>
                  <a:lnTo>
                    <a:pt x="2463052" y="723159"/>
                  </a:lnTo>
                  <a:lnTo>
                    <a:pt x="2403251" y="766034"/>
                  </a:lnTo>
                  <a:lnTo>
                    <a:pt x="2369555" y="786501"/>
                  </a:lnTo>
                  <a:lnTo>
                    <a:pt x="2333438" y="806278"/>
                  </a:lnTo>
                  <a:lnTo>
                    <a:pt x="2294981" y="825334"/>
                  </a:lnTo>
                  <a:lnTo>
                    <a:pt x="2254265" y="843637"/>
                  </a:lnTo>
                  <a:lnTo>
                    <a:pt x="2211371" y="861155"/>
                  </a:lnTo>
                  <a:lnTo>
                    <a:pt x="2166382" y="877857"/>
                  </a:lnTo>
                  <a:lnTo>
                    <a:pt x="2119378" y="893710"/>
                  </a:lnTo>
                  <a:lnTo>
                    <a:pt x="2070441" y="908684"/>
                  </a:lnTo>
                  <a:lnTo>
                    <a:pt x="2019653" y="922747"/>
                  </a:lnTo>
                  <a:lnTo>
                    <a:pt x="1967094" y="935867"/>
                  </a:lnTo>
                  <a:lnTo>
                    <a:pt x="1912847" y="948012"/>
                  </a:lnTo>
                  <a:lnTo>
                    <a:pt x="1856992" y="959151"/>
                  </a:lnTo>
                  <a:lnTo>
                    <a:pt x="1799611" y="969252"/>
                  </a:lnTo>
                  <a:lnTo>
                    <a:pt x="1740786" y="978283"/>
                  </a:lnTo>
                  <a:lnTo>
                    <a:pt x="1680597" y="986212"/>
                  </a:lnTo>
                  <a:lnTo>
                    <a:pt x="1619127" y="993009"/>
                  </a:lnTo>
                  <a:lnTo>
                    <a:pt x="1556457" y="998641"/>
                  </a:lnTo>
                  <a:lnTo>
                    <a:pt x="1492667" y="1003076"/>
                  </a:lnTo>
                  <a:lnTo>
                    <a:pt x="1427840" y="1006284"/>
                  </a:lnTo>
                  <a:lnTo>
                    <a:pt x="1362057" y="1008231"/>
                  </a:lnTo>
                  <a:lnTo>
                    <a:pt x="1295400" y="1008888"/>
                  </a:lnTo>
                  <a:lnTo>
                    <a:pt x="1228742" y="1008231"/>
                  </a:lnTo>
                  <a:lnTo>
                    <a:pt x="1162959" y="1006284"/>
                  </a:lnTo>
                  <a:lnTo>
                    <a:pt x="1098132" y="1003076"/>
                  </a:lnTo>
                  <a:lnTo>
                    <a:pt x="1034342" y="998641"/>
                  </a:lnTo>
                  <a:lnTo>
                    <a:pt x="971672" y="993009"/>
                  </a:lnTo>
                  <a:lnTo>
                    <a:pt x="910202" y="986212"/>
                  </a:lnTo>
                  <a:lnTo>
                    <a:pt x="850013" y="978283"/>
                  </a:lnTo>
                  <a:lnTo>
                    <a:pt x="791188" y="969252"/>
                  </a:lnTo>
                  <a:lnTo>
                    <a:pt x="733807" y="959151"/>
                  </a:lnTo>
                  <a:lnTo>
                    <a:pt x="677952" y="948012"/>
                  </a:lnTo>
                  <a:lnTo>
                    <a:pt x="623705" y="935867"/>
                  </a:lnTo>
                  <a:lnTo>
                    <a:pt x="571146" y="922747"/>
                  </a:lnTo>
                  <a:lnTo>
                    <a:pt x="520358" y="908684"/>
                  </a:lnTo>
                  <a:lnTo>
                    <a:pt x="471421" y="893710"/>
                  </a:lnTo>
                  <a:lnTo>
                    <a:pt x="424417" y="877857"/>
                  </a:lnTo>
                  <a:lnTo>
                    <a:pt x="379428" y="861155"/>
                  </a:lnTo>
                  <a:lnTo>
                    <a:pt x="336534" y="843637"/>
                  </a:lnTo>
                  <a:lnTo>
                    <a:pt x="295818" y="825334"/>
                  </a:lnTo>
                  <a:lnTo>
                    <a:pt x="257361" y="806278"/>
                  </a:lnTo>
                  <a:lnTo>
                    <a:pt x="221244" y="786501"/>
                  </a:lnTo>
                  <a:lnTo>
                    <a:pt x="187548" y="766034"/>
                  </a:lnTo>
                  <a:lnTo>
                    <a:pt x="127747" y="723159"/>
                  </a:lnTo>
                  <a:lnTo>
                    <a:pt x="78608" y="677905"/>
                  </a:lnTo>
                  <a:lnTo>
                    <a:pt x="40785" y="630526"/>
                  </a:lnTo>
                  <a:lnTo>
                    <a:pt x="14926" y="581275"/>
                  </a:lnTo>
                  <a:lnTo>
                    <a:pt x="1685" y="530406"/>
                  </a:lnTo>
                  <a:lnTo>
                    <a:pt x="0" y="504443"/>
                  </a:lnTo>
                  <a:close/>
                </a:path>
              </a:pathLst>
            </a:custGeom>
            <a:ln w="2743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3383" y="2923032"/>
              <a:ext cx="1399032" cy="2346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9511" y="2926080"/>
              <a:ext cx="426720" cy="2560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06339" y="2561844"/>
              <a:ext cx="0" cy="1008380"/>
            </a:xfrm>
            <a:custGeom>
              <a:avLst/>
              <a:gdLst/>
              <a:ahLst/>
              <a:cxnLst/>
              <a:rect l="l" t="t" r="r" b="b"/>
              <a:pathLst>
                <a:path h="1008379">
                  <a:moveTo>
                    <a:pt x="0" y="0"/>
                  </a:moveTo>
                  <a:lnTo>
                    <a:pt x="0" y="1008126"/>
                  </a:lnTo>
                </a:path>
              </a:pathLst>
            </a:custGeom>
            <a:ln w="27432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67331" y="2333116"/>
              <a:ext cx="1187450" cy="1466215"/>
            </a:xfrm>
            <a:custGeom>
              <a:avLst/>
              <a:gdLst/>
              <a:ahLst/>
              <a:cxnLst/>
              <a:rect l="l" t="t" r="r" b="b"/>
              <a:pathLst>
                <a:path w="1187450" h="1466214">
                  <a:moveTo>
                    <a:pt x="1010031" y="733171"/>
                  </a:moveTo>
                  <a:lnTo>
                    <a:pt x="934212" y="680974"/>
                  </a:lnTo>
                  <a:lnTo>
                    <a:pt x="930402" y="708152"/>
                  </a:lnTo>
                  <a:lnTo>
                    <a:pt x="3810" y="577850"/>
                  </a:lnTo>
                  <a:lnTo>
                    <a:pt x="0" y="605028"/>
                  </a:lnTo>
                  <a:lnTo>
                    <a:pt x="926592" y="735330"/>
                  </a:lnTo>
                  <a:lnTo>
                    <a:pt x="922782" y="762508"/>
                  </a:lnTo>
                  <a:lnTo>
                    <a:pt x="997940" y="737235"/>
                  </a:lnTo>
                  <a:lnTo>
                    <a:pt x="1010031" y="733171"/>
                  </a:lnTo>
                  <a:close/>
                </a:path>
                <a:path w="1187450" h="1466214">
                  <a:moveTo>
                    <a:pt x="1083183" y="516382"/>
                  </a:moveTo>
                  <a:lnTo>
                    <a:pt x="1069365" y="497967"/>
                  </a:lnTo>
                  <a:lnTo>
                    <a:pt x="1027938" y="442722"/>
                  </a:lnTo>
                  <a:lnTo>
                    <a:pt x="1015644" y="467309"/>
                  </a:lnTo>
                  <a:lnTo>
                    <a:pt x="81153" y="0"/>
                  </a:lnTo>
                  <a:lnTo>
                    <a:pt x="68961" y="24638"/>
                  </a:lnTo>
                  <a:lnTo>
                    <a:pt x="1003388" y="491807"/>
                  </a:lnTo>
                  <a:lnTo>
                    <a:pt x="991108" y="516382"/>
                  </a:lnTo>
                  <a:lnTo>
                    <a:pt x="1083183" y="516382"/>
                  </a:lnTo>
                  <a:close/>
                </a:path>
                <a:path w="1187450" h="1466214">
                  <a:moveTo>
                    <a:pt x="1187069" y="1021207"/>
                  </a:moveTo>
                  <a:lnTo>
                    <a:pt x="1095121" y="1017143"/>
                  </a:lnTo>
                  <a:lnTo>
                    <a:pt x="1106284" y="1042187"/>
                  </a:lnTo>
                  <a:lnTo>
                    <a:pt x="212725" y="1440688"/>
                  </a:lnTo>
                  <a:lnTo>
                    <a:pt x="223901" y="1465834"/>
                  </a:lnTo>
                  <a:lnTo>
                    <a:pt x="1117473" y="1067282"/>
                  </a:lnTo>
                  <a:lnTo>
                    <a:pt x="1128649" y="1092327"/>
                  </a:lnTo>
                  <a:lnTo>
                    <a:pt x="1174445" y="1036574"/>
                  </a:lnTo>
                  <a:lnTo>
                    <a:pt x="1187069" y="1021207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10540" y="1162128"/>
            <a:ext cx="6931025" cy="182753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31140" indent="-193040">
              <a:lnSpc>
                <a:spcPct val="100000"/>
              </a:lnSpc>
              <a:spcBef>
                <a:spcPts val="585"/>
              </a:spcBef>
              <a:buChar char="•"/>
              <a:tabLst>
                <a:tab pos="2311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Unidad</a:t>
            </a:r>
            <a:r>
              <a:rPr sz="2000" spc="-5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neuronal</a:t>
            </a:r>
            <a:endParaRPr sz="2000">
              <a:latin typeface="Arial MT"/>
              <a:cs typeface="Arial MT"/>
            </a:endParaRPr>
          </a:p>
          <a:p>
            <a:pPr marL="254635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Representa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“neurona”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dentro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(también: unidad</a:t>
            </a:r>
            <a:r>
              <a:rPr sz="1400" spc="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logística)</a:t>
            </a:r>
            <a:endParaRPr sz="1400">
              <a:latin typeface="Arial MT"/>
              <a:cs typeface="Arial MT"/>
            </a:endParaRPr>
          </a:p>
          <a:p>
            <a:pPr marL="1557020">
              <a:lnSpc>
                <a:spcPct val="100000"/>
              </a:lnSpc>
              <a:spcBef>
                <a:spcPts val="1785"/>
              </a:spcBef>
            </a:pPr>
            <a:r>
              <a:rPr sz="1800" i="1" spc="-25" dirty="0">
                <a:latin typeface="Times New Roman"/>
                <a:cs typeface="Times New Roman"/>
              </a:rPr>
              <a:t>x</a:t>
            </a:r>
            <a:r>
              <a:rPr sz="1800" spc="-37" baseline="-20833" dirty="0">
                <a:latin typeface="Times New Roman"/>
                <a:cs typeface="Times New Roman"/>
              </a:rPr>
              <a:t>1</a:t>
            </a:r>
            <a:endParaRPr sz="1800" baseline="-2083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200">
              <a:latin typeface="Times New Roman"/>
              <a:cs typeface="Times New Roman"/>
            </a:endParaRPr>
          </a:p>
          <a:p>
            <a:pPr marL="1465580">
              <a:lnSpc>
                <a:spcPct val="100000"/>
              </a:lnSpc>
            </a:pPr>
            <a:r>
              <a:rPr sz="1800" i="1" spc="-25" dirty="0">
                <a:latin typeface="Times New Roman"/>
                <a:cs typeface="Times New Roman"/>
              </a:rPr>
              <a:t>x</a:t>
            </a:r>
            <a:r>
              <a:rPr sz="1800" spc="-37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676274" y="3666576"/>
                <a:ext cx="6599555" cy="26840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45669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s-PE" sz="1800" i="1" spc="-25" dirty="0">
                    <a:latin typeface="Times New Roman"/>
                    <a:cs typeface="Times New Roman"/>
                  </a:rPr>
                  <a:t>x</a:t>
                </a:r>
                <a:r>
                  <a:rPr lang="es-PE" sz="1800" i="1" spc="-37" baseline="-20833" dirty="0">
                    <a:latin typeface="Times New Roman"/>
                    <a:cs typeface="Times New Roman"/>
                  </a:rPr>
                  <a:t>d</a:t>
                </a:r>
                <a:endParaRPr lang="es-PE" sz="1800" baseline="-20833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1130"/>
                  </a:spcBef>
                </a:pPr>
                <a:endParaRPr lang="es-PE" sz="1200" dirty="0">
                  <a:latin typeface="Times New Roman"/>
                  <a:cs typeface="Times New Roman"/>
                </a:endParaRPr>
              </a:p>
              <a:p>
                <a:pPr marL="221615" indent="-158115">
                  <a:lnSpc>
                    <a:spcPct val="100000"/>
                  </a:lnSpc>
                  <a:buChar char="-"/>
                  <a:tabLst>
                    <a:tab pos="221615" algn="l"/>
                  </a:tabLst>
                </a:pPr>
                <a:r>
                  <a:rPr lang="es-PE" sz="1800" dirty="0">
                    <a:latin typeface="Arial MT"/>
                    <a:cs typeface="Arial MT"/>
                  </a:rPr>
                  <a:t>Partes</a:t>
                </a:r>
                <a:r>
                  <a:rPr lang="es-PE" sz="1800" spc="-10" dirty="0">
                    <a:latin typeface="Arial MT"/>
                    <a:cs typeface="Arial MT"/>
                  </a:rPr>
                  <a:t> importantes:</a:t>
                </a:r>
                <a:endParaRPr lang="es-PE" sz="1800" dirty="0">
                  <a:latin typeface="Arial MT"/>
                  <a:cs typeface="Arial MT"/>
                </a:endParaRPr>
              </a:p>
              <a:p>
                <a:pPr marL="443865" lvl="1" indent="-222250">
                  <a:lnSpc>
                    <a:spcPct val="100000"/>
                  </a:lnSpc>
                  <a:spcBef>
                    <a:spcPts val="395"/>
                  </a:spcBef>
                  <a:buFont typeface="Arial MT"/>
                  <a:buChar char="•"/>
                  <a:tabLst>
                    <a:tab pos="443865" algn="l"/>
                  </a:tabLst>
                </a:pPr>
                <a:r>
                  <a:rPr lang="es-PE" sz="1600" i="1" dirty="0">
                    <a:solidFill>
                      <a:srgbClr val="6F2F9F"/>
                    </a:solidFill>
                    <a:latin typeface="Arial"/>
                    <a:cs typeface="Arial"/>
                  </a:rPr>
                  <a:t>Función</a:t>
                </a:r>
                <a:r>
                  <a:rPr lang="es-PE" sz="1600" i="1" spc="-70" dirty="0">
                    <a:solidFill>
                      <a:srgbClr val="6F2F9F"/>
                    </a:solidFill>
                    <a:latin typeface="Arial"/>
                    <a:cs typeface="Arial"/>
                  </a:rPr>
                  <a:t> </a:t>
                </a:r>
                <a:r>
                  <a:rPr lang="es-PE" sz="1600" i="1" dirty="0">
                    <a:solidFill>
                      <a:srgbClr val="6F2F9F"/>
                    </a:solidFill>
                    <a:latin typeface="Arial"/>
                    <a:cs typeface="Arial"/>
                  </a:rPr>
                  <a:t>de</a:t>
                </a:r>
                <a:r>
                  <a:rPr lang="es-PE" sz="1600" i="1" spc="-15" dirty="0">
                    <a:solidFill>
                      <a:srgbClr val="6F2F9F"/>
                    </a:solidFill>
                    <a:latin typeface="Arial"/>
                    <a:cs typeface="Arial"/>
                  </a:rPr>
                  <a:t> </a:t>
                </a:r>
                <a:r>
                  <a:rPr lang="es-PE" sz="1600" i="1" dirty="0">
                    <a:solidFill>
                      <a:srgbClr val="6F2F9F"/>
                    </a:solidFill>
                    <a:latin typeface="Arial"/>
                    <a:cs typeface="Arial"/>
                  </a:rPr>
                  <a:t>propagación</a:t>
                </a:r>
                <a:r>
                  <a:rPr lang="es-PE" sz="1600" i="1" spc="-35" dirty="0">
                    <a:solidFill>
                      <a:srgbClr val="6F2F9F"/>
                    </a:solidFill>
                    <a:latin typeface="Arial"/>
                    <a:cs typeface="Arial"/>
                  </a:rPr>
                  <a:t> </a:t>
                </a:r>
                <a:r>
                  <a:rPr lang="es-PE" sz="1600" dirty="0">
                    <a:solidFill>
                      <a:srgbClr val="7E7E7E"/>
                    </a:solidFill>
                    <a:latin typeface="Arial MT"/>
                    <a:cs typeface="Arial MT"/>
                  </a:rPr>
                  <a:t>(combinación</a:t>
                </a:r>
                <a:r>
                  <a:rPr lang="es-PE" sz="1600" spc="-110" dirty="0">
                    <a:solidFill>
                      <a:srgbClr val="7E7E7E"/>
                    </a:solidFill>
                    <a:latin typeface="Arial MT"/>
                    <a:cs typeface="Arial MT"/>
                  </a:rPr>
                  <a:t> </a:t>
                </a:r>
                <a:r>
                  <a:rPr lang="es-PE" sz="1600" dirty="0">
                    <a:solidFill>
                      <a:srgbClr val="7E7E7E"/>
                    </a:solidFill>
                    <a:latin typeface="Arial MT"/>
                    <a:cs typeface="Arial MT"/>
                  </a:rPr>
                  <a:t>lineal</a:t>
                </a:r>
                <a:r>
                  <a:rPr lang="es-PE" sz="1600" spc="-25" dirty="0">
                    <a:solidFill>
                      <a:srgbClr val="7E7E7E"/>
                    </a:solidFill>
                    <a:latin typeface="Arial MT"/>
                    <a:cs typeface="Arial MT"/>
                  </a:rPr>
                  <a:t> </a:t>
                </a:r>
                <a:r>
                  <a:rPr lang="es-PE" sz="1600" dirty="0">
                    <a:solidFill>
                      <a:srgbClr val="7E7E7E"/>
                    </a:solidFill>
                    <a:latin typeface="Arial MT"/>
                    <a:cs typeface="Arial MT"/>
                  </a:rPr>
                  <a:t>de</a:t>
                </a:r>
                <a:r>
                  <a:rPr lang="es-PE" sz="1600" spc="-20" dirty="0">
                    <a:solidFill>
                      <a:srgbClr val="7E7E7E"/>
                    </a:solidFill>
                    <a:latin typeface="Arial MT"/>
                    <a:cs typeface="Arial MT"/>
                  </a:rPr>
                  <a:t> </a:t>
                </a:r>
                <a:r>
                  <a:rPr lang="es-PE" sz="1600" dirty="0">
                    <a:solidFill>
                      <a:srgbClr val="7E7E7E"/>
                    </a:solidFill>
                    <a:latin typeface="Arial MT"/>
                    <a:cs typeface="Arial MT"/>
                  </a:rPr>
                  <a:t>las</a:t>
                </a:r>
                <a:r>
                  <a:rPr lang="es-PE" sz="1600" spc="-45" dirty="0">
                    <a:solidFill>
                      <a:srgbClr val="7E7E7E"/>
                    </a:solidFill>
                    <a:latin typeface="Arial MT"/>
                    <a:cs typeface="Arial MT"/>
                  </a:rPr>
                  <a:t> </a:t>
                </a:r>
                <a:r>
                  <a:rPr lang="es-PE" sz="1600" dirty="0">
                    <a:solidFill>
                      <a:srgbClr val="7E7E7E"/>
                    </a:solidFill>
                    <a:latin typeface="Arial MT"/>
                    <a:cs typeface="Arial MT"/>
                  </a:rPr>
                  <a:t>entradas)</a:t>
                </a:r>
                <a:r>
                  <a:rPr lang="es-PE" sz="1600" dirty="0">
                    <a:latin typeface="Arial MT"/>
                    <a:cs typeface="Arial MT"/>
                  </a:rPr>
                  <a:t>:</a:t>
                </a:r>
                <a:r>
                  <a:rPr lang="es-PE" sz="1600" spc="-20" dirty="0">
                    <a:latin typeface="Arial MT"/>
                    <a:cs typeface="Arial MT"/>
                  </a:rPr>
                  <a:t> </a:t>
                </a:r>
                <a:r>
                  <a:rPr lang="es-PE" sz="1600" dirty="0">
                    <a:latin typeface="Cambria Math"/>
                    <a:cs typeface="Cambria Math"/>
                  </a:rPr>
                  <a:t>𝑧</a:t>
                </a:r>
                <a:r>
                  <a:rPr lang="es-PE" sz="1600" spc="95" dirty="0">
                    <a:latin typeface="Cambria Math"/>
                    <a:cs typeface="Cambria Math"/>
                  </a:rPr>
                  <a:t> </a:t>
                </a:r>
                <a:r>
                  <a:rPr lang="es-PE" sz="1600" dirty="0">
                    <a:latin typeface="Cambria Math"/>
                    <a:cs typeface="Cambria Math"/>
                  </a:rPr>
                  <a:t>∈</a:t>
                </a:r>
                <a:r>
                  <a:rPr lang="es-PE" sz="1600" spc="65" dirty="0">
                    <a:latin typeface="Cambria Math"/>
                    <a:cs typeface="Cambria Math"/>
                  </a:rPr>
                  <a:t> </a:t>
                </a:r>
                <a:r>
                  <a:rPr lang="es-PE" sz="1600" spc="-50" dirty="0">
                    <a:latin typeface="Cambria Math"/>
                    <a:cs typeface="Cambria Math"/>
                  </a:rPr>
                  <a:t>ℝ</a:t>
                </a:r>
                <a:endParaRPr lang="es-PE" sz="1600" dirty="0">
                  <a:latin typeface="Cambria Math"/>
                  <a:cs typeface="Cambria Math"/>
                </a:endParaRPr>
              </a:p>
              <a:p>
                <a:pPr marL="517525">
                  <a:lnSpc>
                    <a:spcPct val="100000"/>
                  </a:lnSpc>
                  <a:spcBef>
                    <a:spcPts val="390"/>
                  </a:spcBef>
                </a:pPr>
                <a:r>
                  <a:rPr lang="es-PE" sz="1500" dirty="0">
                    <a:latin typeface="Arial MT"/>
                    <a:cs typeface="Arial MT"/>
                  </a:rPr>
                  <a:t>–</a:t>
                </a:r>
                <a:r>
                  <a:rPr lang="es-PE" sz="1500" spc="60" dirty="0">
                    <a:latin typeface="Arial MT"/>
                    <a:cs typeface="Arial MT"/>
                  </a:rPr>
                  <a:t>  </a:t>
                </a:r>
                <a:r>
                  <a:rPr lang="es-PE" sz="1500" dirty="0">
                    <a:latin typeface="Arial MT"/>
                    <a:cs typeface="Arial MT"/>
                  </a:rPr>
                  <a:t>Contiene</a:t>
                </a:r>
                <a:r>
                  <a:rPr lang="es-PE" sz="1500" spc="-35" dirty="0">
                    <a:latin typeface="Arial MT"/>
                    <a:cs typeface="Arial MT"/>
                  </a:rPr>
                  <a:t> </a:t>
                </a:r>
                <a:r>
                  <a:rPr lang="es-PE" sz="1500" dirty="0">
                    <a:latin typeface="Arial MT"/>
                    <a:cs typeface="Arial MT"/>
                  </a:rPr>
                  <a:t>pesos</a:t>
                </a:r>
                <a:r>
                  <a:rPr lang="es-PE" sz="1500" spc="-20" dirty="0">
                    <a:latin typeface="Arial MT"/>
                    <a:cs typeface="Arial MT"/>
                  </a:rPr>
                  <a:t> </a:t>
                </a:r>
                <a:r>
                  <a:rPr lang="es-PE" sz="1500" dirty="0">
                    <a:latin typeface="Arial MT"/>
                    <a:cs typeface="Arial MT"/>
                  </a:rPr>
                  <a:t>(</a:t>
                </a:r>
                <a:r>
                  <a:rPr lang="es-PE" sz="1500" dirty="0">
                    <a:latin typeface="Cambria Math"/>
                    <a:cs typeface="Cambria Math"/>
                  </a:rPr>
                  <a:t>𝒘</a:t>
                </a:r>
                <a:r>
                  <a:rPr lang="es-PE" sz="1500" spc="85" dirty="0">
                    <a:latin typeface="Cambria Math"/>
                    <a:cs typeface="Cambria Math"/>
                  </a:rPr>
                  <a:t> </a:t>
                </a:r>
                <a:r>
                  <a:rPr lang="es-PE" sz="1500" dirty="0">
                    <a:latin typeface="Cambria Math"/>
                    <a:cs typeface="Cambria Math"/>
                  </a:rPr>
                  <a:t>∈</a:t>
                </a:r>
                <a:r>
                  <a:rPr lang="es-PE" sz="1500" spc="70" dirty="0">
                    <a:latin typeface="Cambria Math"/>
                    <a:cs typeface="Cambria Math"/>
                  </a:rPr>
                  <a:t> </a:t>
                </a:r>
                <a:r>
                  <a:rPr lang="es-PE" sz="1500" spc="50" dirty="0">
                    <a:latin typeface="Cambria Math"/>
                    <a:cs typeface="Cambria Math"/>
                  </a:rPr>
                  <a:t>ℝ</a:t>
                </a:r>
                <a:r>
                  <a:rPr lang="es-PE" sz="1650" spc="75" baseline="27777" dirty="0">
                    <a:latin typeface="Cambria Math"/>
                    <a:cs typeface="Cambria Math"/>
                  </a:rPr>
                  <a:t>𝑑</a:t>
                </a:r>
                <a:r>
                  <a:rPr lang="es-PE" sz="1500" spc="50" dirty="0">
                    <a:latin typeface="Arial MT"/>
                    <a:cs typeface="Arial MT"/>
                  </a:rPr>
                  <a:t>)</a:t>
                </a:r>
                <a:r>
                  <a:rPr lang="es-PE" sz="1500" spc="-35" dirty="0">
                    <a:latin typeface="Arial MT"/>
                    <a:cs typeface="Arial MT"/>
                  </a:rPr>
                  <a:t> </a:t>
                </a:r>
                <a:r>
                  <a:rPr lang="es-PE" sz="1500" dirty="0">
                    <a:latin typeface="Arial MT"/>
                    <a:cs typeface="Arial MT"/>
                  </a:rPr>
                  <a:t>y bias</a:t>
                </a:r>
                <a:r>
                  <a:rPr lang="es-PE" sz="1500" spc="-30" dirty="0">
                    <a:latin typeface="Arial MT"/>
                    <a:cs typeface="Arial MT"/>
                  </a:rPr>
                  <a:t> </a:t>
                </a:r>
                <a:r>
                  <a:rPr lang="es-PE" sz="1500" dirty="0">
                    <a:latin typeface="Arial MT"/>
                    <a:cs typeface="Arial MT"/>
                  </a:rPr>
                  <a:t>(</a:t>
                </a:r>
                <a:r>
                  <a:rPr lang="es-PE" sz="1500" dirty="0">
                    <a:latin typeface="Cambria Math"/>
                    <a:cs typeface="Cambria Math"/>
                  </a:rPr>
                  <a:t>𝑏</a:t>
                </a:r>
                <a:r>
                  <a:rPr lang="es-PE" sz="1500" spc="100" dirty="0">
                    <a:latin typeface="Cambria Math"/>
                    <a:cs typeface="Cambria Math"/>
                  </a:rPr>
                  <a:t> </a:t>
                </a:r>
                <a:r>
                  <a:rPr lang="es-PE" sz="1500" dirty="0">
                    <a:latin typeface="Cambria Math"/>
                    <a:cs typeface="Cambria Math"/>
                  </a:rPr>
                  <a:t>∈</a:t>
                </a:r>
                <a:r>
                  <a:rPr lang="es-PE" sz="1500" spc="95" dirty="0">
                    <a:latin typeface="Cambria Math"/>
                    <a:cs typeface="Cambria Math"/>
                  </a:rPr>
                  <a:t> </a:t>
                </a:r>
                <a:r>
                  <a:rPr lang="es-PE" sz="1500" spc="-25" dirty="0">
                    <a:latin typeface="Cambria Math"/>
                    <a:cs typeface="Cambria Math"/>
                  </a:rPr>
                  <a:t>ℝ</a:t>
                </a:r>
                <a:r>
                  <a:rPr lang="es-PE" sz="1500" spc="-25" dirty="0">
                    <a:latin typeface="Arial MT"/>
                    <a:cs typeface="Arial MT"/>
                  </a:rPr>
                  <a:t>)</a:t>
                </a:r>
                <a:endParaRPr lang="es-PE" sz="1500" dirty="0">
                  <a:latin typeface="Arial MT"/>
                  <a:cs typeface="Arial MT"/>
                </a:endParaRPr>
              </a:p>
              <a:p>
                <a:pPr marL="443865" lvl="1" indent="-222250">
                  <a:lnSpc>
                    <a:spcPct val="100000"/>
                  </a:lnSpc>
                  <a:spcBef>
                    <a:spcPts val="380"/>
                  </a:spcBef>
                  <a:buFont typeface="Arial MT"/>
                  <a:buChar char="•"/>
                  <a:tabLst>
                    <a:tab pos="443865" algn="l"/>
                  </a:tabLst>
                </a:pPr>
                <a:r>
                  <a:rPr lang="es-PE" sz="1600" i="1" dirty="0">
                    <a:solidFill>
                      <a:srgbClr val="6F2F9F"/>
                    </a:solidFill>
                    <a:latin typeface="Arial"/>
                    <a:cs typeface="Arial"/>
                  </a:rPr>
                  <a:t>Función</a:t>
                </a:r>
                <a:r>
                  <a:rPr lang="es-PE" sz="1600" i="1" spc="-55" dirty="0">
                    <a:solidFill>
                      <a:srgbClr val="6F2F9F"/>
                    </a:solidFill>
                    <a:latin typeface="Arial"/>
                    <a:cs typeface="Arial"/>
                  </a:rPr>
                  <a:t> </a:t>
                </a:r>
                <a:r>
                  <a:rPr lang="es-PE" sz="1600" i="1" dirty="0">
                    <a:solidFill>
                      <a:srgbClr val="6F2F9F"/>
                    </a:solidFill>
                    <a:latin typeface="Arial"/>
                    <a:cs typeface="Arial"/>
                  </a:rPr>
                  <a:t>de</a:t>
                </a:r>
                <a:r>
                  <a:rPr lang="es-PE" sz="1600" i="1" spc="-5" dirty="0">
                    <a:solidFill>
                      <a:srgbClr val="6F2F9F"/>
                    </a:solidFill>
                    <a:latin typeface="Arial"/>
                    <a:cs typeface="Arial"/>
                  </a:rPr>
                  <a:t> </a:t>
                </a:r>
                <a:r>
                  <a:rPr lang="es-PE" sz="1600" i="1" dirty="0">
                    <a:solidFill>
                      <a:srgbClr val="6F2F9F"/>
                    </a:solidFill>
                    <a:latin typeface="Arial"/>
                    <a:cs typeface="Arial"/>
                  </a:rPr>
                  <a:t>activación</a:t>
                </a:r>
                <a:r>
                  <a:rPr lang="es-PE" sz="1600" dirty="0">
                    <a:latin typeface="Arial MT"/>
                    <a:cs typeface="Arial MT"/>
                  </a:rPr>
                  <a:t>:</a:t>
                </a:r>
                <a:r>
                  <a:rPr lang="es-PE" sz="1600" spc="-85" dirty="0">
                    <a:latin typeface="Arial MT"/>
                    <a:cs typeface="Arial MT"/>
                  </a:rPr>
                  <a:t> </a:t>
                </a:r>
                <a:r>
                  <a:rPr lang="es-PE" sz="1600" dirty="0">
                    <a:latin typeface="Cambria Math"/>
                    <a:cs typeface="Cambria Math"/>
                  </a:rPr>
                  <a:t>𝑔</a:t>
                </a:r>
                <a:r>
                  <a:rPr lang="es-PE" sz="1600" spc="95" dirty="0">
                    <a:latin typeface="Cambria Math"/>
                    <a:cs typeface="Cambria Math"/>
                  </a:rPr>
                  <a:t> </a:t>
                </a:r>
                <a:r>
                  <a:rPr lang="es-PE" sz="1600" dirty="0">
                    <a:latin typeface="Cambria Math"/>
                    <a:cs typeface="Cambria Math"/>
                  </a:rPr>
                  <a:t>∈</a:t>
                </a:r>
                <a:r>
                  <a:rPr lang="es-PE" sz="1600" spc="80" dirty="0">
                    <a:latin typeface="Cambria Math"/>
                    <a:cs typeface="Cambria Math"/>
                  </a:rPr>
                  <a:t> </a:t>
                </a:r>
                <a:r>
                  <a:rPr lang="es-PE" sz="1600" dirty="0">
                    <a:latin typeface="Cambria Math"/>
                    <a:cs typeface="Cambria Math"/>
                  </a:rPr>
                  <a:t>ℝ</a:t>
                </a:r>
                <a:r>
                  <a:rPr lang="es-PE" sz="1600" spc="450" dirty="0">
                    <a:latin typeface="Cambria Math"/>
                    <a:cs typeface="Cambria Math"/>
                  </a:rPr>
                  <a:t> </a:t>
                </a:r>
                <a:r>
                  <a:rPr lang="es-PE" sz="1600" dirty="0">
                    <a:latin typeface="Arial MT"/>
                    <a:cs typeface="Arial MT"/>
                  </a:rPr>
                  <a:t>y</a:t>
                </a:r>
                <a:r>
                  <a:rPr lang="es-PE" sz="1600" spc="-5" dirty="0">
                    <a:latin typeface="Arial MT"/>
                    <a:cs typeface="Arial MT"/>
                  </a:rPr>
                  <a:t> </a:t>
                </a:r>
                <a:r>
                  <a:rPr lang="es-PE" sz="1600" dirty="0">
                    <a:latin typeface="Arial MT"/>
                    <a:cs typeface="Arial MT"/>
                  </a:rPr>
                  <a:t>activación</a:t>
                </a:r>
                <a:r>
                  <a:rPr lang="es-PE" sz="1600" spc="-45" dirty="0">
                    <a:latin typeface="Arial MT"/>
                    <a:cs typeface="Arial MT"/>
                  </a:rPr>
                  <a:t> </a:t>
                </a:r>
                <a:r>
                  <a:rPr lang="es-PE" sz="1600" dirty="0">
                    <a:latin typeface="Cambria Math"/>
                    <a:cs typeface="Cambria Math"/>
                  </a:rPr>
                  <a:t>𝑎</a:t>
                </a:r>
                <a:r>
                  <a:rPr lang="es-PE" sz="1600" spc="110" dirty="0">
                    <a:latin typeface="Cambria Math"/>
                    <a:cs typeface="Cambria Math"/>
                  </a:rPr>
                  <a:t> </a:t>
                </a:r>
                <a:r>
                  <a:rPr lang="es-PE" sz="1600" dirty="0">
                    <a:latin typeface="Cambria Math"/>
                    <a:cs typeface="Cambria Math"/>
                  </a:rPr>
                  <a:t>∈</a:t>
                </a:r>
                <a:r>
                  <a:rPr lang="es-PE" sz="1600" spc="80" dirty="0">
                    <a:latin typeface="Cambria Math"/>
                    <a:cs typeface="Cambria Math"/>
                  </a:rPr>
                  <a:t> </a:t>
                </a:r>
                <a:r>
                  <a:rPr lang="es-PE" sz="1600" spc="-50" dirty="0">
                    <a:latin typeface="Cambria Math"/>
                    <a:cs typeface="Cambria Math"/>
                  </a:rPr>
                  <a:t>ℝ</a:t>
                </a:r>
                <a:endParaRPr lang="es-PE" sz="1600" dirty="0">
                  <a:latin typeface="Cambria Math"/>
                  <a:cs typeface="Cambria Math"/>
                </a:endParaRPr>
              </a:p>
              <a:p>
                <a:pPr lvl="1">
                  <a:lnSpc>
                    <a:spcPct val="100000"/>
                  </a:lnSpc>
                  <a:spcBef>
                    <a:spcPts val="925"/>
                  </a:spcBef>
                  <a:buClr>
                    <a:srgbClr val="6F2F9F"/>
                  </a:buClr>
                  <a:buFont typeface="Arial MT"/>
                  <a:buChar char="•"/>
                </a:pPr>
                <a:endParaRPr lang="es-PE" sz="1600" dirty="0">
                  <a:latin typeface="Cambria Math"/>
                  <a:cs typeface="Cambria Math"/>
                </a:endParaRPr>
              </a:p>
              <a:p>
                <a:pPr marL="220979" indent="-157480">
                  <a:lnSpc>
                    <a:spcPct val="100000"/>
                  </a:lnSpc>
                  <a:spcBef>
                    <a:spcPts val="5"/>
                  </a:spcBef>
                  <a:buChar char="-"/>
                  <a:tabLst>
                    <a:tab pos="220979" algn="l"/>
                  </a:tabLst>
                </a:pPr>
                <a:r>
                  <a:rPr lang="es-PE" sz="1800" dirty="0">
                    <a:latin typeface="Arial MT"/>
                    <a:cs typeface="Arial MT"/>
                  </a:rPr>
                  <a:t>Entrada:</a:t>
                </a:r>
                <a:r>
                  <a:rPr lang="es-PE" sz="1800" spc="-20" dirty="0">
                    <a:latin typeface="Arial MT"/>
                    <a:cs typeface="Arial MT"/>
                  </a:rPr>
                  <a:t> </a:t>
                </a:r>
                <a:r>
                  <a:rPr lang="es-PE" sz="1800" dirty="0">
                    <a:latin typeface="Cambria Math"/>
                    <a:cs typeface="Cambria Math"/>
                  </a:rPr>
                  <a:t>𝒙</a:t>
                </a:r>
                <a:r>
                  <a:rPr lang="es-PE" sz="1800" spc="114" dirty="0">
                    <a:latin typeface="Cambria Math"/>
                    <a:cs typeface="Cambria Math"/>
                  </a:rPr>
                  <a:t> </a:t>
                </a:r>
                <a:r>
                  <a:rPr lang="es-PE" sz="1800" dirty="0">
                    <a:latin typeface="Cambria Math"/>
                    <a:cs typeface="Cambria Math"/>
                  </a:rPr>
                  <a:t>∈</a:t>
                </a:r>
                <a:r>
                  <a:rPr lang="es-PE" sz="1800" spc="100" dirty="0">
                    <a:latin typeface="Cambria Math"/>
                    <a:cs typeface="Cambria Math"/>
                  </a:rPr>
                  <a:t> </a:t>
                </a:r>
                <a:r>
                  <a:rPr lang="es-PE" sz="1800" dirty="0">
                    <a:latin typeface="Cambria Math"/>
                    <a:cs typeface="Cambria Math"/>
                  </a:rPr>
                  <a:t>ℝ</a:t>
                </a:r>
                <a:r>
                  <a:rPr lang="es-PE" sz="1950" baseline="27777" dirty="0">
                    <a:latin typeface="Cambria Math"/>
                    <a:cs typeface="Cambria Math"/>
                  </a:rPr>
                  <a:t>𝑑</a:t>
                </a:r>
                <a:r>
                  <a:rPr lang="es-PE" sz="1950" spc="525" baseline="27777" dirty="0">
                    <a:latin typeface="Cambria Math"/>
                    <a:cs typeface="Cambria Math"/>
                  </a:rPr>
                  <a:t> </a:t>
                </a:r>
                <a:r>
                  <a:rPr lang="es-PE" sz="1600" dirty="0">
                    <a:latin typeface="Arial MT"/>
                    <a:cs typeface="Arial MT"/>
                  </a:rPr>
                  <a:t>(</a:t>
                </a:r>
                <a:r>
                  <a:rPr lang="es-PE" sz="1600" i="1" dirty="0">
                    <a:latin typeface="Times New Roman"/>
                    <a:cs typeface="Times New Roman"/>
                  </a:rPr>
                  <a:t>d</a:t>
                </a:r>
                <a:r>
                  <a:rPr lang="es-PE" sz="1600" i="1" spc="50" dirty="0">
                    <a:latin typeface="Times New Roman"/>
                    <a:cs typeface="Times New Roman"/>
                  </a:rPr>
                  <a:t> </a:t>
                </a:r>
                <a:r>
                  <a:rPr lang="es-PE" sz="1600" spc="-10" dirty="0" err="1">
                    <a:latin typeface="Arial MT"/>
                    <a:cs typeface="Arial MT"/>
                  </a:rPr>
                  <a:t>atributos</a:t>
                </a:r>
                <a:r>
                  <a:rPr lang="es-PE" sz="1600" spc="-10" dirty="0">
                    <a:latin typeface="Arial MT"/>
                    <a:cs typeface="Arial MT"/>
                  </a:rPr>
                  <a:t>)</a:t>
                </a:r>
              </a:p>
              <a:p>
                <a:pPr marL="220979" indent="-157480">
                  <a:lnSpc>
                    <a:spcPct val="100000"/>
                  </a:lnSpc>
                  <a:spcBef>
                    <a:spcPts val="5"/>
                  </a:spcBef>
                  <a:buChar char="-"/>
                  <a:tabLst>
                    <a:tab pos="220979" algn="l"/>
                  </a:tabLst>
                </a:pPr>
                <a:r>
                  <a:rPr lang="es-PE" sz="1600" spc="-10" dirty="0">
                    <a:latin typeface="Arial MT"/>
                    <a:cs typeface="Arial MT"/>
                  </a:rPr>
                  <a:t>Salida: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600" i="1" spc="-1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600" b="0" i="1" spc="-1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PE" sz="1600" b="0" i="1" spc="-1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PE" sz="1600" dirty="0" smtClean="0">
                        <a:latin typeface="Cambria Math"/>
                        <a:cs typeface="Cambria Math"/>
                      </a:rPr>
                      <m:t>∈</m:t>
                    </m:r>
                    <m:r>
                      <m:rPr>
                        <m:nor/>
                      </m:rPr>
                      <a:rPr lang="es-PE" sz="1600" spc="100" dirty="0" smtClean="0">
                        <a:latin typeface="Cambria Math"/>
                        <a:cs typeface="Cambria Math"/>
                      </a:rPr>
                      <m:t> </m:t>
                    </m:r>
                    <m:r>
                      <m:rPr>
                        <m:nor/>
                      </m:rPr>
                      <a:rPr lang="es-PE" sz="1600" dirty="0" smtClean="0">
                        <a:latin typeface="Cambria Math"/>
                        <a:cs typeface="Cambria Math"/>
                      </a:rPr>
                      <m:t>ℝ</m:t>
                    </m:r>
                  </m:oMath>
                </a14:m>
                <a:endParaRPr lang="es-PE" sz="1600" spc="-10" dirty="0"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74" y="3666576"/>
                <a:ext cx="6599555" cy="2684068"/>
              </a:xfrm>
              <a:prstGeom prst="rect">
                <a:avLst/>
              </a:prstGeom>
              <a:blipFill>
                <a:blip r:embed="rId4"/>
                <a:stretch>
                  <a:fillRect l="-1108" t="-2268" b="-272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11"/>
          <p:cNvSpPr/>
          <p:nvPr/>
        </p:nvSpPr>
        <p:spPr>
          <a:xfrm>
            <a:off x="5868923" y="3026664"/>
            <a:ext cx="864235" cy="82550"/>
          </a:xfrm>
          <a:custGeom>
            <a:avLst/>
            <a:gdLst/>
            <a:ahLst/>
            <a:cxnLst/>
            <a:rect l="l" t="t" r="r" b="b"/>
            <a:pathLst>
              <a:path w="864234" h="82550">
                <a:moveTo>
                  <a:pt x="781811" y="0"/>
                </a:moveTo>
                <a:lnTo>
                  <a:pt x="781811" y="82296"/>
                </a:lnTo>
                <a:lnTo>
                  <a:pt x="836676" y="54863"/>
                </a:lnTo>
                <a:lnTo>
                  <a:pt x="795527" y="54863"/>
                </a:lnTo>
                <a:lnTo>
                  <a:pt x="795527" y="27432"/>
                </a:lnTo>
                <a:lnTo>
                  <a:pt x="836676" y="27432"/>
                </a:lnTo>
                <a:lnTo>
                  <a:pt x="781811" y="0"/>
                </a:lnTo>
                <a:close/>
              </a:path>
              <a:path w="864234" h="82550">
                <a:moveTo>
                  <a:pt x="781811" y="27432"/>
                </a:moveTo>
                <a:lnTo>
                  <a:pt x="0" y="27432"/>
                </a:lnTo>
                <a:lnTo>
                  <a:pt x="0" y="54863"/>
                </a:lnTo>
                <a:lnTo>
                  <a:pt x="781811" y="54863"/>
                </a:lnTo>
                <a:lnTo>
                  <a:pt x="781811" y="27432"/>
                </a:lnTo>
                <a:close/>
              </a:path>
              <a:path w="864234" h="82550">
                <a:moveTo>
                  <a:pt x="836676" y="27432"/>
                </a:moveTo>
                <a:lnTo>
                  <a:pt x="795527" y="27432"/>
                </a:lnTo>
                <a:lnTo>
                  <a:pt x="795527" y="54863"/>
                </a:lnTo>
                <a:lnTo>
                  <a:pt x="836676" y="54863"/>
                </a:lnTo>
                <a:lnTo>
                  <a:pt x="864107" y="41148"/>
                </a:lnTo>
                <a:lnTo>
                  <a:pt x="836676" y="27432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6824471" y="2929127"/>
            <a:ext cx="996950" cy="375285"/>
            <a:chOff x="6824471" y="2929127"/>
            <a:chExt cx="996950" cy="37528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7143" y="2929127"/>
              <a:ext cx="896111" cy="25603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829043" y="3177539"/>
              <a:ext cx="988060" cy="121920"/>
            </a:xfrm>
            <a:custGeom>
              <a:avLst/>
              <a:gdLst/>
              <a:ahLst/>
              <a:cxnLst/>
              <a:rect l="l" t="t" r="r" b="b"/>
              <a:pathLst>
                <a:path w="988059" h="121920">
                  <a:moveTo>
                    <a:pt x="987551" y="0"/>
                  </a:moveTo>
                  <a:lnTo>
                    <a:pt x="982291" y="23723"/>
                  </a:lnTo>
                  <a:lnTo>
                    <a:pt x="967946" y="43100"/>
                  </a:lnTo>
                  <a:lnTo>
                    <a:pt x="946671" y="56167"/>
                  </a:lnTo>
                  <a:lnTo>
                    <a:pt x="920623" y="60960"/>
                  </a:lnTo>
                  <a:lnTo>
                    <a:pt x="560704" y="60960"/>
                  </a:lnTo>
                  <a:lnTo>
                    <a:pt x="534656" y="65752"/>
                  </a:lnTo>
                  <a:lnTo>
                    <a:pt x="513381" y="78819"/>
                  </a:lnTo>
                  <a:lnTo>
                    <a:pt x="499036" y="98196"/>
                  </a:lnTo>
                  <a:lnTo>
                    <a:pt x="493775" y="121920"/>
                  </a:lnTo>
                  <a:lnTo>
                    <a:pt x="488515" y="98196"/>
                  </a:lnTo>
                  <a:lnTo>
                    <a:pt x="474170" y="78819"/>
                  </a:lnTo>
                  <a:lnTo>
                    <a:pt x="452895" y="65752"/>
                  </a:lnTo>
                  <a:lnTo>
                    <a:pt x="426847" y="60960"/>
                  </a:lnTo>
                  <a:lnTo>
                    <a:pt x="66928" y="60960"/>
                  </a:lnTo>
                  <a:lnTo>
                    <a:pt x="40880" y="56167"/>
                  </a:lnTo>
                  <a:lnTo>
                    <a:pt x="19605" y="43100"/>
                  </a:lnTo>
                  <a:lnTo>
                    <a:pt x="5260" y="23723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48143" y="3361944"/>
            <a:ext cx="118872" cy="2286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B34032DF-FE71-A5A2-2E06-2731469FE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Ingeniería de Sistemas - UNCP">
            <a:extLst>
              <a:ext uri="{FF2B5EF4-FFF2-40B4-BE49-F238E27FC236}">
                <a16:creationId xmlns:a16="http://schemas.microsoft.com/office/drawing/2014/main" id="{C472C031-FF7E-E3F1-523D-3A5E82402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9325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10" dirty="0"/>
              <a:t> Neuronales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2128"/>
            <a:ext cx="7718425" cy="96774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585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Unidad</a:t>
            </a:r>
            <a:r>
              <a:rPr sz="2000" spc="-5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neuronal</a:t>
            </a:r>
            <a:endParaRPr sz="2000">
              <a:latin typeface="Arial MT"/>
              <a:cs typeface="Arial MT"/>
            </a:endParaRPr>
          </a:p>
          <a:p>
            <a:pPr marL="387350" marR="5080" indent="-15875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salida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línea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divide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espacio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características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(según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una</a:t>
            </a:r>
            <a:r>
              <a:rPr sz="1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frontera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6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decisión)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652" y="5451144"/>
            <a:ext cx="729805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 marR="5080" indent="-157480">
              <a:lnSpc>
                <a:spcPct val="100000"/>
              </a:lnSpc>
              <a:spcBef>
                <a:spcPts val="100"/>
              </a:spcBef>
              <a:buChar char="-"/>
              <a:tabLst>
                <a:tab pos="170815" algn="l"/>
              </a:tabLst>
            </a:pP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 nuevo objeto,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 usa directamente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pesos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entrenados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para 	</a:t>
            </a:r>
            <a:r>
              <a:rPr sz="1800" dirty="0">
                <a:latin typeface="Arial MT"/>
                <a:cs typeface="Arial MT"/>
              </a:rPr>
              <a:t>determinar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salida</a:t>
            </a:r>
            <a:endParaRPr sz="1800">
              <a:latin typeface="Arial MT"/>
              <a:cs typeface="Arial MT"/>
            </a:endParaRPr>
          </a:p>
          <a:p>
            <a:pPr marL="170180" indent="-157480">
              <a:lnSpc>
                <a:spcPct val="100000"/>
              </a:lnSpc>
              <a:spcBef>
                <a:spcPts val="434"/>
              </a:spcBef>
              <a:buChar char="-"/>
              <a:tabLst>
                <a:tab pos="170180" algn="l"/>
              </a:tabLst>
            </a:pP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curvas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lineales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neuronas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(agrupadas</a:t>
            </a:r>
            <a:r>
              <a:rPr sz="1600" spc="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en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“capas”)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2458" y="2465201"/>
            <a:ext cx="4130677" cy="257009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AAB7428-5646-79F7-F1A8-0C2E2EA8D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2894F782-EC16-2A46-B179-AB60D65D8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9325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10" dirty="0"/>
              <a:t> Neuronales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6994" y="936751"/>
            <a:ext cx="6281420" cy="262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9875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Funciones</a:t>
            </a:r>
            <a:r>
              <a:rPr sz="2000" b="1" spc="-5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de</a:t>
            </a:r>
            <a:r>
              <a:rPr sz="2000" b="1" spc="-13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Activación</a:t>
            </a:r>
            <a:endParaRPr sz="2000">
              <a:latin typeface="Arial"/>
              <a:cs typeface="Arial"/>
            </a:endParaRPr>
          </a:p>
          <a:p>
            <a:pPr marL="2565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56540" algn="l"/>
              </a:tabLst>
            </a:pPr>
            <a:r>
              <a:rPr sz="2000" dirty="0">
                <a:latin typeface="Arial MT"/>
                <a:cs typeface="Arial MT"/>
              </a:rPr>
              <a:t>Tienen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como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entrada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combinación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lineal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z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=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w</a:t>
            </a:r>
            <a:r>
              <a:rPr sz="2025" i="1" spc="-15" baseline="24691" dirty="0">
                <a:latin typeface="Times New Roman"/>
                <a:cs typeface="Times New Roman"/>
              </a:rPr>
              <a:t>T</a:t>
            </a:r>
            <a:r>
              <a:rPr sz="2000" i="1" spc="-10" dirty="0">
                <a:latin typeface="Times New Roman"/>
                <a:cs typeface="Times New Roman"/>
              </a:rPr>
              <a:t>x+b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256540" indent="-193040">
              <a:lnSpc>
                <a:spcPct val="100000"/>
              </a:lnSpc>
              <a:buChar char="•"/>
              <a:tabLst>
                <a:tab pos="2565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Función</a:t>
            </a:r>
            <a:r>
              <a:rPr sz="2000" spc="-7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sigmoidea</a:t>
            </a:r>
            <a:endParaRPr sz="2000">
              <a:latin typeface="Arial MT"/>
              <a:cs typeface="Arial MT"/>
            </a:endParaRPr>
          </a:p>
          <a:p>
            <a:pPr marL="438150" lvl="1" indent="-158750">
              <a:lnSpc>
                <a:spcPct val="100000"/>
              </a:lnSpc>
              <a:spcBef>
                <a:spcPts val="440"/>
              </a:spcBef>
              <a:buChar char="-"/>
              <a:tabLst>
                <a:tab pos="438150" algn="l"/>
              </a:tabLst>
            </a:pPr>
            <a:r>
              <a:rPr sz="1800" dirty="0">
                <a:latin typeface="Arial MT"/>
                <a:cs typeface="Arial MT"/>
              </a:rPr>
              <a:t>Llamada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logística</a:t>
            </a:r>
            <a:endParaRPr sz="1800">
              <a:latin typeface="Arial MT"/>
              <a:cs typeface="Arial MT"/>
            </a:endParaRPr>
          </a:p>
          <a:p>
            <a:pPr marL="437515" lvl="1" indent="-158115">
              <a:lnSpc>
                <a:spcPct val="100000"/>
              </a:lnSpc>
              <a:spcBef>
                <a:spcPts val="434"/>
              </a:spcBef>
              <a:buChar char="-"/>
              <a:tabLst>
                <a:tab pos="437515" algn="l"/>
              </a:tabLst>
            </a:pPr>
            <a:r>
              <a:rPr sz="1800" dirty="0">
                <a:latin typeface="Arial MT"/>
                <a:cs typeface="Arial MT"/>
              </a:rPr>
              <a:t>Mapea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(0,1)</a:t>
            </a:r>
            <a:endParaRPr sz="1800">
              <a:latin typeface="Arial MT"/>
              <a:cs typeface="Arial MT"/>
            </a:endParaRPr>
          </a:p>
          <a:p>
            <a:pPr marL="438150" lvl="1" indent="-158750">
              <a:lnSpc>
                <a:spcPct val="100000"/>
              </a:lnSpc>
              <a:spcBef>
                <a:spcPts val="434"/>
              </a:spcBef>
              <a:buChar char="-"/>
              <a:tabLst>
                <a:tab pos="438150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salida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toda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red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4413881"/>
            <a:ext cx="3498850" cy="138112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585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Función</a:t>
            </a:r>
            <a:r>
              <a:rPr sz="2000" spc="-8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tangente</a:t>
            </a:r>
            <a:r>
              <a:rPr sz="2000" spc="-8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hiperbólica</a:t>
            </a:r>
            <a:endParaRPr sz="20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40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No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tiene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“bias”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(centrado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0)</a:t>
            </a:r>
            <a:endParaRPr sz="18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34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Mapea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(-1,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1)</a:t>
            </a:r>
            <a:endParaRPr sz="18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30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ocultas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1367" y="2493264"/>
            <a:ext cx="1748024" cy="13776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1367" y="4922520"/>
            <a:ext cx="1858565" cy="1508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00925" y="3679192"/>
            <a:ext cx="1422923" cy="4586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20764" y="6028698"/>
            <a:ext cx="1375671" cy="21847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2905460E-33A3-515B-6456-00BA33EAA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A73AB9D3-B960-3CB3-692F-562BD0CE9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9325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10" dirty="0"/>
              <a:t> Neuronales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5628640" cy="1894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4795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Funciones</a:t>
            </a:r>
            <a:r>
              <a:rPr sz="2000" b="1" spc="-5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de</a:t>
            </a:r>
            <a:r>
              <a:rPr sz="2000" b="1" spc="-13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Activación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Función</a:t>
            </a:r>
            <a:r>
              <a:rPr sz="2000" spc="-6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AF50"/>
                </a:solidFill>
                <a:latin typeface="Arial MT"/>
                <a:cs typeface="Arial MT"/>
              </a:rPr>
              <a:t>ReLU</a:t>
            </a:r>
            <a:endParaRPr sz="20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40"/>
              </a:spcBef>
              <a:buChar char="-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Significa: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“Rectified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Linear</a:t>
            </a:r>
            <a:r>
              <a:rPr sz="1800" spc="-20" dirty="0">
                <a:latin typeface="Arial MT"/>
                <a:cs typeface="Arial MT"/>
              </a:rPr>
              <a:t> Unit”</a:t>
            </a:r>
            <a:endParaRPr sz="18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34"/>
              </a:spcBef>
              <a:buChar char="-"/>
              <a:tabLst>
                <a:tab pos="386715" algn="l"/>
              </a:tabLst>
            </a:pPr>
            <a:r>
              <a:rPr sz="1800" spc="-10" dirty="0">
                <a:latin typeface="Arial MT"/>
                <a:cs typeface="Arial MT"/>
              </a:rPr>
              <a:t>Ventaja: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facilidad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cálculo</a:t>
            </a:r>
            <a:endParaRPr sz="18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30"/>
              </a:spcBef>
              <a:buChar char="-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suele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ocultas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4011967"/>
            <a:ext cx="4975225" cy="13804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580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Función</a:t>
            </a:r>
            <a:r>
              <a:rPr sz="20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Leaky</a:t>
            </a:r>
            <a:r>
              <a:rPr sz="2000" spc="-8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AF50"/>
                </a:solidFill>
                <a:latin typeface="Arial MT"/>
                <a:cs typeface="Arial MT"/>
              </a:rPr>
              <a:t>ReLU</a:t>
            </a:r>
            <a:endParaRPr sz="20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40"/>
              </a:spcBef>
              <a:buChar char="-"/>
              <a:tabLst>
                <a:tab pos="386715" algn="l"/>
              </a:tabLst>
            </a:pPr>
            <a:r>
              <a:rPr sz="1800" spc="-10" dirty="0">
                <a:latin typeface="Arial MT"/>
                <a:cs typeface="Arial MT"/>
              </a:rPr>
              <a:t>Variación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ReLU</a:t>
            </a:r>
            <a:endParaRPr sz="18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30"/>
              </a:spcBef>
              <a:buChar char="-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El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fija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cero: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pequeña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pendiente</a:t>
            </a:r>
            <a:endParaRPr sz="18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34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Puede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facilitar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“aprendizaje”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(optimización)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6959" y="2002535"/>
            <a:ext cx="1655064" cy="14142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3367" y="4867655"/>
            <a:ext cx="1722119" cy="14264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9816" y="3095167"/>
            <a:ext cx="3002201" cy="6512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2891" y="5629655"/>
            <a:ext cx="3946201" cy="65015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477CA919-26A1-A1FE-9D9C-072B2F468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500679C8-866C-8AE1-F41F-62D51CC71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9390" y="592962"/>
            <a:ext cx="112712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>
                <a:solidFill>
                  <a:srgbClr val="B51A00"/>
                </a:solidFill>
              </a:rPr>
              <a:t>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8" y="2188403"/>
            <a:ext cx="8471157" cy="6470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62811"/>
            <a:ext cx="50755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1.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	Introducción</a:t>
            </a:r>
            <a:r>
              <a:rPr sz="24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y</a:t>
            </a:r>
            <a:r>
              <a:rPr sz="24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Conceptos</a:t>
            </a:r>
            <a:r>
              <a:rPr sz="24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Básicos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23672" y="2276855"/>
            <a:ext cx="8296909" cy="472440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2159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70"/>
              </a:spcBef>
              <a:tabLst>
                <a:tab pos="698500" algn="l"/>
              </a:tabLst>
            </a:pPr>
            <a:r>
              <a:rPr sz="2400" b="1" spc="-25" dirty="0">
                <a:solidFill>
                  <a:srgbClr val="0000FF"/>
                </a:solidFill>
                <a:latin typeface="Arial"/>
                <a:cs typeface="Arial"/>
              </a:rPr>
              <a:t>2.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	Redes</a:t>
            </a:r>
            <a:r>
              <a:rPr sz="24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Neuronales</a:t>
            </a:r>
            <a:r>
              <a:rPr sz="24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Arial"/>
                <a:cs typeface="Arial"/>
              </a:rPr>
              <a:t>Simples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3011246"/>
            <a:ext cx="4490085" cy="1114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469900" algn="l"/>
              </a:tabLst>
            </a:pP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Backpropagation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7E7E7E"/>
              </a:buClr>
              <a:buFont typeface="Arial MT"/>
              <a:buAutoNum type="arabicPeriod" startAt="3"/>
            </a:pP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9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Redes</a:t>
            </a:r>
            <a:r>
              <a:rPr sz="2400" spc="-1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Neuronales</a:t>
            </a:r>
            <a:r>
              <a:rPr sz="24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Profundas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C735FEC-9301-DED9-7B6D-39B8F51F0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51DF9165-9280-6620-0D06-C8E81372C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65" dirty="0"/>
              <a:t> </a:t>
            </a:r>
            <a:r>
              <a:rPr dirty="0"/>
              <a:t>Neuronales</a:t>
            </a:r>
            <a:r>
              <a:rPr spc="-65" dirty="0"/>
              <a:t> </a:t>
            </a:r>
            <a:r>
              <a:rPr spc="-10" dirty="0"/>
              <a:t>Simples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8211184" cy="11512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6515" algn="ctr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Esquema</a:t>
            </a:r>
            <a:r>
              <a:rPr sz="2000" b="1" spc="-1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con</a:t>
            </a:r>
            <a:r>
              <a:rPr sz="2000" b="1" spc="-4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2</a:t>
            </a:r>
            <a:r>
              <a:rPr sz="2000" b="1" spc="-5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2092FA"/>
                </a:solidFill>
                <a:latin typeface="Arial"/>
                <a:cs typeface="Arial"/>
              </a:rPr>
              <a:t>capas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Red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neuronal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capa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oculta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capa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salida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(el</a:t>
            </a:r>
            <a:r>
              <a:rPr sz="16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corchete</a:t>
            </a:r>
            <a:r>
              <a:rPr sz="16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indica</a:t>
            </a:r>
            <a:endParaRPr sz="1600">
              <a:latin typeface="Arial MT"/>
              <a:cs typeface="Arial MT"/>
            </a:endParaRPr>
          </a:p>
          <a:p>
            <a:pPr marL="207645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el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número</a:t>
            </a:r>
            <a:r>
              <a:rPr sz="1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capa)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6110427"/>
            <a:ext cx="781240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9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puede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haber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más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salida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(para</a:t>
            </a:r>
            <a:r>
              <a:rPr sz="18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clasificar</a:t>
            </a:r>
            <a:r>
              <a:rPr sz="1800" spc="-1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varias</a:t>
            </a:r>
            <a:r>
              <a:rPr sz="18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clases)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34639" y="2465577"/>
            <a:ext cx="3899535" cy="2896235"/>
            <a:chOff x="2834639" y="2465577"/>
            <a:chExt cx="3899535" cy="2896235"/>
          </a:xfrm>
        </p:grpSpPr>
        <p:sp>
          <p:nvSpPr>
            <p:cNvPr id="6" name="object 6"/>
            <p:cNvSpPr/>
            <p:nvPr/>
          </p:nvSpPr>
          <p:spPr>
            <a:xfrm>
              <a:off x="4355591" y="298399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55591" y="298399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55591" y="4008119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3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7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3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55591" y="4008119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3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3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7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3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55591" y="4520183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55591" y="4520183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55591" y="5029200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4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4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55591" y="5029200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0" y="163068"/>
                  </a:move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4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4"/>
                  </a:lnTo>
                  <a:lnTo>
                    <a:pt x="5766" y="206412"/>
                  </a:lnTo>
                  <a:lnTo>
                    <a:pt x="0" y="163068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55591" y="2471927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5591" y="2471927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55591" y="349605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55591" y="349605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34640" y="2631185"/>
              <a:ext cx="1523365" cy="2583180"/>
            </a:xfrm>
            <a:custGeom>
              <a:avLst/>
              <a:gdLst/>
              <a:ahLst/>
              <a:cxnLst/>
              <a:rect l="l" t="t" r="r" b="b"/>
              <a:pathLst>
                <a:path w="1523364" h="2583179">
                  <a:moveTo>
                    <a:pt x="1522857" y="3810"/>
                  </a:moveTo>
                  <a:lnTo>
                    <a:pt x="1460957" y="1041"/>
                  </a:lnTo>
                  <a:lnTo>
                    <a:pt x="1460957" y="65646"/>
                  </a:lnTo>
                  <a:lnTo>
                    <a:pt x="1120521" y="551408"/>
                  </a:lnTo>
                  <a:lnTo>
                    <a:pt x="1110805" y="552424"/>
                  </a:lnTo>
                  <a:lnTo>
                    <a:pt x="1110805" y="565264"/>
                  </a:lnTo>
                  <a:lnTo>
                    <a:pt x="1035532" y="672680"/>
                  </a:lnTo>
                  <a:lnTo>
                    <a:pt x="1023162" y="676884"/>
                  </a:lnTo>
                  <a:lnTo>
                    <a:pt x="1023162" y="690321"/>
                  </a:lnTo>
                  <a:lnTo>
                    <a:pt x="893965" y="874674"/>
                  </a:lnTo>
                  <a:lnTo>
                    <a:pt x="886117" y="872845"/>
                  </a:lnTo>
                  <a:lnTo>
                    <a:pt x="886117" y="885863"/>
                  </a:lnTo>
                  <a:lnTo>
                    <a:pt x="791641" y="1020686"/>
                  </a:lnTo>
                  <a:lnTo>
                    <a:pt x="782751" y="1020673"/>
                  </a:lnTo>
                  <a:lnTo>
                    <a:pt x="782751" y="1033360"/>
                  </a:lnTo>
                  <a:lnTo>
                    <a:pt x="745159" y="1087005"/>
                  </a:lnTo>
                  <a:lnTo>
                    <a:pt x="737895" y="1082840"/>
                  </a:lnTo>
                  <a:lnTo>
                    <a:pt x="737895" y="1097368"/>
                  </a:lnTo>
                  <a:lnTo>
                    <a:pt x="641197" y="1235341"/>
                  </a:lnTo>
                  <a:lnTo>
                    <a:pt x="635088" y="1233246"/>
                  </a:lnTo>
                  <a:lnTo>
                    <a:pt x="632320" y="1230718"/>
                  </a:lnTo>
                  <a:lnTo>
                    <a:pt x="632320" y="1248003"/>
                  </a:lnTo>
                  <a:lnTo>
                    <a:pt x="560984" y="1349781"/>
                  </a:lnTo>
                  <a:lnTo>
                    <a:pt x="553415" y="1340307"/>
                  </a:lnTo>
                  <a:lnTo>
                    <a:pt x="553415" y="1360601"/>
                  </a:lnTo>
                  <a:lnTo>
                    <a:pt x="539381" y="1380629"/>
                  </a:lnTo>
                  <a:lnTo>
                    <a:pt x="532117" y="1375702"/>
                  </a:lnTo>
                  <a:lnTo>
                    <a:pt x="532117" y="1390980"/>
                  </a:lnTo>
                  <a:lnTo>
                    <a:pt x="465950" y="1485392"/>
                  </a:lnTo>
                  <a:lnTo>
                    <a:pt x="54000" y="1066114"/>
                  </a:lnTo>
                  <a:lnTo>
                    <a:pt x="532117" y="1390980"/>
                  </a:lnTo>
                  <a:lnTo>
                    <a:pt x="532117" y="1375702"/>
                  </a:lnTo>
                  <a:lnTo>
                    <a:pt x="46786" y="1045959"/>
                  </a:lnTo>
                  <a:lnTo>
                    <a:pt x="397827" y="1165707"/>
                  </a:lnTo>
                  <a:lnTo>
                    <a:pt x="553415" y="1360601"/>
                  </a:lnTo>
                  <a:lnTo>
                    <a:pt x="553415" y="1340307"/>
                  </a:lnTo>
                  <a:lnTo>
                    <a:pt x="420103" y="1173314"/>
                  </a:lnTo>
                  <a:lnTo>
                    <a:pt x="628319" y="1244333"/>
                  </a:lnTo>
                  <a:lnTo>
                    <a:pt x="632320" y="1248003"/>
                  </a:lnTo>
                  <a:lnTo>
                    <a:pt x="632320" y="1230718"/>
                  </a:lnTo>
                  <a:lnTo>
                    <a:pt x="604901" y="1205687"/>
                  </a:lnTo>
                  <a:lnTo>
                    <a:pt x="604901" y="1222959"/>
                  </a:lnTo>
                  <a:lnTo>
                    <a:pt x="405434" y="1154938"/>
                  </a:lnTo>
                  <a:lnTo>
                    <a:pt x="383159" y="1127048"/>
                  </a:lnTo>
                  <a:lnTo>
                    <a:pt x="383159" y="1147343"/>
                  </a:lnTo>
                  <a:lnTo>
                    <a:pt x="42951" y="1031328"/>
                  </a:lnTo>
                  <a:lnTo>
                    <a:pt x="291084" y="1032014"/>
                  </a:lnTo>
                  <a:lnTo>
                    <a:pt x="383159" y="1147343"/>
                  </a:lnTo>
                  <a:lnTo>
                    <a:pt x="383159" y="1127048"/>
                  </a:lnTo>
                  <a:lnTo>
                    <a:pt x="307327" y="1032052"/>
                  </a:lnTo>
                  <a:lnTo>
                    <a:pt x="396125" y="1032294"/>
                  </a:lnTo>
                  <a:lnTo>
                    <a:pt x="604901" y="1222959"/>
                  </a:lnTo>
                  <a:lnTo>
                    <a:pt x="604901" y="1205687"/>
                  </a:lnTo>
                  <a:lnTo>
                    <a:pt x="415112" y="1032344"/>
                  </a:lnTo>
                  <a:lnTo>
                    <a:pt x="625652" y="1032929"/>
                  </a:lnTo>
                  <a:lnTo>
                    <a:pt x="737895" y="1097368"/>
                  </a:lnTo>
                  <a:lnTo>
                    <a:pt x="737895" y="1082840"/>
                  </a:lnTo>
                  <a:lnTo>
                    <a:pt x="651078" y="1032992"/>
                  </a:lnTo>
                  <a:lnTo>
                    <a:pt x="782751" y="1033360"/>
                  </a:lnTo>
                  <a:lnTo>
                    <a:pt x="782751" y="1020673"/>
                  </a:lnTo>
                  <a:lnTo>
                    <a:pt x="628840" y="1020229"/>
                  </a:lnTo>
                  <a:lnTo>
                    <a:pt x="603427" y="1005649"/>
                  </a:lnTo>
                  <a:lnTo>
                    <a:pt x="603427" y="1020165"/>
                  </a:lnTo>
                  <a:lnTo>
                    <a:pt x="401154" y="1019606"/>
                  </a:lnTo>
                  <a:lnTo>
                    <a:pt x="382181" y="1002284"/>
                  </a:lnTo>
                  <a:lnTo>
                    <a:pt x="382181" y="1019556"/>
                  </a:lnTo>
                  <a:lnTo>
                    <a:pt x="297167" y="1019327"/>
                  </a:lnTo>
                  <a:lnTo>
                    <a:pt x="280924" y="998994"/>
                  </a:lnTo>
                  <a:lnTo>
                    <a:pt x="280924" y="1019289"/>
                  </a:lnTo>
                  <a:lnTo>
                    <a:pt x="56438" y="1018679"/>
                  </a:lnTo>
                  <a:lnTo>
                    <a:pt x="232651" y="958824"/>
                  </a:lnTo>
                  <a:lnTo>
                    <a:pt x="280924" y="1019289"/>
                  </a:lnTo>
                  <a:lnTo>
                    <a:pt x="280924" y="998994"/>
                  </a:lnTo>
                  <a:lnTo>
                    <a:pt x="245402" y="954493"/>
                  </a:lnTo>
                  <a:lnTo>
                    <a:pt x="293166" y="938263"/>
                  </a:lnTo>
                  <a:lnTo>
                    <a:pt x="382181" y="1019556"/>
                  </a:lnTo>
                  <a:lnTo>
                    <a:pt x="382181" y="1002284"/>
                  </a:lnTo>
                  <a:lnTo>
                    <a:pt x="306959" y="933577"/>
                  </a:lnTo>
                  <a:lnTo>
                    <a:pt x="398449" y="902512"/>
                  </a:lnTo>
                  <a:lnTo>
                    <a:pt x="603427" y="1020165"/>
                  </a:lnTo>
                  <a:lnTo>
                    <a:pt x="603427" y="1005649"/>
                  </a:lnTo>
                  <a:lnTo>
                    <a:pt x="414350" y="897102"/>
                  </a:lnTo>
                  <a:lnTo>
                    <a:pt x="626440" y="825068"/>
                  </a:lnTo>
                  <a:lnTo>
                    <a:pt x="886117" y="885863"/>
                  </a:lnTo>
                  <a:lnTo>
                    <a:pt x="886117" y="872845"/>
                  </a:lnTo>
                  <a:lnTo>
                    <a:pt x="649173" y="817346"/>
                  </a:lnTo>
                  <a:lnTo>
                    <a:pt x="1023162" y="690321"/>
                  </a:lnTo>
                  <a:lnTo>
                    <a:pt x="1023162" y="676884"/>
                  </a:lnTo>
                  <a:lnTo>
                    <a:pt x="625741" y="811860"/>
                  </a:lnTo>
                  <a:lnTo>
                    <a:pt x="602996" y="806538"/>
                  </a:lnTo>
                  <a:lnTo>
                    <a:pt x="602996" y="819581"/>
                  </a:lnTo>
                  <a:lnTo>
                    <a:pt x="399630" y="888657"/>
                  </a:lnTo>
                  <a:lnTo>
                    <a:pt x="383730" y="879538"/>
                  </a:lnTo>
                  <a:lnTo>
                    <a:pt x="383730" y="894067"/>
                  </a:lnTo>
                  <a:lnTo>
                    <a:pt x="296227" y="923785"/>
                  </a:lnTo>
                  <a:lnTo>
                    <a:pt x="282435" y="911186"/>
                  </a:lnTo>
                  <a:lnTo>
                    <a:pt x="282435" y="928471"/>
                  </a:lnTo>
                  <a:lnTo>
                    <a:pt x="236956" y="943914"/>
                  </a:lnTo>
                  <a:lnTo>
                    <a:pt x="224218" y="927950"/>
                  </a:lnTo>
                  <a:lnTo>
                    <a:pt x="224218" y="948245"/>
                  </a:lnTo>
                  <a:lnTo>
                    <a:pt x="40017" y="1010805"/>
                  </a:lnTo>
                  <a:lnTo>
                    <a:pt x="192049" y="907923"/>
                  </a:lnTo>
                  <a:lnTo>
                    <a:pt x="224218" y="948245"/>
                  </a:lnTo>
                  <a:lnTo>
                    <a:pt x="224218" y="927950"/>
                  </a:lnTo>
                  <a:lnTo>
                    <a:pt x="202565" y="900811"/>
                  </a:lnTo>
                  <a:lnTo>
                    <a:pt x="231063" y="881532"/>
                  </a:lnTo>
                  <a:lnTo>
                    <a:pt x="282435" y="928471"/>
                  </a:lnTo>
                  <a:lnTo>
                    <a:pt x="282435" y="911186"/>
                  </a:lnTo>
                  <a:lnTo>
                    <a:pt x="241935" y="874179"/>
                  </a:lnTo>
                  <a:lnTo>
                    <a:pt x="291122" y="840892"/>
                  </a:lnTo>
                  <a:lnTo>
                    <a:pt x="383730" y="894067"/>
                  </a:lnTo>
                  <a:lnTo>
                    <a:pt x="383730" y="879538"/>
                  </a:lnTo>
                  <a:lnTo>
                    <a:pt x="302742" y="833031"/>
                  </a:lnTo>
                  <a:lnTo>
                    <a:pt x="394677" y="770813"/>
                  </a:lnTo>
                  <a:lnTo>
                    <a:pt x="602996" y="819581"/>
                  </a:lnTo>
                  <a:lnTo>
                    <a:pt x="602996" y="806538"/>
                  </a:lnTo>
                  <a:lnTo>
                    <a:pt x="409016" y="761111"/>
                  </a:lnTo>
                  <a:lnTo>
                    <a:pt x="623138" y="616216"/>
                  </a:lnTo>
                  <a:lnTo>
                    <a:pt x="1110805" y="565264"/>
                  </a:lnTo>
                  <a:lnTo>
                    <a:pt x="1110805" y="552424"/>
                  </a:lnTo>
                  <a:lnTo>
                    <a:pt x="645579" y="601040"/>
                  </a:lnTo>
                  <a:lnTo>
                    <a:pt x="1449095" y="57315"/>
                  </a:lnTo>
                  <a:lnTo>
                    <a:pt x="1460957" y="65646"/>
                  </a:lnTo>
                  <a:lnTo>
                    <a:pt x="1460957" y="1041"/>
                  </a:lnTo>
                  <a:lnTo>
                    <a:pt x="1437767" y="0"/>
                  </a:lnTo>
                  <a:lnTo>
                    <a:pt x="1443748" y="13474"/>
                  </a:lnTo>
                  <a:lnTo>
                    <a:pt x="1432306" y="14986"/>
                  </a:lnTo>
                  <a:lnTo>
                    <a:pt x="1443850" y="32092"/>
                  </a:lnTo>
                  <a:lnTo>
                    <a:pt x="1437982" y="34709"/>
                  </a:lnTo>
                  <a:lnTo>
                    <a:pt x="1437982" y="49491"/>
                  </a:lnTo>
                  <a:lnTo>
                    <a:pt x="618744" y="603846"/>
                  </a:lnTo>
                  <a:lnTo>
                    <a:pt x="596315" y="606196"/>
                  </a:lnTo>
                  <a:lnTo>
                    <a:pt x="596315" y="619023"/>
                  </a:lnTo>
                  <a:lnTo>
                    <a:pt x="392163" y="757161"/>
                  </a:lnTo>
                  <a:lnTo>
                    <a:pt x="377825" y="753808"/>
                  </a:lnTo>
                  <a:lnTo>
                    <a:pt x="377825" y="766864"/>
                  </a:lnTo>
                  <a:lnTo>
                    <a:pt x="290474" y="825982"/>
                  </a:lnTo>
                  <a:lnTo>
                    <a:pt x="278841" y="819315"/>
                  </a:lnTo>
                  <a:lnTo>
                    <a:pt x="278841" y="833843"/>
                  </a:lnTo>
                  <a:lnTo>
                    <a:pt x="232270" y="865365"/>
                  </a:lnTo>
                  <a:lnTo>
                    <a:pt x="221399" y="855446"/>
                  </a:lnTo>
                  <a:lnTo>
                    <a:pt x="221399" y="872718"/>
                  </a:lnTo>
                  <a:lnTo>
                    <a:pt x="194614" y="890841"/>
                  </a:lnTo>
                  <a:lnTo>
                    <a:pt x="69088" y="733602"/>
                  </a:lnTo>
                  <a:lnTo>
                    <a:pt x="221399" y="872718"/>
                  </a:lnTo>
                  <a:lnTo>
                    <a:pt x="221399" y="855446"/>
                  </a:lnTo>
                  <a:lnTo>
                    <a:pt x="60604" y="708571"/>
                  </a:lnTo>
                  <a:lnTo>
                    <a:pt x="278841" y="833843"/>
                  </a:lnTo>
                  <a:lnTo>
                    <a:pt x="278841" y="819315"/>
                  </a:lnTo>
                  <a:lnTo>
                    <a:pt x="56464" y="691642"/>
                  </a:lnTo>
                  <a:lnTo>
                    <a:pt x="377825" y="766864"/>
                  </a:lnTo>
                  <a:lnTo>
                    <a:pt x="377825" y="753808"/>
                  </a:lnTo>
                  <a:lnTo>
                    <a:pt x="47256" y="676402"/>
                  </a:lnTo>
                  <a:lnTo>
                    <a:pt x="596315" y="619023"/>
                  </a:lnTo>
                  <a:lnTo>
                    <a:pt x="596315" y="606196"/>
                  </a:lnTo>
                  <a:lnTo>
                    <a:pt x="60553" y="662178"/>
                  </a:lnTo>
                  <a:lnTo>
                    <a:pt x="1437144" y="48907"/>
                  </a:lnTo>
                  <a:lnTo>
                    <a:pt x="1437982" y="49491"/>
                  </a:lnTo>
                  <a:lnTo>
                    <a:pt x="1437982" y="34709"/>
                  </a:lnTo>
                  <a:lnTo>
                    <a:pt x="20002" y="666407"/>
                  </a:lnTo>
                  <a:lnTo>
                    <a:pt x="13081" y="667131"/>
                  </a:lnTo>
                  <a:lnTo>
                    <a:pt x="13208" y="668426"/>
                  </a:lnTo>
                  <a:lnTo>
                    <a:pt x="12065" y="668147"/>
                  </a:lnTo>
                  <a:lnTo>
                    <a:pt x="11607" y="670153"/>
                  </a:lnTo>
                  <a:lnTo>
                    <a:pt x="8128" y="671703"/>
                  </a:lnTo>
                  <a:lnTo>
                    <a:pt x="10198" y="676452"/>
                  </a:lnTo>
                  <a:lnTo>
                    <a:pt x="9994" y="677329"/>
                  </a:lnTo>
                  <a:lnTo>
                    <a:pt x="8763" y="678307"/>
                  </a:lnTo>
                  <a:lnTo>
                    <a:pt x="9550" y="679310"/>
                  </a:lnTo>
                  <a:lnTo>
                    <a:pt x="9271" y="680593"/>
                  </a:lnTo>
                  <a:lnTo>
                    <a:pt x="10896" y="680986"/>
                  </a:lnTo>
                  <a:lnTo>
                    <a:pt x="184099" y="897953"/>
                  </a:lnTo>
                  <a:lnTo>
                    <a:pt x="1016" y="1021842"/>
                  </a:lnTo>
                  <a:lnTo>
                    <a:pt x="3657" y="1025779"/>
                  </a:lnTo>
                  <a:lnTo>
                    <a:pt x="0" y="1029335"/>
                  </a:lnTo>
                  <a:lnTo>
                    <a:pt x="458533" y="1495983"/>
                  </a:lnTo>
                  <a:lnTo>
                    <a:pt x="2413" y="2146808"/>
                  </a:lnTo>
                  <a:lnTo>
                    <a:pt x="7429" y="2150313"/>
                  </a:lnTo>
                  <a:lnTo>
                    <a:pt x="7581" y="2150668"/>
                  </a:lnTo>
                  <a:lnTo>
                    <a:pt x="7835" y="2154885"/>
                  </a:lnTo>
                  <a:lnTo>
                    <a:pt x="5969" y="2161794"/>
                  </a:lnTo>
                  <a:lnTo>
                    <a:pt x="1434668" y="2552281"/>
                  </a:lnTo>
                  <a:lnTo>
                    <a:pt x="1426337" y="2582811"/>
                  </a:lnTo>
                  <a:lnTo>
                    <a:pt x="1509903" y="2566174"/>
                  </a:lnTo>
                  <a:lnTo>
                    <a:pt x="1501457" y="2558631"/>
                  </a:lnTo>
                  <a:lnTo>
                    <a:pt x="1516761" y="2563876"/>
                  </a:lnTo>
                  <a:lnTo>
                    <a:pt x="1515630" y="2560434"/>
                  </a:lnTo>
                  <a:lnTo>
                    <a:pt x="1521714" y="2563241"/>
                  </a:lnTo>
                  <a:lnTo>
                    <a:pt x="1511973" y="2517648"/>
                  </a:lnTo>
                  <a:lnTo>
                    <a:pt x="1503934" y="2479929"/>
                  </a:lnTo>
                  <a:lnTo>
                    <a:pt x="1492478" y="2489060"/>
                  </a:lnTo>
                  <a:lnTo>
                    <a:pt x="1490472" y="2482850"/>
                  </a:lnTo>
                  <a:lnTo>
                    <a:pt x="1476540" y="2496528"/>
                  </a:lnTo>
                  <a:lnTo>
                    <a:pt x="1463687" y="2480437"/>
                  </a:lnTo>
                  <a:lnTo>
                    <a:pt x="1463687" y="2500820"/>
                  </a:lnTo>
                  <a:lnTo>
                    <a:pt x="1458810" y="2495867"/>
                  </a:lnTo>
                  <a:lnTo>
                    <a:pt x="1458810" y="2513914"/>
                  </a:lnTo>
                  <a:lnTo>
                    <a:pt x="1455305" y="2517356"/>
                  </a:lnTo>
                  <a:lnTo>
                    <a:pt x="1446403" y="2509393"/>
                  </a:lnTo>
                  <a:lnTo>
                    <a:pt x="1440154" y="2532227"/>
                  </a:lnTo>
                  <a:lnTo>
                    <a:pt x="1436116" y="2536190"/>
                  </a:lnTo>
                  <a:lnTo>
                    <a:pt x="1438808" y="2537129"/>
                  </a:lnTo>
                  <a:lnTo>
                    <a:pt x="1438046" y="2539949"/>
                  </a:lnTo>
                  <a:lnTo>
                    <a:pt x="32232" y="2155888"/>
                  </a:lnTo>
                  <a:lnTo>
                    <a:pt x="1041590" y="2089340"/>
                  </a:lnTo>
                  <a:lnTo>
                    <a:pt x="1458810" y="2513914"/>
                  </a:lnTo>
                  <a:lnTo>
                    <a:pt x="1458810" y="2495867"/>
                  </a:lnTo>
                  <a:lnTo>
                    <a:pt x="1058278" y="2088235"/>
                  </a:lnTo>
                  <a:lnTo>
                    <a:pt x="1130503" y="2083473"/>
                  </a:lnTo>
                  <a:lnTo>
                    <a:pt x="1463687" y="2500820"/>
                  </a:lnTo>
                  <a:lnTo>
                    <a:pt x="1463687" y="2480437"/>
                  </a:lnTo>
                  <a:lnTo>
                    <a:pt x="1145946" y="2082457"/>
                  </a:lnTo>
                  <a:lnTo>
                    <a:pt x="1434249" y="2063445"/>
                  </a:lnTo>
                  <a:lnTo>
                    <a:pt x="1433487" y="2052066"/>
                  </a:lnTo>
                  <a:lnTo>
                    <a:pt x="1434198" y="2062607"/>
                  </a:lnTo>
                  <a:lnTo>
                    <a:pt x="1434249" y="2063445"/>
                  </a:lnTo>
                  <a:lnTo>
                    <a:pt x="1436370" y="2095119"/>
                  </a:lnTo>
                  <a:lnTo>
                    <a:pt x="1509903" y="2052066"/>
                  </a:lnTo>
                  <a:lnTo>
                    <a:pt x="1507134" y="2050910"/>
                  </a:lnTo>
                  <a:lnTo>
                    <a:pt x="1516761" y="2052193"/>
                  </a:lnTo>
                  <a:lnTo>
                    <a:pt x="1515465" y="2049907"/>
                  </a:lnTo>
                  <a:lnTo>
                    <a:pt x="1521714" y="2051685"/>
                  </a:lnTo>
                  <a:lnTo>
                    <a:pt x="1507020" y="2013458"/>
                  </a:lnTo>
                  <a:lnTo>
                    <a:pt x="1491107" y="1972056"/>
                  </a:lnTo>
                  <a:lnTo>
                    <a:pt x="1479156" y="1985149"/>
                  </a:lnTo>
                  <a:lnTo>
                    <a:pt x="1475105" y="1977898"/>
                  </a:lnTo>
                  <a:lnTo>
                    <a:pt x="1465681" y="1991779"/>
                  </a:lnTo>
                  <a:lnTo>
                    <a:pt x="1458442" y="1985175"/>
                  </a:lnTo>
                  <a:lnTo>
                    <a:pt x="1458442" y="2002434"/>
                  </a:lnTo>
                  <a:lnTo>
                    <a:pt x="1457248" y="2004187"/>
                  </a:lnTo>
                  <a:lnTo>
                    <a:pt x="1450098" y="1999335"/>
                  </a:lnTo>
                  <a:lnTo>
                    <a:pt x="1450098" y="2014702"/>
                  </a:lnTo>
                  <a:lnTo>
                    <a:pt x="1443913" y="2023808"/>
                  </a:lnTo>
                  <a:lnTo>
                    <a:pt x="1443545" y="2024202"/>
                  </a:lnTo>
                  <a:lnTo>
                    <a:pt x="1431290" y="2019046"/>
                  </a:lnTo>
                  <a:lnTo>
                    <a:pt x="1432699" y="2040305"/>
                  </a:lnTo>
                  <a:lnTo>
                    <a:pt x="1432306" y="2040890"/>
                  </a:lnTo>
                  <a:lnTo>
                    <a:pt x="1432737" y="2040953"/>
                  </a:lnTo>
                  <a:lnTo>
                    <a:pt x="1433347" y="2049907"/>
                  </a:lnTo>
                  <a:lnTo>
                    <a:pt x="1433398" y="2050745"/>
                  </a:lnTo>
                  <a:lnTo>
                    <a:pt x="1136269" y="2070341"/>
                  </a:lnTo>
                  <a:lnTo>
                    <a:pt x="1120825" y="2050999"/>
                  </a:lnTo>
                  <a:lnTo>
                    <a:pt x="1120825" y="2071357"/>
                  </a:lnTo>
                  <a:lnTo>
                    <a:pt x="1046518" y="2076259"/>
                  </a:lnTo>
                  <a:lnTo>
                    <a:pt x="1029817" y="2059266"/>
                  </a:lnTo>
                  <a:lnTo>
                    <a:pt x="1029817" y="2077364"/>
                  </a:lnTo>
                  <a:lnTo>
                    <a:pt x="45224" y="2142286"/>
                  </a:lnTo>
                  <a:lnTo>
                    <a:pt x="794359" y="1837753"/>
                  </a:lnTo>
                  <a:lnTo>
                    <a:pt x="1029817" y="2077364"/>
                  </a:lnTo>
                  <a:lnTo>
                    <a:pt x="1029817" y="2059266"/>
                  </a:lnTo>
                  <a:lnTo>
                    <a:pt x="807085" y="1832584"/>
                  </a:lnTo>
                  <a:lnTo>
                    <a:pt x="900036" y="1794802"/>
                  </a:lnTo>
                  <a:lnTo>
                    <a:pt x="1120825" y="2071357"/>
                  </a:lnTo>
                  <a:lnTo>
                    <a:pt x="1120825" y="2050999"/>
                  </a:lnTo>
                  <a:lnTo>
                    <a:pt x="912291" y="1789811"/>
                  </a:lnTo>
                  <a:lnTo>
                    <a:pt x="1041679" y="1737220"/>
                  </a:lnTo>
                  <a:lnTo>
                    <a:pt x="1450098" y="2014702"/>
                  </a:lnTo>
                  <a:lnTo>
                    <a:pt x="1450098" y="1999335"/>
                  </a:lnTo>
                  <a:lnTo>
                    <a:pt x="1055814" y="1731467"/>
                  </a:lnTo>
                  <a:lnTo>
                    <a:pt x="1129093" y="1701685"/>
                  </a:lnTo>
                  <a:lnTo>
                    <a:pt x="1458442" y="2002434"/>
                  </a:lnTo>
                  <a:lnTo>
                    <a:pt x="1458442" y="1985175"/>
                  </a:lnTo>
                  <a:lnTo>
                    <a:pt x="1142187" y="1696364"/>
                  </a:lnTo>
                  <a:lnTo>
                    <a:pt x="1441678" y="1574609"/>
                  </a:lnTo>
                  <a:lnTo>
                    <a:pt x="1453642" y="1604010"/>
                  </a:lnTo>
                  <a:lnTo>
                    <a:pt x="1494040" y="1558036"/>
                  </a:lnTo>
                  <a:lnTo>
                    <a:pt x="1508340" y="1541780"/>
                  </a:lnTo>
                  <a:lnTo>
                    <a:pt x="1516761" y="1540637"/>
                  </a:lnTo>
                  <a:lnTo>
                    <a:pt x="1515783" y="1539659"/>
                  </a:lnTo>
                  <a:lnTo>
                    <a:pt x="1521714" y="1540002"/>
                  </a:lnTo>
                  <a:lnTo>
                    <a:pt x="1504340" y="1513840"/>
                  </a:lnTo>
                  <a:lnTo>
                    <a:pt x="1474597" y="1469009"/>
                  </a:lnTo>
                  <a:lnTo>
                    <a:pt x="1464119" y="1487220"/>
                  </a:lnTo>
                  <a:lnTo>
                    <a:pt x="1456944" y="1479931"/>
                  </a:lnTo>
                  <a:lnTo>
                    <a:pt x="1452473" y="1493012"/>
                  </a:lnTo>
                  <a:lnTo>
                    <a:pt x="1448333" y="1490637"/>
                  </a:lnTo>
                  <a:lnTo>
                    <a:pt x="1448333" y="1505127"/>
                  </a:lnTo>
                  <a:lnTo>
                    <a:pt x="1446669" y="1509991"/>
                  </a:lnTo>
                  <a:lnTo>
                    <a:pt x="1442542" y="1508594"/>
                  </a:lnTo>
                  <a:lnTo>
                    <a:pt x="1442542" y="1522082"/>
                  </a:lnTo>
                  <a:lnTo>
                    <a:pt x="1440281" y="1528673"/>
                  </a:lnTo>
                  <a:lnTo>
                    <a:pt x="1437030" y="1534350"/>
                  </a:lnTo>
                  <a:lnTo>
                    <a:pt x="1424940" y="1533398"/>
                  </a:lnTo>
                  <a:lnTo>
                    <a:pt x="1432394" y="1551787"/>
                  </a:lnTo>
                  <a:lnTo>
                    <a:pt x="1432306" y="1552067"/>
                  </a:lnTo>
                  <a:lnTo>
                    <a:pt x="1432496" y="1552041"/>
                  </a:lnTo>
                  <a:lnTo>
                    <a:pt x="1436890" y="1562836"/>
                  </a:lnTo>
                  <a:lnTo>
                    <a:pt x="1131811" y="1686877"/>
                  </a:lnTo>
                  <a:lnTo>
                    <a:pt x="1118717" y="1674926"/>
                  </a:lnTo>
                  <a:lnTo>
                    <a:pt x="1118717" y="1692198"/>
                  </a:lnTo>
                  <a:lnTo>
                    <a:pt x="1043190" y="1722907"/>
                  </a:lnTo>
                  <a:lnTo>
                    <a:pt x="1029068" y="1713318"/>
                  </a:lnTo>
                  <a:lnTo>
                    <a:pt x="1029068" y="1728647"/>
                  </a:lnTo>
                  <a:lnTo>
                    <a:pt x="904036" y="1779473"/>
                  </a:lnTo>
                  <a:lnTo>
                    <a:pt x="891781" y="1764131"/>
                  </a:lnTo>
                  <a:lnTo>
                    <a:pt x="891781" y="1784464"/>
                  </a:lnTo>
                  <a:lnTo>
                    <a:pt x="797471" y="1822805"/>
                  </a:lnTo>
                  <a:lnTo>
                    <a:pt x="784745" y="1809864"/>
                  </a:lnTo>
                  <a:lnTo>
                    <a:pt x="784745" y="1827974"/>
                  </a:lnTo>
                  <a:lnTo>
                    <a:pt x="65557" y="2120379"/>
                  </a:lnTo>
                  <a:lnTo>
                    <a:pt x="645490" y="1686255"/>
                  </a:lnTo>
                  <a:lnTo>
                    <a:pt x="784745" y="1827974"/>
                  </a:lnTo>
                  <a:lnTo>
                    <a:pt x="784745" y="1809864"/>
                  </a:lnTo>
                  <a:lnTo>
                    <a:pt x="655751" y="1678571"/>
                  </a:lnTo>
                  <a:lnTo>
                    <a:pt x="750582" y="1607591"/>
                  </a:lnTo>
                  <a:lnTo>
                    <a:pt x="891781" y="1784464"/>
                  </a:lnTo>
                  <a:lnTo>
                    <a:pt x="891781" y="1764131"/>
                  </a:lnTo>
                  <a:lnTo>
                    <a:pt x="760742" y="1599984"/>
                  </a:lnTo>
                  <a:lnTo>
                    <a:pt x="798309" y="1571853"/>
                  </a:lnTo>
                  <a:lnTo>
                    <a:pt x="1029068" y="1728647"/>
                  </a:lnTo>
                  <a:lnTo>
                    <a:pt x="1029068" y="1713318"/>
                  </a:lnTo>
                  <a:lnTo>
                    <a:pt x="809040" y="1563827"/>
                  </a:lnTo>
                  <a:lnTo>
                    <a:pt x="901966" y="1494269"/>
                  </a:lnTo>
                  <a:lnTo>
                    <a:pt x="1118717" y="1692198"/>
                  </a:lnTo>
                  <a:lnTo>
                    <a:pt x="1118717" y="1674926"/>
                  </a:lnTo>
                  <a:lnTo>
                    <a:pt x="912368" y="1486484"/>
                  </a:lnTo>
                  <a:lnTo>
                    <a:pt x="1045654" y="1386700"/>
                  </a:lnTo>
                  <a:lnTo>
                    <a:pt x="1442542" y="1522082"/>
                  </a:lnTo>
                  <a:lnTo>
                    <a:pt x="1442542" y="1508594"/>
                  </a:lnTo>
                  <a:lnTo>
                    <a:pt x="1057998" y="1377467"/>
                  </a:lnTo>
                  <a:lnTo>
                    <a:pt x="1130858" y="1322920"/>
                  </a:lnTo>
                  <a:lnTo>
                    <a:pt x="1448333" y="1505127"/>
                  </a:lnTo>
                  <a:lnTo>
                    <a:pt x="1448333" y="1490637"/>
                  </a:lnTo>
                  <a:lnTo>
                    <a:pt x="1141831" y="1314704"/>
                  </a:lnTo>
                  <a:lnTo>
                    <a:pt x="1453019" y="1081760"/>
                  </a:lnTo>
                  <a:lnTo>
                    <a:pt x="1472057" y="1107186"/>
                  </a:lnTo>
                  <a:lnTo>
                    <a:pt x="1493647" y="1064006"/>
                  </a:lnTo>
                  <a:lnTo>
                    <a:pt x="1509229" y="1032840"/>
                  </a:lnTo>
                  <a:lnTo>
                    <a:pt x="1514068" y="1030427"/>
                  </a:lnTo>
                  <a:lnTo>
                    <a:pt x="1522857" y="1028319"/>
                  </a:lnTo>
                  <a:lnTo>
                    <a:pt x="1512900" y="1020064"/>
                  </a:lnTo>
                  <a:lnTo>
                    <a:pt x="1457325" y="973963"/>
                  </a:lnTo>
                  <a:lnTo>
                    <a:pt x="1452067" y="996327"/>
                  </a:lnTo>
                  <a:lnTo>
                    <a:pt x="1445412" y="992987"/>
                  </a:lnTo>
                  <a:lnTo>
                    <a:pt x="1445412" y="1071600"/>
                  </a:lnTo>
                  <a:lnTo>
                    <a:pt x="1129842" y="1307833"/>
                  </a:lnTo>
                  <a:lnTo>
                    <a:pt x="1118870" y="1301546"/>
                  </a:lnTo>
                  <a:lnTo>
                    <a:pt x="1118870" y="1316037"/>
                  </a:lnTo>
                  <a:lnTo>
                    <a:pt x="1043444" y="1372501"/>
                  </a:lnTo>
                  <a:lnTo>
                    <a:pt x="1031100" y="1368298"/>
                  </a:lnTo>
                  <a:lnTo>
                    <a:pt x="1031100" y="1381734"/>
                  </a:lnTo>
                  <a:lnTo>
                    <a:pt x="902830" y="1477759"/>
                  </a:lnTo>
                  <a:lnTo>
                    <a:pt x="892429" y="1468272"/>
                  </a:lnTo>
                  <a:lnTo>
                    <a:pt x="892429" y="1485544"/>
                  </a:lnTo>
                  <a:lnTo>
                    <a:pt x="797928" y="1556283"/>
                  </a:lnTo>
                  <a:lnTo>
                    <a:pt x="787209" y="1549006"/>
                  </a:lnTo>
                  <a:lnTo>
                    <a:pt x="787209" y="1564309"/>
                  </a:lnTo>
                  <a:lnTo>
                    <a:pt x="752817" y="1590052"/>
                  </a:lnTo>
                  <a:lnTo>
                    <a:pt x="742657" y="1577327"/>
                  </a:lnTo>
                  <a:lnTo>
                    <a:pt x="742657" y="1597660"/>
                  </a:lnTo>
                  <a:lnTo>
                    <a:pt x="646772" y="1669440"/>
                  </a:lnTo>
                  <a:lnTo>
                    <a:pt x="636511" y="1659001"/>
                  </a:lnTo>
                  <a:lnTo>
                    <a:pt x="636511" y="1677123"/>
                  </a:lnTo>
                  <a:lnTo>
                    <a:pt x="63398" y="2106130"/>
                  </a:lnTo>
                  <a:lnTo>
                    <a:pt x="543521" y="1582496"/>
                  </a:lnTo>
                  <a:lnTo>
                    <a:pt x="636511" y="1677123"/>
                  </a:lnTo>
                  <a:lnTo>
                    <a:pt x="636511" y="1659001"/>
                  </a:lnTo>
                  <a:lnTo>
                    <a:pt x="552132" y="1573110"/>
                  </a:lnTo>
                  <a:lnTo>
                    <a:pt x="643509" y="1473454"/>
                  </a:lnTo>
                  <a:lnTo>
                    <a:pt x="742657" y="1597660"/>
                  </a:lnTo>
                  <a:lnTo>
                    <a:pt x="742657" y="1577327"/>
                  </a:lnTo>
                  <a:lnTo>
                    <a:pt x="667131" y="1482712"/>
                  </a:lnTo>
                  <a:lnTo>
                    <a:pt x="787209" y="1564309"/>
                  </a:lnTo>
                  <a:lnTo>
                    <a:pt x="787209" y="1549006"/>
                  </a:lnTo>
                  <a:lnTo>
                    <a:pt x="655993" y="1459852"/>
                  </a:lnTo>
                  <a:lnTo>
                    <a:pt x="750912" y="1356321"/>
                  </a:lnTo>
                  <a:lnTo>
                    <a:pt x="892429" y="1485544"/>
                  </a:lnTo>
                  <a:lnTo>
                    <a:pt x="892429" y="1468272"/>
                  </a:lnTo>
                  <a:lnTo>
                    <a:pt x="759548" y="1346911"/>
                  </a:lnTo>
                  <a:lnTo>
                    <a:pt x="799922" y="1302880"/>
                  </a:lnTo>
                  <a:lnTo>
                    <a:pt x="1031100" y="1381734"/>
                  </a:lnTo>
                  <a:lnTo>
                    <a:pt x="1031100" y="1368298"/>
                  </a:lnTo>
                  <a:lnTo>
                    <a:pt x="809282" y="1292656"/>
                  </a:lnTo>
                  <a:lnTo>
                    <a:pt x="901992" y="1191564"/>
                  </a:lnTo>
                  <a:lnTo>
                    <a:pt x="1118870" y="1316037"/>
                  </a:lnTo>
                  <a:lnTo>
                    <a:pt x="1118870" y="1301546"/>
                  </a:lnTo>
                  <a:lnTo>
                    <a:pt x="910704" y="1182052"/>
                  </a:lnTo>
                  <a:lnTo>
                    <a:pt x="1046378" y="1034084"/>
                  </a:lnTo>
                  <a:lnTo>
                    <a:pt x="1440853" y="1035151"/>
                  </a:lnTo>
                  <a:lnTo>
                    <a:pt x="1440840" y="1043495"/>
                  </a:lnTo>
                  <a:lnTo>
                    <a:pt x="1426337" y="1046099"/>
                  </a:lnTo>
                  <a:lnTo>
                    <a:pt x="1440815" y="1065466"/>
                  </a:lnTo>
                  <a:lnTo>
                    <a:pt x="1440815" y="1066927"/>
                  </a:lnTo>
                  <a:lnTo>
                    <a:pt x="1441615" y="1066533"/>
                  </a:lnTo>
                  <a:lnTo>
                    <a:pt x="1445412" y="1071600"/>
                  </a:lnTo>
                  <a:lnTo>
                    <a:pt x="1445412" y="992987"/>
                  </a:lnTo>
                  <a:lnTo>
                    <a:pt x="1442961" y="991755"/>
                  </a:lnTo>
                  <a:lnTo>
                    <a:pt x="1442961" y="1035151"/>
                  </a:lnTo>
                  <a:lnTo>
                    <a:pt x="1440865" y="1035177"/>
                  </a:lnTo>
                  <a:lnTo>
                    <a:pt x="1442961" y="1035151"/>
                  </a:lnTo>
                  <a:lnTo>
                    <a:pt x="1442961" y="991755"/>
                  </a:lnTo>
                  <a:lnTo>
                    <a:pt x="1440942" y="990727"/>
                  </a:lnTo>
                  <a:lnTo>
                    <a:pt x="1440916" y="1002728"/>
                  </a:lnTo>
                  <a:lnTo>
                    <a:pt x="1440891" y="1015707"/>
                  </a:lnTo>
                  <a:lnTo>
                    <a:pt x="1440891" y="1018540"/>
                  </a:lnTo>
                  <a:lnTo>
                    <a:pt x="1440878" y="1022451"/>
                  </a:lnTo>
                  <a:lnTo>
                    <a:pt x="1057998" y="1021410"/>
                  </a:lnTo>
                  <a:lnTo>
                    <a:pt x="1129957" y="942936"/>
                  </a:lnTo>
                  <a:lnTo>
                    <a:pt x="1440891" y="1015707"/>
                  </a:lnTo>
                  <a:lnTo>
                    <a:pt x="1440891" y="1002728"/>
                  </a:lnTo>
                  <a:lnTo>
                    <a:pt x="1139774" y="932230"/>
                  </a:lnTo>
                  <a:lnTo>
                    <a:pt x="1463357" y="579323"/>
                  </a:lnTo>
                  <a:lnTo>
                    <a:pt x="1486789" y="600837"/>
                  </a:lnTo>
                  <a:lnTo>
                    <a:pt x="1498015" y="561467"/>
                  </a:lnTo>
                  <a:lnTo>
                    <a:pt x="1508582" y="524408"/>
                  </a:lnTo>
                  <a:lnTo>
                    <a:pt x="1509026" y="523963"/>
                  </a:lnTo>
                  <a:lnTo>
                    <a:pt x="1521307" y="516128"/>
                  </a:lnTo>
                  <a:lnTo>
                    <a:pt x="1521714" y="515874"/>
                  </a:lnTo>
                  <a:lnTo>
                    <a:pt x="1454086" y="490461"/>
                  </a:lnTo>
                  <a:lnTo>
                    <a:pt x="1454086" y="570814"/>
                  </a:lnTo>
                  <a:lnTo>
                    <a:pt x="1125664" y="928928"/>
                  </a:lnTo>
                  <a:lnTo>
                    <a:pt x="1115847" y="926630"/>
                  </a:lnTo>
                  <a:lnTo>
                    <a:pt x="1115847" y="939634"/>
                  </a:lnTo>
                  <a:lnTo>
                    <a:pt x="1040892" y="1021372"/>
                  </a:lnTo>
                  <a:lnTo>
                    <a:pt x="1029284" y="1021346"/>
                  </a:lnTo>
                  <a:lnTo>
                    <a:pt x="1029284" y="1034034"/>
                  </a:lnTo>
                  <a:lnTo>
                    <a:pt x="899464" y="1175588"/>
                  </a:lnTo>
                  <a:lnTo>
                    <a:pt x="890739" y="1170584"/>
                  </a:lnTo>
                  <a:lnTo>
                    <a:pt x="890739" y="1185100"/>
                  </a:lnTo>
                  <a:lnTo>
                    <a:pt x="796188" y="1288199"/>
                  </a:lnTo>
                  <a:lnTo>
                    <a:pt x="786828" y="1285011"/>
                  </a:lnTo>
                  <a:lnTo>
                    <a:pt x="786828" y="1298409"/>
                  </a:lnTo>
                  <a:lnTo>
                    <a:pt x="750189" y="1338364"/>
                  </a:lnTo>
                  <a:lnTo>
                    <a:pt x="741553" y="1330477"/>
                  </a:lnTo>
                  <a:lnTo>
                    <a:pt x="741553" y="1347774"/>
                  </a:lnTo>
                  <a:lnTo>
                    <a:pt x="645388" y="1452638"/>
                  </a:lnTo>
                  <a:lnTo>
                    <a:pt x="640422" y="1449260"/>
                  </a:lnTo>
                  <a:lnTo>
                    <a:pt x="635495" y="1443101"/>
                  </a:lnTo>
                  <a:lnTo>
                    <a:pt x="635495" y="1463421"/>
                  </a:lnTo>
                  <a:lnTo>
                    <a:pt x="543217" y="1564043"/>
                  </a:lnTo>
                  <a:lnTo>
                    <a:pt x="534619" y="1555292"/>
                  </a:lnTo>
                  <a:lnTo>
                    <a:pt x="534619" y="1573428"/>
                  </a:lnTo>
                  <a:lnTo>
                    <a:pt x="47409" y="2104694"/>
                  </a:lnTo>
                  <a:lnTo>
                    <a:pt x="467575" y="1505178"/>
                  </a:lnTo>
                  <a:lnTo>
                    <a:pt x="534619" y="1573428"/>
                  </a:lnTo>
                  <a:lnTo>
                    <a:pt x="534619" y="1555292"/>
                  </a:lnTo>
                  <a:lnTo>
                    <a:pt x="474992" y="1494586"/>
                  </a:lnTo>
                  <a:lnTo>
                    <a:pt x="542607" y="1398117"/>
                  </a:lnTo>
                  <a:lnTo>
                    <a:pt x="631672" y="1458620"/>
                  </a:lnTo>
                  <a:lnTo>
                    <a:pt x="635495" y="1463421"/>
                  </a:lnTo>
                  <a:lnTo>
                    <a:pt x="635495" y="1443101"/>
                  </a:lnTo>
                  <a:lnTo>
                    <a:pt x="604977" y="1404874"/>
                  </a:lnTo>
                  <a:lnTo>
                    <a:pt x="604977" y="1425181"/>
                  </a:lnTo>
                  <a:lnTo>
                    <a:pt x="549871" y="1387754"/>
                  </a:lnTo>
                  <a:lnTo>
                    <a:pt x="561657" y="1370926"/>
                  </a:lnTo>
                  <a:lnTo>
                    <a:pt x="604977" y="1425181"/>
                  </a:lnTo>
                  <a:lnTo>
                    <a:pt x="604977" y="1404874"/>
                  </a:lnTo>
                  <a:lnTo>
                    <a:pt x="569239" y="1360119"/>
                  </a:lnTo>
                  <a:lnTo>
                    <a:pt x="641769" y="1256626"/>
                  </a:lnTo>
                  <a:lnTo>
                    <a:pt x="741553" y="1347774"/>
                  </a:lnTo>
                  <a:lnTo>
                    <a:pt x="741553" y="1330477"/>
                  </a:lnTo>
                  <a:lnTo>
                    <a:pt x="658520" y="1254633"/>
                  </a:lnTo>
                  <a:lnTo>
                    <a:pt x="786828" y="1298409"/>
                  </a:lnTo>
                  <a:lnTo>
                    <a:pt x="786828" y="1285011"/>
                  </a:lnTo>
                  <a:lnTo>
                    <a:pt x="653694" y="1239596"/>
                  </a:lnTo>
                  <a:lnTo>
                    <a:pt x="748944" y="1103706"/>
                  </a:lnTo>
                  <a:lnTo>
                    <a:pt x="890739" y="1185100"/>
                  </a:lnTo>
                  <a:lnTo>
                    <a:pt x="890739" y="1170584"/>
                  </a:lnTo>
                  <a:lnTo>
                    <a:pt x="756196" y="1093343"/>
                  </a:lnTo>
                  <a:lnTo>
                    <a:pt x="798207" y="1033399"/>
                  </a:lnTo>
                  <a:lnTo>
                    <a:pt x="1029284" y="1034034"/>
                  </a:lnTo>
                  <a:lnTo>
                    <a:pt x="1029284" y="1021346"/>
                  </a:lnTo>
                  <a:lnTo>
                    <a:pt x="807097" y="1020724"/>
                  </a:lnTo>
                  <a:lnTo>
                    <a:pt x="899426" y="888974"/>
                  </a:lnTo>
                  <a:lnTo>
                    <a:pt x="1115847" y="939634"/>
                  </a:lnTo>
                  <a:lnTo>
                    <a:pt x="1115847" y="926630"/>
                  </a:lnTo>
                  <a:lnTo>
                    <a:pt x="907262" y="877785"/>
                  </a:lnTo>
                  <a:lnTo>
                    <a:pt x="1043482" y="683425"/>
                  </a:lnTo>
                  <a:lnTo>
                    <a:pt x="1432737" y="551205"/>
                  </a:lnTo>
                  <a:lnTo>
                    <a:pt x="1454086" y="570814"/>
                  </a:lnTo>
                  <a:lnTo>
                    <a:pt x="1454086" y="490461"/>
                  </a:lnTo>
                  <a:lnTo>
                    <a:pt x="1441958" y="485902"/>
                  </a:lnTo>
                  <a:lnTo>
                    <a:pt x="1444028" y="505879"/>
                  </a:lnTo>
                  <a:lnTo>
                    <a:pt x="1442872" y="505726"/>
                  </a:lnTo>
                  <a:lnTo>
                    <a:pt x="1442872" y="534314"/>
                  </a:lnTo>
                  <a:lnTo>
                    <a:pt x="1055852" y="665772"/>
                  </a:lnTo>
                  <a:lnTo>
                    <a:pt x="1127518" y="563511"/>
                  </a:lnTo>
                  <a:lnTo>
                    <a:pt x="1441627" y="530682"/>
                  </a:lnTo>
                  <a:lnTo>
                    <a:pt x="1442872" y="534314"/>
                  </a:lnTo>
                  <a:lnTo>
                    <a:pt x="1442872" y="505726"/>
                  </a:lnTo>
                  <a:lnTo>
                    <a:pt x="1432687" y="504317"/>
                  </a:lnTo>
                  <a:lnTo>
                    <a:pt x="1437424" y="518287"/>
                  </a:lnTo>
                  <a:lnTo>
                    <a:pt x="1137221" y="549668"/>
                  </a:lnTo>
                  <a:lnTo>
                    <a:pt x="1471333" y="72936"/>
                  </a:lnTo>
                  <a:lnTo>
                    <a:pt x="1471599" y="73139"/>
                  </a:lnTo>
                  <a:lnTo>
                    <a:pt x="1474978" y="78105"/>
                  </a:lnTo>
                  <a:lnTo>
                    <a:pt x="1476019" y="76238"/>
                  </a:lnTo>
                  <a:lnTo>
                    <a:pt x="1497330" y="91186"/>
                  </a:lnTo>
                  <a:lnTo>
                    <a:pt x="1502676" y="55245"/>
                  </a:lnTo>
                  <a:lnTo>
                    <a:pt x="1507578" y="22377"/>
                  </a:lnTo>
                  <a:lnTo>
                    <a:pt x="1522857" y="381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97295" y="3709416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3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3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3" y="323087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3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97295" y="3709416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3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3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3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3" y="323087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3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75378" y="2630677"/>
              <a:ext cx="2058670" cy="2568575"/>
            </a:xfrm>
            <a:custGeom>
              <a:avLst/>
              <a:gdLst/>
              <a:ahLst/>
              <a:cxnLst/>
              <a:rect l="l" t="t" r="r" b="b"/>
              <a:pathLst>
                <a:path w="2058670" h="2568575">
                  <a:moveTo>
                    <a:pt x="1120902" y="1240282"/>
                  </a:moveTo>
                  <a:lnTo>
                    <a:pt x="1109002" y="1197356"/>
                  </a:lnTo>
                  <a:lnTo>
                    <a:pt x="1098169" y="1158240"/>
                  </a:lnTo>
                  <a:lnTo>
                    <a:pt x="1081341" y="1173441"/>
                  </a:lnTo>
                  <a:lnTo>
                    <a:pt x="1077722" y="1167257"/>
                  </a:lnTo>
                  <a:lnTo>
                    <a:pt x="1071791" y="1176388"/>
                  </a:lnTo>
                  <a:lnTo>
                    <a:pt x="9525" y="0"/>
                  </a:lnTo>
                  <a:lnTo>
                    <a:pt x="127" y="8636"/>
                  </a:lnTo>
                  <a:lnTo>
                    <a:pt x="1064653" y="1187411"/>
                  </a:lnTo>
                  <a:lnTo>
                    <a:pt x="1062926" y="1190078"/>
                  </a:lnTo>
                  <a:lnTo>
                    <a:pt x="1059446" y="1193228"/>
                  </a:lnTo>
                  <a:lnTo>
                    <a:pt x="8255" y="511048"/>
                  </a:lnTo>
                  <a:lnTo>
                    <a:pt x="1397" y="521716"/>
                  </a:lnTo>
                  <a:lnTo>
                    <a:pt x="1049705" y="1202016"/>
                  </a:lnTo>
                  <a:lnTo>
                    <a:pt x="1041654" y="1209294"/>
                  </a:lnTo>
                  <a:lnTo>
                    <a:pt x="1048689" y="1212049"/>
                  </a:lnTo>
                  <a:lnTo>
                    <a:pt x="1043571" y="1219936"/>
                  </a:lnTo>
                  <a:lnTo>
                    <a:pt x="5969" y="1022223"/>
                  </a:lnTo>
                  <a:lnTo>
                    <a:pt x="3683" y="1034669"/>
                  </a:lnTo>
                  <a:lnTo>
                    <a:pt x="1039431" y="1232039"/>
                  </a:lnTo>
                  <a:lnTo>
                    <a:pt x="1042746" y="1244473"/>
                  </a:lnTo>
                  <a:lnTo>
                    <a:pt x="1040714" y="1255153"/>
                  </a:lnTo>
                  <a:lnTo>
                    <a:pt x="1036955" y="1255776"/>
                  </a:lnTo>
                  <a:lnTo>
                    <a:pt x="1038123" y="1257401"/>
                  </a:lnTo>
                  <a:lnTo>
                    <a:pt x="3175" y="1534668"/>
                  </a:lnTo>
                  <a:lnTo>
                    <a:pt x="6477" y="1546860"/>
                  </a:lnTo>
                  <a:lnTo>
                    <a:pt x="1046149" y="1268463"/>
                  </a:lnTo>
                  <a:lnTo>
                    <a:pt x="1049185" y="1272667"/>
                  </a:lnTo>
                  <a:lnTo>
                    <a:pt x="1042670" y="1275461"/>
                  </a:lnTo>
                  <a:lnTo>
                    <a:pt x="1052385" y="1283677"/>
                  </a:lnTo>
                  <a:lnTo>
                    <a:pt x="1143" y="2047240"/>
                  </a:lnTo>
                  <a:lnTo>
                    <a:pt x="8509" y="2057527"/>
                  </a:lnTo>
                  <a:lnTo>
                    <a:pt x="1056601" y="1296327"/>
                  </a:lnTo>
                  <a:lnTo>
                    <a:pt x="1057148" y="1298321"/>
                  </a:lnTo>
                  <a:lnTo>
                    <a:pt x="1063294" y="1292872"/>
                  </a:lnTo>
                  <a:lnTo>
                    <a:pt x="1064729" y="1294091"/>
                  </a:lnTo>
                  <a:lnTo>
                    <a:pt x="1066507" y="1296530"/>
                  </a:lnTo>
                  <a:lnTo>
                    <a:pt x="0" y="2559939"/>
                  </a:lnTo>
                  <a:lnTo>
                    <a:pt x="9652" y="2568067"/>
                  </a:lnTo>
                  <a:lnTo>
                    <a:pt x="1074140" y="1307045"/>
                  </a:lnTo>
                  <a:lnTo>
                    <a:pt x="1081659" y="1317371"/>
                  </a:lnTo>
                  <a:lnTo>
                    <a:pt x="1084910" y="1311097"/>
                  </a:lnTo>
                  <a:lnTo>
                    <a:pt x="1100963" y="1324610"/>
                  </a:lnTo>
                  <a:lnTo>
                    <a:pt x="1110195" y="1286256"/>
                  </a:lnTo>
                  <a:lnTo>
                    <a:pt x="1120902" y="1241806"/>
                  </a:lnTo>
                  <a:lnTo>
                    <a:pt x="1119593" y="1241539"/>
                  </a:lnTo>
                  <a:lnTo>
                    <a:pt x="1120902" y="1241171"/>
                  </a:lnTo>
                  <a:lnTo>
                    <a:pt x="1120114" y="1240586"/>
                  </a:lnTo>
                  <a:lnTo>
                    <a:pt x="1120902" y="1240663"/>
                  </a:lnTo>
                  <a:lnTo>
                    <a:pt x="1120609" y="1240180"/>
                  </a:lnTo>
                  <a:lnTo>
                    <a:pt x="1120902" y="1240282"/>
                  </a:lnTo>
                  <a:close/>
                </a:path>
                <a:path w="2058670" h="2568575">
                  <a:moveTo>
                    <a:pt x="2058543" y="1241806"/>
                  </a:moveTo>
                  <a:lnTo>
                    <a:pt x="2045843" y="1235456"/>
                  </a:lnTo>
                  <a:lnTo>
                    <a:pt x="1982343" y="1203706"/>
                  </a:lnTo>
                  <a:lnTo>
                    <a:pt x="1982343" y="1235456"/>
                  </a:lnTo>
                  <a:lnTo>
                    <a:pt x="1446530" y="1235456"/>
                  </a:lnTo>
                  <a:lnTo>
                    <a:pt x="1446530" y="1248156"/>
                  </a:lnTo>
                  <a:lnTo>
                    <a:pt x="1982343" y="1248156"/>
                  </a:lnTo>
                  <a:lnTo>
                    <a:pt x="1982343" y="1279906"/>
                  </a:lnTo>
                  <a:lnTo>
                    <a:pt x="2045843" y="1248156"/>
                  </a:lnTo>
                  <a:lnTo>
                    <a:pt x="2058543" y="1241806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54376" y="5154625"/>
            <a:ext cx="8128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“Capa”</a:t>
            </a:r>
            <a:r>
              <a:rPr sz="1400" spc="-35" dirty="0">
                <a:latin typeface="Arial MT"/>
                <a:cs typeface="Arial MT"/>
              </a:rPr>
              <a:t> de</a:t>
            </a:r>
            <a:endParaRPr sz="1400">
              <a:latin typeface="Arial MT"/>
              <a:cs typeface="Arial MT"/>
            </a:endParaRPr>
          </a:p>
          <a:p>
            <a:pPr marL="106680">
              <a:lnSpc>
                <a:spcPct val="100000"/>
              </a:lnSpc>
            </a:pPr>
            <a:r>
              <a:rPr sz="1400" spc="-10" dirty="0">
                <a:latin typeface="Arial MT"/>
                <a:cs typeface="Arial MT"/>
              </a:rPr>
              <a:t>entrada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25492" y="5463336"/>
            <a:ext cx="49657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4130">
              <a:lnSpc>
                <a:spcPct val="100000"/>
              </a:lnSpc>
              <a:spcBef>
                <a:spcPts val="90"/>
              </a:spcBef>
            </a:pPr>
            <a:r>
              <a:rPr sz="1400" spc="-20" dirty="0">
                <a:latin typeface="Arial MT"/>
                <a:cs typeface="Arial MT"/>
              </a:rPr>
              <a:t>Capa </a:t>
            </a:r>
            <a:r>
              <a:rPr sz="1400" spc="-10" dirty="0">
                <a:latin typeface="Arial MT"/>
                <a:cs typeface="Arial MT"/>
              </a:rPr>
              <a:t>oculta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01665" y="4265167"/>
            <a:ext cx="69405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6205" marR="5080" indent="-104139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Arial MT"/>
                <a:cs typeface="Arial MT"/>
              </a:rPr>
              <a:t>Capa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de </a:t>
            </a:r>
            <a:r>
              <a:rPr sz="1400" spc="-10" dirty="0">
                <a:latin typeface="Arial MT"/>
                <a:cs typeface="Arial MT"/>
              </a:rPr>
              <a:t>salida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2864" y="3688079"/>
            <a:ext cx="752855" cy="26822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2536189" y="2962656"/>
            <a:ext cx="253365" cy="747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1600"/>
              </a:lnSpc>
              <a:spcBef>
                <a:spcPts val="100"/>
              </a:spcBef>
            </a:pPr>
            <a:r>
              <a:rPr sz="1800" i="1" spc="-25" dirty="0">
                <a:latin typeface="Times New Roman"/>
                <a:cs typeface="Times New Roman"/>
              </a:rPr>
              <a:t>x</a:t>
            </a:r>
            <a:r>
              <a:rPr sz="1800" spc="-37" baseline="-20833" dirty="0">
                <a:latin typeface="Times New Roman"/>
                <a:cs typeface="Times New Roman"/>
              </a:rPr>
              <a:t>1 </a:t>
            </a:r>
            <a:r>
              <a:rPr sz="1800" i="1" spc="-25" dirty="0">
                <a:latin typeface="Times New Roman"/>
                <a:cs typeface="Times New Roman"/>
              </a:rPr>
              <a:t>x</a:t>
            </a:r>
            <a:r>
              <a:rPr sz="1800" spc="-37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36189" y="4579111"/>
            <a:ext cx="253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25" dirty="0">
                <a:latin typeface="Times New Roman"/>
                <a:cs typeface="Times New Roman"/>
              </a:rPr>
              <a:t>x</a:t>
            </a:r>
            <a:r>
              <a:rPr sz="1800" i="1" spc="-37" baseline="-20833" dirty="0">
                <a:latin typeface="Times New Roman"/>
                <a:cs typeface="Times New Roman"/>
              </a:rPr>
              <a:t>d</a:t>
            </a:r>
            <a:endParaRPr sz="1800" baseline="-20833">
              <a:latin typeface="Times New Roman"/>
              <a:cs typeface="Times New Roman"/>
            </a:endParaRPr>
          </a:p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3567" y="2133600"/>
            <a:ext cx="758951" cy="268224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2590800" y="2441448"/>
            <a:ext cx="3804285" cy="1219200"/>
            <a:chOff x="2590800" y="2441448"/>
            <a:chExt cx="3804285" cy="1219200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44895" y="3392424"/>
              <a:ext cx="749808" cy="2682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0800" y="2471928"/>
              <a:ext cx="313944" cy="22250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02357" y="2823845"/>
              <a:ext cx="76200" cy="24510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74136" y="2441448"/>
              <a:ext cx="438912" cy="23164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68823" y="2691384"/>
              <a:ext cx="438912" cy="2316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71672" y="2688336"/>
              <a:ext cx="307848" cy="2560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75504" y="2913888"/>
              <a:ext cx="298703" cy="265175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38" name="Picture 4">
            <a:extLst>
              <a:ext uri="{FF2B5EF4-FFF2-40B4-BE49-F238E27FC236}">
                <a16:creationId xmlns:a16="http://schemas.microsoft.com/office/drawing/2014/main" id="{2D55525D-C849-4B95-2328-948D2A97D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Ingeniería de Sistemas - UNCP">
            <a:extLst>
              <a:ext uri="{FF2B5EF4-FFF2-40B4-BE49-F238E27FC236}">
                <a16:creationId xmlns:a16="http://schemas.microsoft.com/office/drawing/2014/main" id="{093CB0BC-8DD6-0FE1-3722-0B9A9EA86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70" dirty="0"/>
              <a:t> </a:t>
            </a:r>
            <a:r>
              <a:rPr dirty="0"/>
              <a:t>Neuronales</a:t>
            </a:r>
            <a:r>
              <a:rPr spc="-65" dirty="0"/>
              <a:t> </a:t>
            </a:r>
            <a:r>
              <a:rPr spc="-10" dirty="0"/>
              <a:t>Simples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4294" y="936751"/>
            <a:ext cx="5572760" cy="51187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7274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Esquema</a:t>
            </a:r>
            <a:r>
              <a:rPr sz="2000" b="1" spc="-1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con</a:t>
            </a:r>
            <a:r>
              <a:rPr sz="2000" b="1" spc="-4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2</a:t>
            </a:r>
            <a:r>
              <a:rPr sz="2000" b="1" spc="-5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2092FA"/>
                </a:solidFill>
                <a:latin typeface="Arial"/>
                <a:cs typeface="Arial"/>
              </a:rPr>
              <a:t>capas</a:t>
            </a:r>
            <a:endParaRPr sz="2000">
              <a:latin typeface="Arial"/>
              <a:cs typeface="Arial"/>
            </a:endParaRPr>
          </a:p>
          <a:p>
            <a:pPr marL="2692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69240" algn="l"/>
              </a:tabLst>
            </a:pP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Elementos:</a:t>
            </a:r>
            <a:endParaRPr sz="2000">
              <a:latin typeface="Arial MT"/>
              <a:cs typeface="Arial MT"/>
            </a:endParaRPr>
          </a:p>
          <a:p>
            <a:pPr marL="450850" lvl="1" indent="-158750">
              <a:lnSpc>
                <a:spcPct val="100000"/>
              </a:lnSpc>
              <a:spcBef>
                <a:spcPts val="1305"/>
              </a:spcBef>
              <a:buChar char="-"/>
              <a:tabLst>
                <a:tab pos="450850" algn="l"/>
              </a:tabLst>
            </a:pPr>
            <a:r>
              <a:rPr sz="1800" dirty="0">
                <a:latin typeface="Arial MT"/>
                <a:cs typeface="Arial MT"/>
              </a:rPr>
              <a:t>Entrada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(capa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entrada)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𝒂</a:t>
            </a:r>
            <a:r>
              <a:rPr sz="1950" baseline="27777" dirty="0">
                <a:latin typeface="Cambria Math"/>
                <a:cs typeface="Cambria Math"/>
              </a:rPr>
              <a:t>[0]</a:t>
            </a:r>
            <a:r>
              <a:rPr sz="1950" spc="397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ℝ</a:t>
            </a:r>
            <a:r>
              <a:rPr sz="1950" spc="-37" baseline="27777" dirty="0">
                <a:latin typeface="Cambria Math"/>
                <a:cs typeface="Cambria Math"/>
              </a:rPr>
              <a:t>𝑑</a:t>
            </a:r>
            <a:endParaRPr sz="1950" baseline="27777">
              <a:latin typeface="Cambria Math"/>
              <a:cs typeface="Cambria Math"/>
            </a:endParaRPr>
          </a:p>
          <a:p>
            <a:pPr marL="450850" lvl="1" indent="-158750">
              <a:lnSpc>
                <a:spcPct val="100000"/>
              </a:lnSpc>
              <a:spcBef>
                <a:spcPts val="1800"/>
              </a:spcBef>
              <a:buChar char="-"/>
              <a:tabLst>
                <a:tab pos="450850" algn="l"/>
              </a:tabLst>
            </a:pP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Capa</a:t>
            </a:r>
            <a:r>
              <a:rPr sz="1800" spc="-2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Arial MT"/>
                <a:cs typeface="Arial MT"/>
              </a:rPr>
              <a:t>oculta</a:t>
            </a:r>
            <a:endParaRPr sz="1800">
              <a:latin typeface="Arial MT"/>
              <a:cs typeface="Arial MT"/>
            </a:endParaRPr>
          </a:p>
          <a:p>
            <a:pPr marL="673735" lvl="2" indent="-222885">
              <a:lnSpc>
                <a:spcPct val="100000"/>
              </a:lnSpc>
              <a:spcBef>
                <a:spcPts val="585"/>
              </a:spcBef>
              <a:buChar char="•"/>
              <a:tabLst>
                <a:tab pos="673735" algn="l"/>
              </a:tabLst>
            </a:pPr>
            <a:r>
              <a:rPr sz="1600" dirty="0">
                <a:latin typeface="Arial MT"/>
                <a:cs typeface="Arial MT"/>
              </a:rPr>
              <a:t>Número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neuronas: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n</a:t>
            </a:r>
            <a:r>
              <a:rPr sz="1575" spc="-30" baseline="26455" dirty="0">
                <a:latin typeface="Times New Roman"/>
                <a:cs typeface="Times New Roman"/>
              </a:rPr>
              <a:t>[1]</a:t>
            </a:r>
            <a:endParaRPr sz="1575" baseline="26455">
              <a:latin typeface="Times New Roman"/>
              <a:cs typeface="Times New Roman"/>
            </a:endParaRPr>
          </a:p>
          <a:p>
            <a:pPr marL="673735" lvl="2" indent="-222885">
              <a:lnSpc>
                <a:spcPct val="100000"/>
              </a:lnSpc>
              <a:spcBef>
                <a:spcPts val="985"/>
              </a:spcBef>
              <a:buChar char="•"/>
              <a:tabLst>
                <a:tab pos="673735" algn="l"/>
              </a:tabLst>
            </a:pPr>
            <a:r>
              <a:rPr sz="1600" dirty="0">
                <a:latin typeface="Arial MT"/>
                <a:cs typeface="Arial MT"/>
              </a:rPr>
              <a:t>Pesos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Cambria Math"/>
                <a:cs typeface="Cambria Math"/>
              </a:rPr>
              <a:t>𝑊</a:t>
            </a:r>
            <a:r>
              <a:rPr sz="1725" baseline="28985" dirty="0">
                <a:latin typeface="Cambria Math"/>
                <a:cs typeface="Cambria Math"/>
              </a:rPr>
              <a:t>[1]</a:t>
            </a:r>
            <a:r>
              <a:rPr sz="1725" spc="480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∈</a:t>
            </a:r>
            <a:r>
              <a:rPr sz="1600" spc="1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ℝ</a:t>
            </a:r>
            <a:r>
              <a:rPr sz="1725" baseline="28985" dirty="0">
                <a:latin typeface="Cambria Math"/>
                <a:cs typeface="Cambria Math"/>
              </a:rPr>
              <a:t>𝑛</a:t>
            </a:r>
            <a:r>
              <a:rPr sz="1425" baseline="61403" dirty="0">
                <a:latin typeface="Cambria Math"/>
                <a:cs typeface="Cambria Math"/>
              </a:rPr>
              <a:t>[1]</a:t>
            </a:r>
            <a:r>
              <a:rPr sz="1725" baseline="28985" dirty="0">
                <a:latin typeface="Cambria Math"/>
                <a:cs typeface="Cambria Math"/>
              </a:rPr>
              <a:t>×𝑑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bias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dirty="0">
                <a:latin typeface="Cambria Math"/>
                <a:cs typeface="Cambria Math"/>
              </a:rPr>
              <a:t>𝑏</a:t>
            </a:r>
            <a:r>
              <a:rPr sz="1725" baseline="28985" dirty="0">
                <a:latin typeface="Cambria Math"/>
                <a:cs typeface="Cambria Math"/>
              </a:rPr>
              <a:t>[1]</a:t>
            </a:r>
            <a:r>
              <a:rPr sz="1725" spc="472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∈</a:t>
            </a:r>
            <a:r>
              <a:rPr sz="1600" spc="18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ℝ</a:t>
            </a:r>
            <a:r>
              <a:rPr sz="1725" spc="-15" baseline="28985" dirty="0">
                <a:latin typeface="Cambria Math"/>
                <a:cs typeface="Cambria Math"/>
              </a:rPr>
              <a:t>𝑛</a:t>
            </a:r>
            <a:r>
              <a:rPr sz="1425" spc="-15" baseline="61403" dirty="0">
                <a:latin typeface="Cambria Math"/>
                <a:cs typeface="Cambria Math"/>
              </a:rPr>
              <a:t>[1]</a:t>
            </a:r>
            <a:endParaRPr sz="1425" baseline="61403">
              <a:latin typeface="Cambria Math"/>
              <a:cs typeface="Cambria Math"/>
            </a:endParaRPr>
          </a:p>
          <a:p>
            <a:pPr marL="673735" lvl="2" indent="-222885">
              <a:lnSpc>
                <a:spcPct val="100000"/>
              </a:lnSpc>
              <a:spcBef>
                <a:spcPts val="965"/>
              </a:spcBef>
              <a:buChar char="•"/>
              <a:tabLst>
                <a:tab pos="673735" algn="l"/>
              </a:tabLst>
            </a:pPr>
            <a:r>
              <a:rPr sz="1600" dirty="0">
                <a:latin typeface="Arial MT"/>
                <a:cs typeface="Arial MT"/>
              </a:rPr>
              <a:t>Función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propagación: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Cambria Math"/>
                <a:cs typeface="Cambria Math"/>
              </a:rPr>
              <a:t>𝒛</a:t>
            </a:r>
            <a:r>
              <a:rPr sz="1725" baseline="28985" dirty="0">
                <a:latin typeface="Cambria Math"/>
                <a:cs typeface="Cambria Math"/>
              </a:rPr>
              <a:t>[1]</a:t>
            </a:r>
            <a:r>
              <a:rPr sz="1725" spc="337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∈</a:t>
            </a:r>
            <a:r>
              <a:rPr sz="1600" spc="6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ℝ</a:t>
            </a:r>
            <a:r>
              <a:rPr sz="1725" spc="-30" baseline="28985" dirty="0">
                <a:latin typeface="Cambria Math"/>
                <a:cs typeface="Cambria Math"/>
              </a:rPr>
              <a:t>𝑛</a:t>
            </a:r>
            <a:r>
              <a:rPr sz="1425" spc="-30" baseline="61403" dirty="0">
                <a:latin typeface="Cambria Math"/>
                <a:cs typeface="Cambria Math"/>
              </a:rPr>
              <a:t>[1]</a:t>
            </a:r>
            <a:endParaRPr sz="1425" baseline="61403">
              <a:latin typeface="Cambria Math"/>
              <a:cs typeface="Cambria Math"/>
            </a:endParaRPr>
          </a:p>
          <a:p>
            <a:pPr marL="673735" lvl="2" indent="-222885">
              <a:lnSpc>
                <a:spcPct val="100000"/>
              </a:lnSpc>
              <a:spcBef>
                <a:spcPts val="960"/>
              </a:spcBef>
              <a:buChar char="•"/>
              <a:tabLst>
                <a:tab pos="673735" algn="l"/>
              </a:tabLst>
            </a:pPr>
            <a:r>
              <a:rPr sz="1600" dirty="0">
                <a:latin typeface="Arial MT"/>
                <a:cs typeface="Arial MT"/>
              </a:rPr>
              <a:t>Activación: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Cambria Math"/>
                <a:cs typeface="Cambria Math"/>
              </a:rPr>
              <a:t>𝒂</a:t>
            </a:r>
            <a:r>
              <a:rPr sz="1725" baseline="28985" dirty="0">
                <a:latin typeface="Cambria Math"/>
                <a:cs typeface="Cambria Math"/>
              </a:rPr>
              <a:t>[1]</a:t>
            </a:r>
            <a:r>
              <a:rPr sz="1725" spc="412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∈</a:t>
            </a:r>
            <a:r>
              <a:rPr sz="1600" spc="90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ℝ</a:t>
            </a:r>
            <a:r>
              <a:rPr sz="1725" spc="-30" baseline="28985" dirty="0">
                <a:latin typeface="Cambria Math"/>
                <a:cs typeface="Cambria Math"/>
              </a:rPr>
              <a:t>𝑛</a:t>
            </a:r>
            <a:r>
              <a:rPr sz="1425" spc="-30" baseline="61403" dirty="0">
                <a:latin typeface="Cambria Math"/>
                <a:cs typeface="Cambria Math"/>
              </a:rPr>
              <a:t>[1]</a:t>
            </a:r>
            <a:endParaRPr sz="1425" baseline="61403">
              <a:latin typeface="Cambria Math"/>
              <a:cs typeface="Cambria Math"/>
            </a:endParaRPr>
          </a:p>
          <a:p>
            <a:pPr marL="450215" lvl="1" indent="-158115">
              <a:lnSpc>
                <a:spcPct val="100000"/>
              </a:lnSpc>
              <a:spcBef>
                <a:spcPts val="1795"/>
              </a:spcBef>
              <a:buChar char="-"/>
              <a:tabLst>
                <a:tab pos="450215" algn="l"/>
              </a:tabLst>
            </a:pP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Capa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de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Arial MT"/>
                <a:cs typeface="Arial MT"/>
              </a:rPr>
              <a:t>salida</a:t>
            </a:r>
            <a:endParaRPr sz="1800">
              <a:latin typeface="Arial MT"/>
              <a:cs typeface="Arial MT"/>
            </a:endParaRPr>
          </a:p>
          <a:p>
            <a:pPr marL="673735" lvl="2" indent="-222885">
              <a:lnSpc>
                <a:spcPct val="100000"/>
              </a:lnSpc>
              <a:spcBef>
                <a:spcPts val="580"/>
              </a:spcBef>
              <a:buChar char="•"/>
              <a:tabLst>
                <a:tab pos="673735" algn="l"/>
              </a:tabLst>
            </a:pPr>
            <a:r>
              <a:rPr sz="1600" dirty="0">
                <a:latin typeface="Arial MT"/>
                <a:cs typeface="Arial MT"/>
              </a:rPr>
              <a:t>Número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neuronas: </a:t>
            </a:r>
            <a:r>
              <a:rPr sz="1600" i="1" spc="-20" dirty="0">
                <a:latin typeface="Times New Roman"/>
                <a:cs typeface="Times New Roman"/>
              </a:rPr>
              <a:t>n</a:t>
            </a:r>
            <a:r>
              <a:rPr sz="1575" spc="-30" baseline="26455" dirty="0">
                <a:latin typeface="Times New Roman"/>
                <a:cs typeface="Times New Roman"/>
              </a:rPr>
              <a:t>[2]</a:t>
            </a:r>
            <a:endParaRPr sz="1575" baseline="26455">
              <a:latin typeface="Times New Roman"/>
              <a:cs typeface="Times New Roman"/>
            </a:endParaRPr>
          </a:p>
          <a:p>
            <a:pPr marL="673735" lvl="2" indent="-222885">
              <a:lnSpc>
                <a:spcPct val="100000"/>
              </a:lnSpc>
              <a:spcBef>
                <a:spcPts val="990"/>
              </a:spcBef>
              <a:buChar char="•"/>
              <a:tabLst>
                <a:tab pos="673735" algn="l"/>
              </a:tabLst>
            </a:pPr>
            <a:r>
              <a:rPr sz="1600" dirty="0">
                <a:latin typeface="Arial MT"/>
                <a:cs typeface="Arial MT"/>
              </a:rPr>
              <a:t>Pesos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dirty="0">
                <a:latin typeface="Cambria Math"/>
                <a:cs typeface="Cambria Math"/>
              </a:rPr>
              <a:t>𝑊</a:t>
            </a:r>
            <a:r>
              <a:rPr sz="1725" baseline="28985" dirty="0">
                <a:latin typeface="Cambria Math"/>
                <a:cs typeface="Cambria Math"/>
              </a:rPr>
              <a:t>[2]</a:t>
            </a:r>
            <a:r>
              <a:rPr sz="1725" spc="450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∈</a:t>
            </a:r>
            <a:r>
              <a:rPr sz="1600" spc="1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ℝ</a:t>
            </a:r>
            <a:r>
              <a:rPr sz="1725" baseline="28985" dirty="0">
                <a:latin typeface="Cambria Math"/>
                <a:cs typeface="Cambria Math"/>
              </a:rPr>
              <a:t>1×𝑛</a:t>
            </a:r>
            <a:r>
              <a:rPr sz="1425" baseline="61403" dirty="0">
                <a:latin typeface="Cambria Math"/>
                <a:cs typeface="Cambria Math"/>
              </a:rPr>
              <a:t>[1]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bias</a:t>
            </a:r>
            <a:r>
              <a:rPr sz="1600" spc="50" dirty="0">
                <a:latin typeface="Arial MT"/>
                <a:cs typeface="Arial MT"/>
              </a:rPr>
              <a:t> </a:t>
            </a:r>
            <a:r>
              <a:rPr sz="1600" dirty="0">
                <a:latin typeface="Cambria Math"/>
                <a:cs typeface="Cambria Math"/>
              </a:rPr>
              <a:t>𝑏</a:t>
            </a:r>
            <a:r>
              <a:rPr sz="1725" baseline="28985" dirty="0">
                <a:latin typeface="Cambria Math"/>
                <a:cs typeface="Cambria Math"/>
              </a:rPr>
              <a:t>[2]</a:t>
            </a:r>
            <a:r>
              <a:rPr sz="1725" spc="457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∈</a:t>
            </a:r>
            <a:r>
              <a:rPr sz="1600" spc="16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ℝ</a:t>
            </a:r>
            <a:endParaRPr sz="1600">
              <a:latin typeface="Cambria Math"/>
              <a:cs typeface="Cambria Math"/>
            </a:endParaRPr>
          </a:p>
          <a:p>
            <a:pPr marL="673735" lvl="2" indent="-222885">
              <a:lnSpc>
                <a:spcPct val="100000"/>
              </a:lnSpc>
              <a:spcBef>
                <a:spcPts val="670"/>
              </a:spcBef>
              <a:buChar char="•"/>
              <a:tabLst>
                <a:tab pos="673735" algn="l"/>
              </a:tabLst>
            </a:pPr>
            <a:r>
              <a:rPr sz="1600" dirty="0">
                <a:latin typeface="Arial MT"/>
                <a:cs typeface="Arial MT"/>
              </a:rPr>
              <a:t>Función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 propagación: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Cambria Math"/>
                <a:cs typeface="Cambria Math"/>
              </a:rPr>
              <a:t>𝑧</a:t>
            </a:r>
            <a:r>
              <a:rPr sz="1725" baseline="28985" dirty="0">
                <a:latin typeface="Cambria Math"/>
                <a:cs typeface="Cambria Math"/>
              </a:rPr>
              <a:t>[2]</a:t>
            </a:r>
            <a:r>
              <a:rPr sz="1725" spc="367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∈</a:t>
            </a:r>
            <a:r>
              <a:rPr sz="1600" spc="10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ℝ</a:t>
            </a:r>
            <a:endParaRPr sz="1600">
              <a:latin typeface="Cambria Math"/>
              <a:cs typeface="Cambria Math"/>
            </a:endParaRPr>
          </a:p>
          <a:p>
            <a:pPr marL="673735" lvl="2" indent="-222885">
              <a:lnSpc>
                <a:spcPct val="100000"/>
              </a:lnSpc>
              <a:spcBef>
                <a:spcPts val="700"/>
              </a:spcBef>
              <a:buChar char="•"/>
              <a:tabLst>
                <a:tab pos="673735" algn="l"/>
              </a:tabLst>
            </a:pPr>
            <a:r>
              <a:rPr sz="1600" dirty="0">
                <a:latin typeface="Arial MT"/>
                <a:cs typeface="Arial MT"/>
              </a:rPr>
              <a:t>Activación: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725" baseline="28985" dirty="0">
                <a:latin typeface="Cambria Math"/>
                <a:cs typeface="Cambria Math"/>
              </a:rPr>
              <a:t>[2]</a:t>
            </a:r>
            <a:r>
              <a:rPr sz="1725" spc="390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∈</a:t>
            </a:r>
            <a:r>
              <a:rPr sz="1600" spc="13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ℝ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1923" y="2438422"/>
            <a:ext cx="3535664" cy="24444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A471864-EC15-2BC2-8B60-51ED259ED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ngeniería de Sistemas - UNCP">
            <a:extLst>
              <a:ext uri="{FF2B5EF4-FFF2-40B4-BE49-F238E27FC236}">
                <a16:creationId xmlns:a16="http://schemas.microsoft.com/office/drawing/2014/main" id="{F6371F82-4DF9-59DC-C2D0-47EBC5AAE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70" dirty="0"/>
              <a:t> </a:t>
            </a:r>
            <a:r>
              <a:rPr dirty="0"/>
              <a:t>Neuronales</a:t>
            </a:r>
            <a:r>
              <a:rPr spc="-65" dirty="0"/>
              <a:t> </a:t>
            </a:r>
            <a:r>
              <a:rPr spc="-10" dirty="0"/>
              <a:t>Simples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9" y="2351393"/>
            <a:ext cx="1890039" cy="3192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8050" y="2343424"/>
            <a:ext cx="1886672" cy="3199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3343" y="2373974"/>
            <a:ext cx="1890314" cy="3106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5649" y="3347945"/>
            <a:ext cx="1246094" cy="3228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72090" y="3351399"/>
            <a:ext cx="1245155" cy="32395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25197" y="3371581"/>
            <a:ext cx="1249082" cy="3035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794" y="936751"/>
            <a:ext cx="6012180" cy="32848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66315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Función</a:t>
            </a:r>
            <a:r>
              <a:rPr sz="2000" b="1" spc="-5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de</a:t>
            </a:r>
            <a:r>
              <a:rPr sz="2000" b="1" spc="-3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Hipótesis</a:t>
            </a:r>
            <a:r>
              <a:rPr sz="2000" b="1" spc="-4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(2</a:t>
            </a:r>
            <a:r>
              <a:rPr sz="2000" b="1" spc="-5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capas)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En</a:t>
            </a:r>
            <a:r>
              <a:rPr sz="20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la</a:t>
            </a:r>
            <a:r>
              <a:rPr sz="2000" spc="-3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capa</a:t>
            </a:r>
            <a:r>
              <a:rPr sz="20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oculta:</a:t>
            </a: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0AF50"/>
                </a:solidFill>
                <a:latin typeface="Arial MT"/>
                <a:cs typeface="Arial MT"/>
              </a:rPr>
              <a:t>[1]</a:t>
            </a:r>
            <a:endParaRPr sz="16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40"/>
              </a:spcBef>
              <a:buChar char="-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Funciones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propagación:</a:t>
            </a:r>
            <a:endParaRPr sz="1800">
              <a:latin typeface="Arial MT"/>
              <a:cs typeface="Arial MT"/>
            </a:endParaRPr>
          </a:p>
          <a:p>
            <a:pPr marR="443230" algn="r">
              <a:lnSpc>
                <a:spcPct val="100000"/>
              </a:lnSpc>
              <a:spcBef>
                <a:spcPts val="76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marL="386715" lvl="1" indent="-158115">
              <a:lnSpc>
                <a:spcPct val="100000"/>
              </a:lnSpc>
              <a:spcBef>
                <a:spcPts val="2270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Funciones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activación</a:t>
            </a:r>
            <a:endParaRPr sz="1800">
              <a:latin typeface="Arial MT"/>
              <a:cs typeface="Arial MT"/>
            </a:endParaRPr>
          </a:p>
          <a:p>
            <a:pPr marR="671830" algn="r">
              <a:lnSpc>
                <a:spcPct val="100000"/>
              </a:lnSpc>
              <a:spcBef>
                <a:spcPts val="79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marL="387350" lvl="1" indent="-158750">
              <a:lnSpc>
                <a:spcPct val="100000"/>
              </a:lnSpc>
              <a:spcBef>
                <a:spcPts val="2235"/>
              </a:spcBef>
              <a:buChar char="-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De forma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vectorial: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16978" y="4463541"/>
            <a:ext cx="1363159" cy="138125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96452" y="4431419"/>
            <a:ext cx="1043145" cy="137951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117847" y="6047232"/>
            <a:ext cx="1755775" cy="497205"/>
            <a:chOff x="4117847" y="6047232"/>
            <a:chExt cx="1755775" cy="497205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77571" y="6174028"/>
              <a:ext cx="1161232" cy="2596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123943" y="6053328"/>
              <a:ext cx="1743710" cy="485140"/>
            </a:xfrm>
            <a:custGeom>
              <a:avLst/>
              <a:gdLst/>
              <a:ahLst/>
              <a:cxnLst/>
              <a:rect l="l" t="t" r="r" b="b"/>
              <a:pathLst>
                <a:path w="1743710" h="485140">
                  <a:moveTo>
                    <a:pt x="0" y="80772"/>
                  </a:moveTo>
                  <a:lnTo>
                    <a:pt x="6351" y="49334"/>
                  </a:lnTo>
                  <a:lnTo>
                    <a:pt x="23669" y="23660"/>
                  </a:lnTo>
                  <a:lnTo>
                    <a:pt x="49345" y="6348"/>
                  </a:lnTo>
                  <a:lnTo>
                    <a:pt x="80771" y="0"/>
                  </a:lnTo>
                  <a:lnTo>
                    <a:pt x="1662683" y="0"/>
                  </a:lnTo>
                  <a:lnTo>
                    <a:pt x="1694110" y="6348"/>
                  </a:lnTo>
                  <a:lnTo>
                    <a:pt x="1719786" y="23660"/>
                  </a:lnTo>
                  <a:lnTo>
                    <a:pt x="1737104" y="49334"/>
                  </a:lnTo>
                  <a:lnTo>
                    <a:pt x="1743455" y="80772"/>
                  </a:lnTo>
                  <a:lnTo>
                    <a:pt x="1743455" y="403860"/>
                  </a:lnTo>
                  <a:lnTo>
                    <a:pt x="1737104" y="435297"/>
                  </a:lnTo>
                  <a:lnTo>
                    <a:pt x="1719786" y="460971"/>
                  </a:lnTo>
                  <a:lnTo>
                    <a:pt x="1694110" y="478283"/>
                  </a:lnTo>
                  <a:lnTo>
                    <a:pt x="1662683" y="484632"/>
                  </a:lnTo>
                  <a:lnTo>
                    <a:pt x="80771" y="484632"/>
                  </a:lnTo>
                  <a:lnTo>
                    <a:pt x="49345" y="478283"/>
                  </a:lnTo>
                  <a:lnTo>
                    <a:pt x="23669" y="460971"/>
                  </a:lnTo>
                  <a:lnTo>
                    <a:pt x="6351" y="435297"/>
                  </a:lnTo>
                  <a:lnTo>
                    <a:pt x="0" y="403860"/>
                  </a:lnTo>
                  <a:lnTo>
                    <a:pt x="0" y="80772"/>
                  </a:lnTo>
                  <a:close/>
                </a:path>
              </a:pathLst>
            </a:custGeom>
            <a:ln w="1219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569719" y="6053328"/>
            <a:ext cx="2072639" cy="497205"/>
            <a:chOff x="1569719" y="6053328"/>
            <a:chExt cx="2072639" cy="497205"/>
          </a:xfrm>
        </p:grpSpPr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79204" y="6182395"/>
              <a:ext cx="1738187" cy="22323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75815" y="6059424"/>
              <a:ext cx="2060575" cy="485140"/>
            </a:xfrm>
            <a:custGeom>
              <a:avLst/>
              <a:gdLst/>
              <a:ahLst/>
              <a:cxnLst/>
              <a:rect l="l" t="t" r="r" b="b"/>
              <a:pathLst>
                <a:path w="2060575" h="485140">
                  <a:moveTo>
                    <a:pt x="0" y="80771"/>
                  </a:moveTo>
                  <a:lnTo>
                    <a:pt x="6351" y="49329"/>
                  </a:lnTo>
                  <a:lnTo>
                    <a:pt x="23669" y="23655"/>
                  </a:lnTo>
                  <a:lnTo>
                    <a:pt x="49345" y="6346"/>
                  </a:lnTo>
                  <a:lnTo>
                    <a:pt x="80772" y="0"/>
                  </a:lnTo>
                  <a:lnTo>
                    <a:pt x="1979676" y="0"/>
                  </a:lnTo>
                  <a:lnTo>
                    <a:pt x="2011102" y="6346"/>
                  </a:lnTo>
                  <a:lnTo>
                    <a:pt x="2036778" y="23655"/>
                  </a:lnTo>
                  <a:lnTo>
                    <a:pt x="2054096" y="49329"/>
                  </a:lnTo>
                  <a:lnTo>
                    <a:pt x="2060448" y="80771"/>
                  </a:lnTo>
                  <a:lnTo>
                    <a:pt x="2060448" y="403859"/>
                  </a:lnTo>
                  <a:lnTo>
                    <a:pt x="2054096" y="435297"/>
                  </a:lnTo>
                  <a:lnTo>
                    <a:pt x="2036778" y="460971"/>
                  </a:lnTo>
                  <a:lnTo>
                    <a:pt x="2011102" y="478283"/>
                  </a:lnTo>
                  <a:lnTo>
                    <a:pt x="1979676" y="484631"/>
                  </a:lnTo>
                  <a:lnTo>
                    <a:pt x="80772" y="484631"/>
                  </a:lnTo>
                  <a:lnTo>
                    <a:pt x="49345" y="478283"/>
                  </a:lnTo>
                  <a:lnTo>
                    <a:pt x="23669" y="460971"/>
                  </a:lnTo>
                  <a:lnTo>
                    <a:pt x="6351" y="435297"/>
                  </a:lnTo>
                  <a:lnTo>
                    <a:pt x="0" y="403859"/>
                  </a:lnTo>
                  <a:lnTo>
                    <a:pt x="0" y="80771"/>
                  </a:lnTo>
                  <a:close/>
                </a:path>
              </a:pathLst>
            </a:custGeom>
            <a:ln w="1219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73935" y="4413503"/>
            <a:ext cx="1962912" cy="143560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950714" y="4990591"/>
            <a:ext cx="26479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Si: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9FE32088-B1CD-0CFE-E354-66647C64B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Ingeniería de Sistemas - UNCP">
            <a:extLst>
              <a:ext uri="{FF2B5EF4-FFF2-40B4-BE49-F238E27FC236}">
                <a16:creationId xmlns:a16="http://schemas.microsoft.com/office/drawing/2014/main" id="{96044DC2-C8EA-89DC-2CA5-C829CB0E1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70" dirty="0"/>
              <a:t> </a:t>
            </a:r>
            <a:r>
              <a:rPr dirty="0"/>
              <a:t>Neuronales</a:t>
            </a:r>
            <a:r>
              <a:rPr spc="-65" dirty="0"/>
              <a:t> </a:t>
            </a:r>
            <a:r>
              <a:rPr spc="-10" dirty="0"/>
              <a:t>Simples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6012180" cy="25711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66315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Función</a:t>
            </a:r>
            <a:r>
              <a:rPr sz="2000" b="1" spc="-5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de</a:t>
            </a:r>
            <a:r>
              <a:rPr sz="2000" b="1" spc="-3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Hipótesis</a:t>
            </a:r>
            <a:r>
              <a:rPr sz="2000" b="1" spc="-4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(2</a:t>
            </a:r>
            <a:r>
              <a:rPr sz="2000" b="1" spc="-5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capas)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En</a:t>
            </a:r>
            <a:r>
              <a:rPr sz="2000" spc="-4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la</a:t>
            </a:r>
            <a:r>
              <a:rPr sz="2000" spc="-4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capa</a:t>
            </a:r>
            <a:r>
              <a:rPr sz="2000" spc="-4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de</a:t>
            </a:r>
            <a:r>
              <a:rPr sz="2000" spc="-6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salida:</a:t>
            </a:r>
            <a:r>
              <a:rPr sz="2000" spc="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0AF50"/>
                </a:solidFill>
                <a:latin typeface="Arial MT"/>
                <a:cs typeface="Arial MT"/>
              </a:rPr>
              <a:t>[2]</a:t>
            </a:r>
            <a:endParaRPr sz="16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1210"/>
              </a:spcBef>
              <a:buChar char="-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Funciones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propagación: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buChar char="-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Funciones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activación: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55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buChar char="-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De forma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vectorial: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30006" y="4256421"/>
            <a:ext cx="353695" cy="427990"/>
            <a:chOff x="4930006" y="4256421"/>
            <a:chExt cx="353695" cy="4279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0006" y="4256421"/>
              <a:ext cx="353131" cy="4277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6716" y="4271771"/>
              <a:ext cx="286512" cy="35966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66716" y="4271771"/>
              <a:ext cx="287020" cy="360045"/>
            </a:xfrm>
            <a:custGeom>
              <a:avLst/>
              <a:gdLst/>
              <a:ahLst/>
              <a:cxnLst/>
              <a:rect l="l" t="t" r="r" b="b"/>
              <a:pathLst>
                <a:path w="287020" h="360045">
                  <a:moveTo>
                    <a:pt x="0" y="89915"/>
                  </a:moveTo>
                  <a:lnTo>
                    <a:pt x="143256" y="89915"/>
                  </a:lnTo>
                  <a:lnTo>
                    <a:pt x="143256" y="0"/>
                  </a:lnTo>
                  <a:lnTo>
                    <a:pt x="286512" y="179831"/>
                  </a:lnTo>
                  <a:lnTo>
                    <a:pt x="143256" y="359663"/>
                  </a:lnTo>
                  <a:lnTo>
                    <a:pt x="143256" y="269747"/>
                  </a:lnTo>
                  <a:lnTo>
                    <a:pt x="0" y="269747"/>
                  </a:lnTo>
                  <a:lnTo>
                    <a:pt x="0" y="8991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5987" y="1924685"/>
            <a:ext cx="2356818" cy="3660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49260" y="2508138"/>
            <a:ext cx="1478459" cy="3647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93638" y="3736670"/>
            <a:ext cx="1340760" cy="13549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08715" y="3740229"/>
            <a:ext cx="1032107" cy="1356502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529071" y="3819144"/>
            <a:ext cx="2502535" cy="1085215"/>
            <a:chOff x="5529071" y="3819144"/>
            <a:chExt cx="2502535" cy="108521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39712" y="3999363"/>
              <a:ext cx="2132942" cy="26046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45230" y="4447749"/>
              <a:ext cx="1338899" cy="3015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35167" y="3825240"/>
              <a:ext cx="2490470" cy="1073150"/>
            </a:xfrm>
            <a:custGeom>
              <a:avLst/>
              <a:gdLst/>
              <a:ahLst/>
              <a:cxnLst/>
              <a:rect l="l" t="t" r="r" b="b"/>
              <a:pathLst>
                <a:path w="2490470" h="1073150">
                  <a:moveTo>
                    <a:pt x="0" y="178816"/>
                  </a:moveTo>
                  <a:lnTo>
                    <a:pt x="6384" y="131262"/>
                  </a:lnTo>
                  <a:lnTo>
                    <a:pt x="24402" y="88542"/>
                  </a:lnTo>
                  <a:lnTo>
                    <a:pt x="52355" y="52355"/>
                  </a:lnTo>
                  <a:lnTo>
                    <a:pt x="88542" y="24402"/>
                  </a:lnTo>
                  <a:lnTo>
                    <a:pt x="131262" y="6384"/>
                  </a:lnTo>
                  <a:lnTo>
                    <a:pt x="178816" y="0"/>
                  </a:lnTo>
                  <a:lnTo>
                    <a:pt x="2311400" y="0"/>
                  </a:lnTo>
                  <a:lnTo>
                    <a:pt x="2358953" y="6384"/>
                  </a:lnTo>
                  <a:lnTo>
                    <a:pt x="2401673" y="24402"/>
                  </a:lnTo>
                  <a:lnTo>
                    <a:pt x="2437860" y="52355"/>
                  </a:lnTo>
                  <a:lnTo>
                    <a:pt x="2465813" y="88542"/>
                  </a:lnTo>
                  <a:lnTo>
                    <a:pt x="2483831" y="131262"/>
                  </a:lnTo>
                  <a:lnTo>
                    <a:pt x="2490216" y="178816"/>
                  </a:lnTo>
                  <a:lnTo>
                    <a:pt x="2490216" y="894080"/>
                  </a:lnTo>
                  <a:lnTo>
                    <a:pt x="2483831" y="941633"/>
                  </a:lnTo>
                  <a:lnTo>
                    <a:pt x="2465813" y="984353"/>
                  </a:lnTo>
                  <a:lnTo>
                    <a:pt x="2437860" y="1020540"/>
                  </a:lnTo>
                  <a:lnTo>
                    <a:pt x="2401673" y="1048493"/>
                  </a:lnTo>
                  <a:lnTo>
                    <a:pt x="2358953" y="1066511"/>
                  </a:lnTo>
                  <a:lnTo>
                    <a:pt x="2311400" y="1072896"/>
                  </a:lnTo>
                  <a:lnTo>
                    <a:pt x="178816" y="1072896"/>
                  </a:lnTo>
                  <a:lnTo>
                    <a:pt x="131262" y="1066511"/>
                  </a:lnTo>
                  <a:lnTo>
                    <a:pt x="88542" y="1048493"/>
                  </a:lnTo>
                  <a:lnTo>
                    <a:pt x="52355" y="1020540"/>
                  </a:lnTo>
                  <a:lnTo>
                    <a:pt x="24402" y="984353"/>
                  </a:lnTo>
                  <a:lnTo>
                    <a:pt x="6384" y="941633"/>
                  </a:lnTo>
                  <a:lnTo>
                    <a:pt x="0" y="894080"/>
                  </a:lnTo>
                  <a:lnTo>
                    <a:pt x="0" y="178816"/>
                  </a:lnTo>
                  <a:close/>
                </a:path>
              </a:pathLst>
            </a:custGeom>
            <a:ln w="12191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43738" y="6058274"/>
            <a:ext cx="1331109" cy="27756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37794" y="5409082"/>
            <a:ext cx="7386955" cy="993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9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Función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hipótesis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(en</a:t>
            </a:r>
            <a:r>
              <a:rPr sz="18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la</a:t>
            </a:r>
            <a:r>
              <a:rPr sz="18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capa</a:t>
            </a:r>
            <a:r>
              <a:rPr sz="1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8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salida)</a:t>
            </a:r>
            <a:r>
              <a:rPr sz="2000" spc="-1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5949950" algn="ctr">
              <a:lnSpc>
                <a:spcPct val="100000"/>
              </a:lnSpc>
              <a:spcBef>
                <a:spcPts val="1385"/>
              </a:spcBef>
            </a:pP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Asumiendo</a:t>
            </a:r>
            <a:r>
              <a:rPr sz="16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que</a:t>
            </a:r>
            <a:endParaRPr sz="1600">
              <a:latin typeface="Arial MT"/>
              <a:cs typeface="Arial MT"/>
            </a:endParaRPr>
          </a:p>
          <a:p>
            <a:pPr marL="5947410" algn="ctr">
              <a:lnSpc>
                <a:spcPct val="100000"/>
              </a:lnSpc>
            </a:pP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hay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2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capas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47159" y="5958840"/>
            <a:ext cx="1823085" cy="485140"/>
          </a:xfrm>
          <a:custGeom>
            <a:avLst/>
            <a:gdLst/>
            <a:ahLst/>
            <a:cxnLst/>
            <a:rect l="l" t="t" r="r" b="b"/>
            <a:pathLst>
              <a:path w="1823085" h="485139">
                <a:moveTo>
                  <a:pt x="0" y="80772"/>
                </a:moveTo>
                <a:lnTo>
                  <a:pt x="6351" y="49334"/>
                </a:lnTo>
                <a:lnTo>
                  <a:pt x="23669" y="23660"/>
                </a:lnTo>
                <a:lnTo>
                  <a:pt x="49345" y="6348"/>
                </a:lnTo>
                <a:lnTo>
                  <a:pt x="80772" y="0"/>
                </a:lnTo>
                <a:lnTo>
                  <a:pt x="1741931" y="0"/>
                </a:lnTo>
                <a:lnTo>
                  <a:pt x="1773358" y="6348"/>
                </a:lnTo>
                <a:lnTo>
                  <a:pt x="1799034" y="23660"/>
                </a:lnTo>
                <a:lnTo>
                  <a:pt x="1816352" y="49334"/>
                </a:lnTo>
                <a:lnTo>
                  <a:pt x="1822703" y="80772"/>
                </a:lnTo>
                <a:lnTo>
                  <a:pt x="1822703" y="403860"/>
                </a:lnTo>
                <a:lnTo>
                  <a:pt x="1816352" y="435297"/>
                </a:lnTo>
                <a:lnTo>
                  <a:pt x="1799034" y="460971"/>
                </a:lnTo>
                <a:lnTo>
                  <a:pt x="1773358" y="478283"/>
                </a:lnTo>
                <a:lnTo>
                  <a:pt x="1741931" y="484632"/>
                </a:lnTo>
                <a:lnTo>
                  <a:pt x="80772" y="484632"/>
                </a:lnTo>
                <a:lnTo>
                  <a:pt x="49345" y="478283"/>
                </a:lnTo>
                <a:lnTo>
                  <a:pt x="23669" y="460971"/>
                </a:lnTo>
                <a:lnTo>
                  <a:pt x="6351" y="435297"/>
                </a:lnTo>
                <a:lnTo>
                  <a:pt x="0" y="403860"/>
                </a:lnTo>
                <a:lnTo>
                  <a:pt x="0" y="80772"/>
                </a:lnTo>
                <a:close/>
              </a:path>
            </a:pathLst>
          </a:custGeom>
          <a:ln w="12192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65455C3E-E5C6-BDAB-AF2A-C1D870AAF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Ingeniería de Sistemas - UNCP">
            <a:extLst>
              <a:ext uri="{FF2B5EF4-FFF2-40B4-BE49-F238E27FC236}">
                <a16:creationId xmlns:a16="http://schemas.microsoft.com/office/drawing/2014/main" id="{28CC2540-63C8-AD4B-5CFB-3D5D81C64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70" dirty="0"/>
              <a:t> </a:t>
            </a:r>
            <a:r>
              <a:rPr dirty="0"/>
              <a:t>Neuronales</a:t>
            </a:r>
            <a:r>
              <a:rPr spc="-65" dirty="0"/>
              <a:t> </a:t>
            </a:r>
            <a:r>
              <a:rPr spc="-10" dirty="0"/>
              <a:t>Simples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5822950" cy="904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55545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Propagación</a:t>
            </a:r>
            <a:r>
              <a:rPr sz="2000" b="1" spc="-6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hacia</a:t>
            </a:r>
            <a:r>
              <a:rPr sz="2000" b="1" spc="-8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adelante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Esquema</a:t>
            </a:r>
            <a:r>
              <a:rPr sz="20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con</a:t>
            </a:r>
            <a:r>
              <a:rPr sz="2000" spc="-5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2</a:t>
            </a:r>
            <a:r>
              <a:rPr sz="20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AF50"/>
                </a:solidFill>
                <a:latin typeface="Arial MT"/>
                <a:cs typeface="Arial MT"/>
              </a:rPr>
              <a:t>capas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802" y="3543940"/>
            <a:ext cx="8056245" cy="290068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96215" indent="-158115">
              <a:lnSpc>
                <a:spcPct val="100000"/>
              </a:lnSpc>
              <a:spcBef>
                <a:spcPts val="765"/>
              </a:spcBef>
              <a:buChar char="-"/>
              <a:tabLst>
                <a:tab pos="196215" algn="l"/>
              </a:tabLst>
            </a:pPr>
            <a:r>
              <a:rPr sz="1800" spc="-10" dirty="0">
                <a:solidFill>
                  <a:srgbClr val="00AF50"/>
                </a:solidFill>
                <a:latin typeface="Arial MT"/>
                <a:cs typeface="Arial MT"/>
              </a:rPr>
              <a:t>Etapas:</a:t>
            </a:r>
            <a:endParaRPr sz="1800">
              <a:latin typeface="Arial MT"/>
              <a:cs typeface="Arial MT"/>
            </a:endParaRPr>
          </a:p>
          <a:p>
            <a:pPr marL="537845" lvl="1" indent="-340995">
              <a:lnSpc>
                <a:spcPct val="100000"/>
              </a:lnSpc>
              <a:spcBef>
                <a:spcPts val="610"/>
              </a:spcBef>
              <a:buAutoNum type="arabicPeriod"/>
              <a:tabLst>
                <a:tab pos="537845" algn="l"/>
              </a:tabLst>
            </a:pP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Parámetros</a:t>
            </a:r>
            <a:r>
              <a:rPr sz="1600" i="1" spc="-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de</a:t>
            </a:r>
            <a:r>
              <a:rPr sz="1600" i="1" spc="-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la</a:t>
            </a:r>
            <a:r>
              <a:rPr sz="1600" i="1" spc="-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capa</a:t>
            </a:r>
            <a:r>
              <a:rPr sz="1600" i="1" spc="-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6F2F9F"/>
                </a:solidFill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  <a:p>
            <a:pPr marL="719455" lvl="2" indent="-227329">
              <a:lnSpc>
                <a:spcPct val="100000"/>
              </a:lnSpc>
              <a:spcBef>
                <a:spcPts val="340"/>
              </a:spcBef>
              <a:buChar char="–"/>
              <a:tabLst>
                <a:tab pos="719455" algn="l"/>
              </a:tabLst>
            </a:pPr>
            <a:r>
              <a:rPr sz="1500" dirty="0">
                <a:latin typeface="Arial MT"/>
                <a:cs typeface="Arial MT"/>
              </a:rPr>
              <a:t>Entrada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capa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1: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instancias</a:t>
            </a:r>
            <a:r>
              <a:rPr sz="1500" spc="-7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entrenamiento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x</a:t>
            </a:r>
            <a:r>
              <a:rPr sz="1500" i="1" spc="-10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= </a:t>
            </a:r>
            <a:r>
              <a:rPr sz="1500" i="1" spc="-20" dirty="0">
                <a:latin typeface="Times New Roman"/>
                <a:cs typeface="Times New Roman"/>
              </a:rPr>
              <a:t>a</a:t>
            </a:r>
            <a:r>
              <a:rPr sz="1500" spc="-30" baseline="25000" dirty="0">
                <a:latin typeface="Times New Roman"/>
                <a:cs typeface="Times New Roman"/>
              </a:rPr>
              <a:t>[0]</a:t>
            </a:r>
            <a:endParaRPr sz="1500" baseline="25000">
              <a:latin typeface="Times New Roman"/>
              <a:cs typeface="Times New Roman"/>
            </a:endParaRPr>
          </a:p>
          <a:p>
            <a:pPr marL="719455" lvl="2" indent="-227329">
              <a:lnSpc>
                <a:spcPct val="100000"/>
              </a:lnSpc>
              <a:spcBef>
                <a:spcPts val="360"/>
              </a:spcBef>
              <a:buChar char="–"/>
              <a:tabLst>
                <a:tab pos="719455" algn="l"/>
              </a:tabLst>
            </a:pPr>
            <a:r>
              <a:rPr sz="1500" dirty="0">
                <a:latin typeface="Arial MT"/>
                <a:cs typeface="Arial MT"/>
              </a:rPr>
              <a:t>Salida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capa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1: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activación</a:t>
            </a:r>
            <a:r>
              <a:rPr sz="1500" spc="-80" dirty="0">
                <a:latin typeface="Arial MT"/>
                <a:cs typeface="Arial MT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a</a:t>
            </a:r>
            <a:r>
              <a:rPr sz="1500" baseline="25000" dirty="0">
                <a:latin typeface="Times New Roman"/>
                <a:cs typeface="Times New Roman"/>
              </a:rPr>
              <a:t>[1]</a:t>
            </a:r>
            <a:r>
              <a:rPr sz="1500" spc="-15" baseline="250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capa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  <a:p>
            <a:pPr marL="537845" lvl="1" indent="-340995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537845" algn="l"/>
              </a:tabLst>
            </a:pP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Parámetros</a:t>
            </a:r>
            <a:r>
              <a:rPr sz="1600" i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de</a:t>
            </a:r>
            <a:r>
              <a:rPr sz="1600" i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la</a:t>
            </a:r>
            <a:r>
              <a:rPr sz="1600" i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capa</a:t>
            </a:r>
            <a:r>
              <a:rPr sz="1600" i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6F2F9F"/>
                </a:solidFill>
                <a:latin typeface="Arial MT"/>
                <a:cs typeface="Arial MT"/>
              </a:rPr>
              <a:t>2</a:t>
            </a:r>
            <a:r>
              <a:rPr sz="1600" spc="-3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600" i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partir</a:t>
            </a:r>
            <a:r>
              <a:rPr sz="1600" i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de</a:t>
            </a:r>
            <a:r>
              <a:rPr sz="1600" i="1" spc="-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la</a:t>
            </a:r>
            <a:r>
              <a:rPr sz="1600" i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6F2F9F"/>
                </a:solidFill>
                <a:latin typeface="Arial"/>
                <a:cs typeface="Arial"/>
              </a:rPr>
              <a:t>capa</a:t>
            </a:r>
            <a:r>
              <a:rPr sz="1600" i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6F2F9F"/>
                </a:solidFill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  <a:p>
            <a:pPr marL="719455" lvl="2" indent="-227329">
              <a:lnSpc>
                <a:spcPct val="100000"/>
              </a:lnSpc>
              <a:spcBef>
                <a:spcPts val="340"/>
              </a:spcBef>
              <a:buChar char="–"/>
              <a:tabLst>
                <a:tab pos="719455" algn="l"/>
              </a:tabLst>
            </a:pPr>
            <a:r>
              <a:rPr sz="1500" dirty="0">
                <a:latin typeface="Arial MT"/>
                <a:cs typeface="Arial MT"/>
              </a:rPr>
              <a:t>Entrada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capa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2: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activación</a:t>
            </a:r>
            <a:r>
              <a:rPr sz="1500" spc="-75" dirty="0">
                <a:latin typeface="Arial MT"/>
                <a:cs typeface="Arial MT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a</a:t>
            </a:r>
            <a:r>
              <a:rPr sz="1500" baseline="25000" dirty="0">
                <a:latin typeface="Times New Roman"/>
                <a:cs typeface="Times New Roman"/>
              </a:rPr>
              <a:t>[1]</a:t>
            </a:r>
            <a:r>
              <a:rPr sz="1500" spc="195" baseline="250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capa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  <a:p>
            <a:pPr marL="718820" lvl="2" indent="-226695">
              <a:lnSpc>
                <a:spcPct val="100000"/>
              </a:lnSpc>
              <a:spcBef>
                <a:spcPts val="360"/>
              </a:spcBef>
              <a:buChar char="–"/>
              <a:tabLst>
                <a:tab pos="718820" algn="l"/>
              </a:tabLst>
            </a:pPr>
            <a:r>
              <a:rPr sz="1500" dirty="0">
                <a:latin typeface="Arial MT"/>
                <a:cs typeface="Arial MT"/>
              </a:rPr>
              <a:t>Salida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capa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2: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activación</a:t>
            </a:r>
            <a:r>
              <a:rPr sz="1500" spc="-80" dirty="0">
                <a:latin typeface="Arial MT"/>
                <a:cs typeface="Arial MT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a</a:t>
            </a:r>
            <a:r>
              <a:rPr sz="1500" baseline="25000" dirty="0">
                <a:latin typeface="Times New Roman"/>
                <a:cs typeface="Times New Roman"/>
              </a:rPr>
              <a:t>[2]</a:t>
            </a:r>
            <a:r>
              <a:rPr sz="1500" spc="-30" baseline="250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capa</a:t>
            </a:r>
            <a:r>
              <a:rPr sz="1500" spc="-50" dirty="0">
                <a:latin typeface="Arial MT"/>
                <a:cs typeface="Arial MT"/>
              </a:rPr>
              <a:t> 2</a:t>
            </a:r>
            <a:endParaRPr sz="1500">
              <a:latin typeface="Arial MT"/>
              <a:cs typeface="Arial MT"/>
            </a:endParaRPr>
          </a:p>
          <a:p>
            <a:pPr marL="196215" indent="-158115">
              <a:lnSpc>
                <a:spcPct val="100000"/>
              </a:lnSpc>
              <a:spcBef>
                <a:spcPts val="1215"/>
              </a:spcBef>
              <a:buChar char="-"/>
              <a:tabLst>
                <a:tab pos="196215" algn="l"/>
              </a:tabLst>
            </a:pPr>
            <a:r>
              <a:rPr sz="1800" dirty="0">
                <a:latin typeface="Arial MT"/>
                <a:cs typeface="Arial MT"/>
              </a:rPr>
              <a:t>Los datos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cálculos)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propagan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“izquierda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derecha”: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propagación</a:t>
            </a:r>
            <a:endParaRPr sz="1800">
              <a:latin typeface="Arial MT"/>
              <a:cs typeface="Arial MT"/>
            </a:endParaRPr>
          </a:p>
          <a:p>
            <a:pPr marL="19685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hacia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adelante.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4600" y="2419095"/>
            <a:ext cx="7749540" cy="623570"/>
            <a:chOff x="1044600" y="2419095"/>
            <a:chExt cx="7749540" cy="6235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0077" y="2638814"/>
              <a:ext cx="1051904" cy="2367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5931" y="2644507"/>
              <a:ext cx="1577412" cy="20432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52090" y="2648490"/>
              <a:ext cx="1643266" cy="19950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72303" y="2639119"/>
              <a:ext cx="1029022" cy="2313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59991" y="2566415"/>
              <a:ext cx="7321550" cy="363220"/>
            </a:xfrm>
            <a:custGeom>
              <a:avLst/>
              <a:gdLst/>
              <a:ahLst/>
              <a:cxnLst/>
              <a:rect l="l" t="t" r="r" b="b"/>
              <a:pathLst>
                <a:path w="7321550" h="363219">
                  <a:moveTo>
                    <a:pt x="0" y="58928"/>
                  </a:moveTo>
                  <a:lnTo>
                    <a:pt x="4635" y="36004"/>
                  </a:lnTo>
                  <a:lnTo>
                    <a:pt x="17271" y="17272"/>
                  </a:lnTo>
                  <a:lnTo>
                    <a:pt x="36004" y="4635"/>
                  </a:lnTo>
                  <a:lnTo>
                    <a:pt x="58928" y="0"/>
                  </a:lnTo>
                  <a:lnTo>
                    <a:pt x="1602232" y="0"/>
                  </a:lnTo>
                  <a:lnTo>
                    <a:pt x="1625155" y="4635"/>
                  </a:lnTo>
                  <a:lnTo>
                    <a:pt x="1643888" y="17272"/>
                  </a:lnTo>
                  <a:lnTo>
                    <a:pt x="1656524" y="36004"/>
                  </a:lnTo>
                  <a:lnTo>
                    <a:pt x="1661160" y="58928"/>
                  </a:lnTo>
                  <a:lnTo>
                    <a:pt x="1661160" y="294639"/>
                  </a:lnTo>
                  <a:lnTo>
                    <a:pt x="1656524" y="317563"/>
                  </a:lnTo>
                  <a:lnTo>
                    <a:pt x="1643888" y="336296"/>
                  </a:lnTo>
                  <a:lnTo>
                    <a:pt x="1625155" y="348932"/>
                  </a:lnTo>
                  <a:lnTo>
                    <a:pt x="1602232" y="353568"/>
                  </a:lnTo>
                  <a:lnTo>
                    <a:pt x="58928" y="353568"/>
                  </a:lnTo>
                  <a:lnTo>
                    <a:pt x="36004" y="348932"/>
                  </a:lnTo>
                  <a:lnTo>
                    <a:pt x="17272" y="336296"/>
                  </a:lnTo>
                  <a:lnTo>
                    <a:pt x="4635" y="317563"/>
                  </a:lnTo>
                  <a:lnTo>
                    <a:pt x="0" y="294639"/>
                  </a:lnTo>
                  <a:lnTo>
                    <a:pt x="0" y="58928"/>
                  </a:lnTo>
                  <a:close/>
                </a:path>
                <a:path w="7321550" h="363219">
                  <a:moveTo>
                    <a:pt x="2084832" y="65532"/>
                  </a:moveTo>
                  <a:lnTo>
                    <a:pt x="2089511" y="42421"/>
                  </a:lnTo>
                  <a:lnTo>
                    <a:pt x="2102262" y="23526"/>
                  </a:lnTo>
                  <a:lnTo>
                    <a:pt x="2121157" y="10775"/>
                  </a:lnTo>
                  <a:lnTo>
                    <a:pt x="2144268" y="6096"/>
                  </a:lnTo>
                  <a:lnTo>
                    <a:pt x="3272028" y="6096"/>
                  </a:lnTo>
                  <a:lnTo>
                    <a:pt x="3295138" y="10775"/>
                  </a:lnTo>
                  <a:lnTo>
                    <a:pt x="3314033" y="23526"/>
                  </a:lnTo>
                  <a:lnTo>
                    <a:pt x="3326784" y="42421"/>
                  </a:lnTo>
                  <a:lnTo>
                    <a:pt x="3331464" y="65532"/>
                  </a:lnTo>
                  <a:lnTo>
                    <a:pt x="3331464" y="303275"/>
                  </a:lnTo>
                  <a:lnTo>
                    <a:pt x="3326784" y="326386"/>
                  </a:lnTo>
                  <a:lnTo>
                    <a:pt x="3314033" y="345281"/>
                  </a:lnTo>
                  <a:lnTo>
                    <a:pt x="3295138" y="358032"/>
                  </a:lnTo>
                  <a:lnTo>
                    <a:pt x="3272028" y="362712"/>
                  </a:lnTo>
                  <a:lnTo>
                    <a:pt x="2144268" y="362712"/>
                  </a:lnTo>
                  <a:lnTo>
                    <a:pt x="2121157" y="358032"/>
                  </a:lnTo>
                  <a:lnTo>
                    <a:pt x="2102262" y="345281"/>
                  </a:lnTo>
                  <a:lnTo>
                    <a:pt x="2089511" y="326386"/>
                  </a:lnTo>
                  <a:lnTo>
                    <a:pt x="2084832" y="303275"/>
                  </a:lnTo>
                  <a:lnTo>
                    <a:pt x="2084832" y="65532"/>
                  </a:lnTo>
                  <a:close/>
                </a:path>
                <a:path w="7321550" h="363219">
                  <a:moveTo>
                    <a:pt x="3797808" y="58928"/>
                  </a:moveTo>
                  <a:lnTo>
                    <a:pt x="3802443" y="36004"/>
                  </a:lnTo>
                  <a:lnTo>
                    <a:pt x="3815080" y="17272"/>
                  </a:lnTo>
                  <a:lnTo>
                    <a:pt x="3833812" y="4635"/>
                  </a:lnTo>
                  <a:lnTo>
                    <a:pt x="3856736" y="0"/>
                  </a:lnTo>
                  <a:lnTo>
                    <a:pt x="5585968" y="0"/>
                  </a:lnTo>
                  <a:lnTo>
                    <a:pt x="5608891" y="4635"/>
                  </a:lnTo>
                  <a:lnTo>
                    <a:pt x="5627624" y="17272"/>
                  </a:lnTo>
                  <a:lnTo>
                    <a:pt x="5640260" y="36004"/>
                  </a:lnTo>
                  <a:lnTo>
                    <a:pt x="5644896" y="58928"/>
                  </a:lnTo>
                  <a:lnTo>
                    <a:pt x="5644896" y="294639"/>
                  </a:lnTo>
                  <a:lnTo>
                    <a:pt x="5640260" y="317563"/>
                  </a:lnTo>
                  <a:lnTo>
                    <a:pt x="5627624" y="336296"/>
                  </a:lnTo>
                  <a:lnTo>
                    <a:pt x="5608891" y="348932"/>
                  </a:lnTo>
                  <a:lnTo>
                    <a:pt x="5585968" y="353568"/>
                  </a:lnTo>
                  <a:lnTo>
                    <a:pt x="3856736" y="353568"/>
                  </a:lnTo>
                  <a:lnTo>
                    <a:pt x="3833812" y="348932"/>
                  </a:lnTo>
                  <a:lnTo>
                    <a:pt x="3815079" y="336296"/>
                  </a:lnTo>
                  <a:lnTo>
                    <a:pt x="3802443" y="317563"/>
                  </a:lnTo>
                  <a:lnTo>
                    <a:pt x="3797808" y="294639"/>
                  </a:lnTo>
                  <a:lnTo>
                    <a:pt x="3797808" y="58928"/>
                  </a:lnTo>
                  <a:close/>
                </a:path>
                <a:path w="7321550" h="363219">
                  <a:moveTo>
                    <a:pt x="6111240" y="58928"/>
                  </a:moveTo>
                  <a:lnTo>
                    <a:pt x="6115875" y="36004"/>
                  </a:lnTo>
                  <a:lnTo>
                    <a:pt x="6128512" y="17272"/>
                  </a:lnTo>
                  <a:lnTo>
                    <a:pt x="6147244" y="4635"/>
                  </a:lnTo>
                  <a:lnTo>
                    <a:pt x="6170168" y="0"/>
                  </a:lnTo>
                  <a:lnTo>
                    <a:pt x="7262367" y="0"/>
                  </a:lnTo>
                  <a:lnTo>
                    <a:pt x="7285291" y="4635"/>
                  </a:lnTo>
                  <a:lnTo>
                    <a:pt x="7304024" y="17272"/>
                  </a:lnTo>
                  <a:lnTo>
                    <a:pt x="7316660" y="36004"/>
                  </a:lnTo>
                  <a:lnTo>
                    <a:pt x="7321296" y="58928"/>
                  </a:lnTo>
                  <a:lnTo>
                    <a:pt x="7321296" y="294639"/>
                  </a:lnTo>
                  <a:lnTo>
                    <a:pt x="7316660" y="317563"/>
                  </a:lnTo>
                  <a:lnTo>
                    <a:pt x="7304024" y="336296"/>
                  </a:lnTo>
                  <a:lnTo>
                    <a:pt x="7285291" y="348932"/>
                  </a:lnTo>
                  <a:lnTo>
                    <a:pt x="7262367" y="353568"/>
                  </a:lnTo>
                  <a:lnTo>
                    <a:pt x="6170168" y="353568"/>
                  </a:lnTo>
                  <a:lnTo>
                    <a:pt x="6147244" y="348932"/>
                  </a:lnTo>
                  <a:lnTo>
                    <a:pt x="6128512" y="336296"/>
                  </a:lnTo>
                  <a:lnTo>
                    <a:pt x="6115875" y="317563"/>
                  </a:lnTo>
                  <a:lnTo>
                    <a:pt x="6111240" y="294639"/>
                  </a:lnTo>
                  <a:lnTo>
                    <a:pt x="6111240" y="58928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4600" y="2419095"/>
              <a:ext cx="6535420" cy="623570"/>
            </a:xfrm>
            <a:custGeom>
              <a:avLst/>
              <a:gdLst/>
              <a:ahLst/>
              <a:cxnLst/>
              <a:rect l="l" t="t" r="r" b="b"/>
              <a:pathLst>
                <a:path w="6535420" h="623569">
                  <a:moveTo>
                    <a:pt x="414756" y="218059"/>
                  </a:moveTo>
                  <a:lnTo>
                    <a:pt x="397522" y="193548"/>
                  </a:lnTo>
                  <a:lnTo>
                    <a:pt x="365734" y="148336"/>
                  </a:lnTo>
                  <a:lnTo>
                    <a:pt x="350685" y="176314"/>
                  </a:lnTo>
                  <a:lnTo>
                    <a:pt x="23685" y="0"/>
                  </a:lnTo>
                  <a:lnTo>
                    <a:pt x="17665" y="11176"/>
                  </a:lnTo>
                  <a:lnTo>
                    <a:pt x="344652" y="187528"/>
                  </a:lnTo>
                  <a:lnTo>
                    <a:pt x="329666" y="215392"/>
                  </a:lnTo>
                  <a:lnTo>
                    <a:pt x="414756" y="218059"/>
                  </a:lnTo>
                  <a:close/>
                </a:path>
                <a:path w="6535420" h="623569">
                  <a:moveTo>
                    <a:pt x="429615" y="444500"/>
                  </a:moveTo>
                  <a:lnTo>
                    <a:pt x="344652" y="437769"/>
                  </a:lnTo>
                  <a:lnTo>
                    <a:pt x="356603" y="467194"/>
                  </a:lnTo>
                  <a:lnTo>
                    <a:pt x="0" y="611759"/>
                  </a:lnTo>
                  <a:lnTo>
                    <a:pt x="4775" y="623443"/>
                  </a:lnTo>
                  <a:lnTo>
                    <a:pt x="361403" y="479005"/>
                  </a:lnTo>
                  <a:lnTo>
                    <a:pt x="373354" y="508381"/>
                  </a:lnTo>
                  <a:lnTo>
                    <a:pt x="413842" y="462407"/>
                  </a:lnTo>
                  <a:lnTo>
                    <a:pt x="429615" y="444500"/>
                  </a:lnTo>
                  <a:close/>
                </a:path>
                <a:path w="6535420" h="623569">
                  <a:moveTo>
                    <a:pt x="436219" y="331724"/>
                  </a:moveTo>
                  <a:lnTo>
                    <a:pt x="423748" y="325526"/>
                  </a:lnTo>
                  <a:lnTo>
                    <a:pt x="360019" y="293751"/>
                  </a:lnTo>
                  <a:lnTo>
                    <a:pt x="360019" y="325526"/>
                  </a:lnTo>
                  <a:lnTo>
                    <a:pt x="20662" y="325882"/>
                  </a:lnTo>
                  <a:lnTo>
                    <a:pt x="20688" y="338582"/>
                  </a:lnTo>
                  <a:lnTo>
                    <a:pt x="360019" y="338226"/>
                  </a:lnTo>
                  <a:lnTo>
                    <a:pt x="360019" y="369951"/>
                  </a:lnTo>
                  <a:lnTo>
                    <a:pt x="423278" y="338226"/>
                  </a:lnTo>
                  <a:lnTo>
                    <a:pt x="436219" y="331724"/>
                  </a:lnTo>
                  <a:close/>
                </a:path>
                <a:path w="6535420" h="623569">
                  <a:moveTo>
                    <a:pt x="2491092" y="338582"/>
                  </a:moveTo>
                  <a:lnTo>
                    <a:pt x="2438374" y="338582"/>
                  </a:lnTo>
                  <a:lnTo>
                    <a:pt x="2425738" y="338582"/>
                  </a:lnTo>
                  <a:lnTo>
                    <a:pt x="2425166" y="370078"/>
                  </a:lnTo>
                  <a:lnTo>
                    <a:pt x="2491092" y="338582"/>
                  </a:lnTo>
                  <a:close/>
                </a:path>
                <a:path w="6535420" h="623569">
                  <a:moveTo>
                    <a:pt x="2502001" y="333375"/>
                  </a:moveTo>
                  <a:lnTo>
                    <a:pt x="2426563" y="293878"/>
                  </a:lnTo>
                  <a:lnTo>
                    <a:pt x="2426093" y="319278"/>
                  </a:lnTo>
                  <a:lnTo>
                    <a:pt x="2425979" y="325653"/>
                  </a:lnTo>
                  <a:lnTo>
                    <a:pt x="2078202" y="319278"/>
                  </a:lnTo>
                  <a:lnTo>
                    <a:pt x="2078062" y="325653"/>
                  </a:lnTo>
                  <a:lnTo>
                    <a:pt x="2077948" y="331978"/>
                  </a:lnTo>
                  <a:lnTo>
                    <a:pt x="2425738" y="338353"/>
                  </a:lnTo>
                  <a:lnTo>
                    <a:pt x="2438374" y="338353"/>
                  </a:lnTo>
                  <a:lnTo>
                    <a:pt x="2491575" y="338353"/>
                  </a:lnTo>
                  <a:lnTo>
                    <a:pt x="2502001" y="333375"/>
                  </a:lnTo>
                  <a:close/>
                </a:path>
                <a:path w="6535420" h="623569">
                  <a:moveTo>
                    <a:pt x="4213453" y="325628"/>
                  </a:moveTo>
                  <a:lnTo>
                    <a:pt x="4202341" y="320294"/>
                  </a:lnTo>
                  <a:lnTo>
                    <a:pt x="4136745" y="288798"/>
                  </a:lnTo>
                  <a:lnTo>
                    <a:pt x="4137266" y="320294"/>
                  </a:lnTo>
                  <a:lnTo>
                    <a:pt x="4137266" y="320509"/>
                  </a:lnTo>
                  <a:lnTo>
                    <a:pt x="3748252" y="327025"/>
                  </a:lnTo>
                  <a:lnTo>
                    <a:pt x="3748506" y="339725"/>
                  </a:lnTo>
                  <a:lnTo>
                    <a:pt x="4137482" y="333209"/>
                  </a:lnTo>
                  <a:lnTo>
                    <a:pt x="4138015" y="364998"/>
                  </a:lnTo>
                  <a:lnTo>
                    <a:pt x="4213453" y="325628"/>
                  </a:lnTo>
                  <a:close/>
                </a:path>
                <a:path w="6535420" h="623569">
                  <a:moveTo>
                    <a:pt x="6535140" y="325628"/>
                  </a:moveTo>
                  <a:lnTo>
                    <a:pt x="6522440" y="319278"/>
                  </a:lnTo>
                  <a:lnTo>
                    <a:pt x="6458940" y="287528"/>
                  </a:lnTo>
                  <a:lnTo>
                    <a:pt x="6458940" y="319278"/>
                  </a:lnTo>
                  <a:lnTo>
                    <a:pt x="6083147" y="319278"/>
                  </a:lnTo>
                  <a:lnTo>
                    <a:pt x="6083147" y="331978"/>
                  </a:lnTo>
                  <a:lnTo>
                    <a:pt x="6458940" y="331978"/>
                  </a:lnTo>
                  <a:lnTo>
                    <a:pt x="6458940" y="363728"/>
                  </a:lnTo>
                  <a:lnTo>
                    <a:pt x="6522440" y="331978"/>
                  </a:lnTo>
                  <a:lnTo>
                    <a:pt x="6535140" y="325628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49553" y="2224786"/>
            <a:ext cx="10413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x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5553" y="2563749"/>
            <a:ext cx="360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00" i="1" spc="-30" baseline="-17857" dirty="0">
                <a:latin typeface="Times New Roman"/>
                <a:cs typeface="Times New Roman"/>
              </a:rPr>
              <a:t>W</a:t>
            </a:r>
            <a:r>
              <a:rPr sz="900" spc="-20" dirty="0">
                <a:latin typeface="Times New Roman"/>
                <a:cs typeface="Times New Roman"/>
              </a:rPr>
              <a:t>[1]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4730" y="2972816"/>
            <a:ext cx="3048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00" i="1" spc="-30" baseline="-17857" dirty="0">
                <a:latin typeface="Times New Roman"/>
                <a:cs typeface="Times New Roman"/>
              </a:rPr>
              <a:t>b</a:t>
            </a:r>
            <a:r>
              <a:rPr sz="900" spc="-20" dirty="0">
                <a:latin typeface="Times New Roman"/>
                <a:cs typeface="Times New Roman"/>
              </a:rPr>
              <a:t>[1]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08499" y="2347213"/>
            <a:ext cx="266700" cy="751205"/>
          </a:xfrm>
          <a:custGeom>
            <a:avLst/>
            <a:gdLst/>
            <a:ahLst/>
            <a:cxnLst/>
            <a:rect l="l" t="t" r="r" b="b"/>
            <a:pathLst>
              <a:path w="266700" h="751205">
                <a:moveTo>
                  <a:pt x="263525" y="540766"/>
                </a:moveTo>
                <a:lnTo>
                  <a:pt x="180086" y="558165"/>
                </a:lnTo>
                <a:lnTo>
                  <a:pt x="199796" y="583082"/>
                </a:lnTo>
                <a:lnTo>
                  <a:pt x="0" y="740791"/>
                </a:lnTo>
                <a:lnTo>
                  <a:pt x="7874" y="750824"/>
                </a:lnTo>
                <a:lnTo>
                  <a:pt x="207657" y="593013"/>
                </a:lnTo>
                <a:lnTo>
                  <a:pt x="227330" y="617855"/>
                </a:lnTo>
                <a:lnTo>
                  <a:pt x="247357" y="575183"/>
                </a:lnTo>
                <a:lnTo>
                  <a:pt x="263525" y="540766"/>
                </a:lnTo>
                <a:close/>
              </a:path>
              <a:path w="266700" h="751205">
                <a:moveTo>
                  <a:pt x="266446" y="268605"/>
                </a:moveTo>
                <a:lnTo>
                  <a:pt x="254368" y="226060"/>
                </a:lnTo>
                <a:lnTo>
                  <a:pt x="243205" y="186690"/>
                </a:lnTo>
                <a:lnTo>
                  <a:pt x="219786" y="208051"/>
                </a:lnTo>
                <a:lnTo>
                  <a:pt x="29972" y="0"/>
                </a:lnTo>
                <a:lnTo>
                  <a:pt x="20574" y="8636"/>
                </a:lnTo>
                <a:lnTo>
                  <a:pt x="210350" y="216649"/>
                </a:lnTo>
                <a:lnTo>
                  <a:pt x="186944" y="237998"/>
                </a:lnTo>
                <a:lnTo>
                  <a:pt x="266446" y="268605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852161" y="2094102"/>
            <a:ext cx="360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00" i="1" spc="-30" baseline="-17857" dirty="0">
                <a:latin typeface="Times New Roman"/>
                <a:cs typeface="Times New Roman"/>
              </a:rPr>
              <a:t>W</a:t>
            </a:r>
            <a:r>
              <a:rPr sz="900" spc="-20" dirty="0">
                <a:latin typeface="Times New Roman"/>
                <a:cs typeface="Times New Roman"/>
              </a:rPr>
              <a:t>[2]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4704841" y="2987167"/>
            <a:ext cx="3048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00" i="1" spc="-30" baseline="-17857" dirty="0">
                <a:latin typeface="Times New Roman"/>
                <a:cs typeface="Times New Roman"/>
              </a:rPr>
              <a:t>b</a:t>
            </a:r>
            <a:r>
              <a:rPr sz="900" spc="-20" dirty="0">
                <a:latin typeface="Times New Roman"/>
                <a:cs typeface="Times New Roman"/>
              </a:rPr>
              <a:t>[2]</a:t>
            </a:r>
            <a:endParaRPr sz="900">
              <a:latin typeface="Times New Roman"/>
              <a:cs typeface="Times New Roman"/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46EC8301-8E00-ECBF-84EE-5069BF686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Ingeniería de Sistemas - UNCP">
            <a:extLst>
              <a:ext uri="{FF2B5EF4-FFF2-40B4-BE49-F238E27FC236}">
                <a16:creationId xmlns:a16="http://schemas.microsoft.com/office/drawing/2014/main" id="{F8E6A1C4-328E-6483-D682-E6D7AB8E9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70" dirty="0"/>
              <a:t> </a:t>
            </a:r>
            <a:r>
              <a:rPr dirty="0"/>
              <a:t>Neuronales</a:t>
            </a:r>
            <a:r>
              <a:rPr spc="-65" dirty="0"/>
              <a:t> </a:t>
            </a:r>
            <a:r>
              <a:rPr spc="-10" dirty="0"/>
              <a:t>Simples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5962015" cy="1235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6197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Función</a:t>
            </a:r>
            <a:r>
              <a:rPr sz="2000" b="1" spc="-5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Costo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Si</a:t>
            </a:r>
            <a:r>
              <a:rPr sz="2000" spc="-3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solo</a:t>
            </a:r>
            <a:r>
              <a:rPr sz="20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hay</a:t>
            </a:r>
            <a:r>
              <a:rPr sz="2000" spc="-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1</a:t>
            </a:r>
            <a:r>
              <a:rPr sz="2000" spc="-3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AF50"/>
                </a:solidFill>
                <a:latin typeface="Arial MT"/>
                <a:cs typeface="Arial MT"/>
              </a:rPr>
              <a:t>clase</a:t>
            </a:r>
            <a:endParaRPr sz="20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unidad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neuronal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(sigmoidea)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salida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3957650"/>
            <a:ext cx="19913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costo: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8802" y="5036179"/>
            <a:ext cx="5153025" cy="9036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6215" indent="-158115">
              <a:lnSpc>
                <a:spcPct val="100000"/>
              </a:lnSpc>
              <a:spcBef>
                <a:spcPts val="480"/>
              </a:spcBef>
              <a:buFont typeface="Times New Roman"/>
              <a:buChar char="-"/>
              <a:tabLst>
                <a:tab pos="196215" algn="l"/>
              </a:tabLst>
            </a:pPr>
            <a:r>
              <a:rPr sz="1600" i="1" dirty="0">
                <a:latin typeface="Times New Roman"/>
                <a:cs typeface="Times New Roman"/>
              </a:rPr>
              <a:t>n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número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instancias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(de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entrenamiento)</a:t>
            </a:r>
            <a:endParaRPr sz="1400">
              <a:latin typeface="Arial MT"/>
              <a:cs typeface="Arial MT"/>
            </a:endParaRPr>
          </a:p>
          <a:p>
            <a:pPr marL="196215" indent="-158115">
              <a:lnSpc>
                <a:spcPct val="100000"/>
              </a:lnSpc>
              <a:spcBef>
                <a:spcPts val="380"/>
              </a:spcBef>
              <a:buFont typeface="Times New Roman"/>
              <a:buChar char="-"/>
              <a:tabLst>
                <a:tab pos="196215" algn="l"/>
              </a:tabLst>
            </a:pPr>
            <a:r>
              <a:rPr sz="1600" i="1" dirty="0">
                <a:latin typeface="Times New Roman"/>
                <a:cs typeface="Times New Roman"/>
              </a:rPr>
              <a:t>y</a:t>
            </a:r>
            <a:r>
              <a:rPr sz="1575" baseline="26455" dirty="0">
                <a:latin typeface="Times New Roman"/>
                <a:cs typeface="Times New Roman"/>
              </a:rPr>
              <a:t>(</a:t>
            </a:r>
            <a:r>
              <a:rPr sz="1575" i="1" baseline="26455" dirty="0">
                <a:latin typeface="Times New Roman"/>
                <a:cs typeface="Times New Roman"/>
              </a:rPr>
              <a:t>i</a:t>
            </a:r>
            <a:r>
              <a:rPr sz="1575" baseline="26455" dirty="0">
                <a:latin typeface="Times New Roman"/>
                <a:cs typeface="Times New Roman"/>
              </a:rPr>
              <a:t>)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clase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real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muestra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i="1" spc="55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(0</a:t>
            </a:r>
            <a:r>
              <a:rPr sz="14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</a:t>
            </a:r>
            <a:r>
              <a:rPr sz="14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1)</a:t>
            </a:r>
            <a:endParaRPr sz="1400">
              <a:latin typeface="Arial MT"/>
              <a:cs typeface="Arial MT"/>
            </a:endParaRPr>
          </a:p>
          <a:p>
            <a:pPr marL="196215" indent="-158115">
              <a:lnSpc>
                <a:spcPct val="100000"/>
              </a:lnSpc>
              <a:spcBef>
                <a:spcPts val="390"/>
              </a:spcBef>
              <a:buFont typeface="Times New Roman"/>
              <a:buChar char="-"/>
              <a:tabLst>
                <a:tab pos="196215" algn="l"/>
              </a:tabLst>
            </a:pPr>
            <a:r>
              <a:rPr sz="1600" i="1" dirty="0">
                <a:latin typeface="Times New Roman"/>
                <a:cs typeface="Times New Roman"/>
              </a:rPr>
              <a:t>h</a:t>
            </a:r>
            <a:r>
              <a:rPr sz="1575" i="1" baseline="-21164" dirty="0">
                <a:latin typeface="Times New Roman"/>
                <a:cs typeface="Times New Roman"/>
              </a:rPr>
              <a:t>w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b="1" i="1" dirty="0">
                <a:latin typeface="Times New Roman"/>
                <a:cs typeface="Times New Roman"/>
              </a:rPr>
              <a:t>x</a:t>
            </a:r>
            <a:r>
              <a:rPr sz="1575" baseline="26455" dirty="0">
                <a:latin typeface="Times New Roman"/>
                <a:cs typeface="Times New Roman"/>
              </a:rPr>
              <a:t>(</a:t>
            </a:r>
            <a:r>
              <a:rPr sz="1575" i="1" baseline="26455" dirty="0">
                <a:latin typeface="Times New Roman"/>
                <a:cs typeface="Times New Roman"/>
              </a:rPr>
              <a:t>i</a:t>
            </a:r>
            <a:r>
              <a:rPr sz="1575" baseline="26455" dirty="0">
                <a:latin typeface="Times New Roman"/>
                <a:cs typeface="Times New Roman"/>
              </a:rPr>
              <a:t>)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predicción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muestra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i="1" spc="30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(función</a:t>
            </a:r>
            <a:r>
              <a:rPr sz="14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hipótesis)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7890" y="4392264"/>
            <a:ext cx="5209013" cy="5423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302000" y="2432304"/>
            <a:ext cx="2061210" cy="1262380"/>
            <a:chOff x="3302000" y="2432304"/>
            <a:chExt cx="2061210" cy="126238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9559" y="2700528"/>
              <a:ext cx="185928" cy="182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9559" y="3243072"/>
              <a:ext cx="185928" cy="1828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9559" y="3511296"/>
              <a:ext cx="185928" cy="1828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9559" y="2432304"/>
              <a:ext cx="185928" cy="1828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9559" y="2971800"/>
              <a:ext cx="185928" cy="1828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02000" y="2521457"/>
              <a:ext cx="806450" cy="1115060"/>
            </a:xfrm>
            <a:custGeom>
              <a:avLst/>
              <a:gdLst/>
              <a:ahLst/>
              <a:cxnLst/>
              <a:rect l="l" t="t" r="r" b="b"/>
              <a:pathLst>
                <a:path w="806450" h="1115060">
                  <a:moveTo>
                    <a:pt x="806323" y="272034"/>
                  </a:moveTo>
                  <a:lnTo>
                    <a:pt x="739406" y="246888"/>
                  </a:lnTo>
                  <a:lnTo>
                    <a:pt x="739406" y="323354"/>
                  </a:lnTo>
                  <a:lnTo>
                    <a:pt x="569747" y="482714"/>
                  </a:lnTo>
                  <a:lnTo>
                    <a:pt x="558634" y="480123"/>
                  </a:lnTo>
                  <a:lnTo>
                    <a:pt x="558634" y="493153"/>
                  </a:lnTo>
                  <a:lnTo>
                    <a:pt x="513740" y="535330"/>
                  </a:lnTo>
                  <a:lnTo>
                    <a:pt x="500253" y="535292"/>
                  </a:lnTo>
                  <a:lnTo>
                    <a:pt x="500253" y="547992"/>
                  </a:lnTo>
                  <a:lnTo>
                    <a:pt x="444881" y="599998"/>
                  </a:lnTo>
                  <a:lnTo>
                    <a:pt x="435292" y="594499"/>
                  </a:lnTo>
                  <a:lnTo>
                    <a:pt x="435292" y="609015"/>
                  </a:lnTo>
                  <a:lnTo>
                    <a:pt x="379171" y="661733"/>
                  </a:lnTo>
                  <a:lnTo>
                    <a:pt x="368757" y="658190"/>
                  </a:lnTo>
                  <a:lnTo>
                    <a:pt x="368757" y="671499"/>
                  </a:lnTo>
                  <a:lnTo>
                    <a:pt x="365925" y="674166"/>
                  </a:lnTo>
                  <a:lnTo>
                    <a:pt x="359575" y="668362"/>
                  </a:lnTo>
                  <a:lnTo>
                    <a:pt x="368757" y="671499"/>
                  </a:lnTo>
                  <a:lnTo>
                    <a:pt x="368757" y="658190"/>
                  </a:lnTo>
                  <a:lnTo>
                    <a:pt x="356603" y="654037"/>
                  </a:lnTo>
                  <a:lnTo>
                    <a:pt x="356603" y="682929"/>
                  </a:lnTo>
                  <a:lnTo>
                    <a:pt x="301269" y="734898"/>
                  </a:lnTo>
                  <a:lnTo>
                    <a:pt x="291820" y="728484"/>
                  </a:lnTo>
                  <a:lnTo>
                    <a:pt x="291820" y="743775"/>
                  </a:lnTo>
                  <a:lnTo>
                    <a:pt x="85712" y="937361"/>
                  </a:lnTo>
                  <a:lnTo>
                    <a:pt x="254939" y="718693"/>
                  </a:lnTo>
                  <a:lnTo>
                    <a:pt x="291820" y="743775"/>
                  </a:lnTo>
                  <a:lnTo>
                    <a:pt x="291820" y="728484"/>
                  </a:lnTo>
                  <a:lnTo>
                    <a:pt x="262686" y="708685"/>
                  </a:lnTo>
                  <a:lnTo>
                    <a:pt x="307606" y="650646"/>
                  </a:lnTo>
                  <a:lnTo>
                    <a:pt x="329399" y="658075"/>
                  </a:lnTo>
                  <a:lnTo>
                    <a:pt x="356603" y="682929"/>
                  </a:lnTo>
                  <a:lnTo>
                    <a:pt x="356603" y="654037"/>
                  </a:lnTo>
                  <a:lnTo>
                    <a:pt x="336283" y="647090"/>
                  </a:lnTo>
                  <a:lnTo>
                    <a:pt x="321081" y="633222"/>
                  </a:lnTo>
                  <a:lnTo>
                    <a:pt x="369189" y="571068"/>
                  </a:lnTo>
                  <a:lnTo>
                    <a:pt x="435292" y="609015"/>
                  </a:lnTo>
                  <a:lnTo>
                    <a:pt x="435292" y="594499"/>
                  </a:lnTo>
                  <a:lnTo>
                    <a:pt x="376974" y="561009"/>
                  </a:lnTo>
                  <a:lnTo>
                    <a:pt x="387299" y="547674"/>
                  </a:lnTo>
                  <a:lnTo>
                    <a:pt x="500253" y="547992"/>
                  </a:lnTo>
                  <a:lnTo>
                    <a:pt x="500253" y="535292"/>
                  </a:lnTo>
                  <a:lnTo>
                    <a:pt x="397103" y="535000"/>
                  </a:lnTo>
                  <a:lnTo>
                    <a:pt x="449287" y="467563"/>
                  </a:lnTo>
                  <a:lnTo>
                    <a:pt x="558634" y="493153"/>
                  </a:lnTo>
                  <a:lnTo>
                    <a:pt x="558634" y="480123"/>
                  </a:lnTo>
                  <a:lnTo>
                    <a:pt x="457835" y="456514"/>
                  </a:lnTo>
                  <a:lnTo>
                    <a:pt x="521589" y="374142"/>
                  </a:lnTo>
                  <a:lnTo>
                    <a:pt x="723988" y="305384"/>
                  </a:lnTo>
                  <a:lnTo>
                    <a:pt x="734415" y="316471"/>
                  </a:lnTo>
                  <a:lnTo>
                    <a:pt x="734568" y="317881"/>
                  </a:lnTo>
                  <a:lnTo>
                    <a:pt x="735291" y="317423"/>
                  </a:lnTo>
                  <a:lnTo>
                    <a:pt x="738568" y="320903"/>
                  </a:lnTo>
                  <a:lnTo>
                    <a:pt x="739406" y="323354"/>
                  </a:lnTo>
                  <a:lnTo>
                    <a:pt x="739406" y="246888"/>
                  </a:lnTo>
                  <a:lnTo>
                    <a:pt x="726567" y="242062"/>
                  </a:lnTo>
                  <a:lnTo>
                    <a:pt x="728649" y="261937"/>
                  </a:lnTo>
                  <a:lnTo>
                    <a:pt x="728243" y="261886"/>
                  </a:lnTo>
                  <a:lnTo>
                    <a:pt x="728243" y="290474"/>
                  </a:lnTo>
                  <a:lnTo>
                    <a:pt x="535711" y="355892"/>
                  </a:lnTo>
                  <a:lnTo>
                    <a:pt x="577100" y="302412"/>
                  </a:lnTo>
                  <a:lnTo>
                    <a:pt x="726973" y="286753"/>
                  </a:lnTo>
                  <a:lnTo>
                    <a:pt x="728243" y="290474"/>
                  </a:lnTo>
                  <a:lnTo>
                    <a:pt x="728243" y="261886"/>
                  </a:lnTo>
                  <a:lnTo>
                    <a:pt x="718058" y="260477"/>
                  </a:lnTo>
                  <a:lnTo>
                    <a:pt x="722769" y="274370"/>
                  </a:lnTo>
                  <a:lnTo>
                    <a:pt x="587870" y="288480"/>
                  </a:lnTo>
                  <a:lnTo>
                    <a:pt x="756031" y="71196"/>
                  </a:lnTo>
                  <a:lnTo>
                    <a:pt x="760730" y="78105"/>
                  </a:lnTo>
                  <a:lnTo>
                    <a:pt x="764006" y="72237"/>
                  </a:lnTo>
                  <a:lnTo>
                    <a:pt x="783590" y="87376"/>
                  </a:lnTo>
                  <a:lnTo>
                    <a:pt x="790930" y="50165"/>
                  </a:lnTo>
                  <a:lnTo>
                    <a:pt x="798398" y="12357"/>
                  </a:lnTo>
                  <a:lnTo>
                    <a:pt x="805434" y="3810"/>
                  </a:lnTo>
                  <a:lnTo>
                    <a:pt x="747636" y="1231"/>
                  </a:lnTo>
                  <a:lnTo>
                    <a:pt x="747636" y="61341"/>
                  </a:lnTo>
                  <a:lnTo>
                    <a:pt x="570407" y="290309"/>
                  </a:lnTo>
                  <a:lnTo>
                    <a:pt x="559625" y="291439"/>
                  </a:lnTo>
                  <a:lnTo>
                    <a:pt x="559625" y="304228"/>
                  </a:lnTo>
                  <a:lnTo>
                    <a:pt x="513918" y="363296"/>
                  </a:lnTo>
                  <a:lnTo>
                    <a:pt x="499783" y="368109"/>
                  </a:lnTo>
                  <a:lnTo>
                    <a:pt x="499783" y="381546"/>
                  </a:lnTo>
                  <a:lnTo>
                    <a:pt x="444220" y="453326"/>
                  </a:lnTo>
                  <a:lnTo>
                    <a:pt x="435673" y="451332"/>
                  </a:lnTo>
                  <a:lnTo>
                    <a:pt x="435673" y="464375"/>
                  </a:lnTo>
                  <a:lnTo>
                    <a:pt x="381050" y="534949"/>
                  </a:lnTo>
                  <a:lnTo>
                    <a:pt x="371233" y="534924"/>
                  </a:lnTo>
                  <a:lnTo>
                    <a:pt x="371233" y="547624"/>
                  </a:lnTo>
                  <a:lnTo>
                    <a:pt x="365836" y="554609"/>
                  </a:lnTo>
                  <a:lnTo>
                    <a:pt x="358038" y="550138"/>
                  </a:lnTo>
                  <a:lnTo>
                    <a:pt x="358038" y="564667"/>
                  </a:lnTo>
                  <a:lnTo>
                    <a:pt x="311645" y="624611"/>
                  </a:lnTo>
                  <a:lnTo>
                    <a:pt x="303822" y="617474"/>
                  </a:lnTo>
                  <a:lnTo>
                    <a:pt x="303822" y="634720"/>
                  </a:lnTo>
                  <a:lnTo>
                    <a:pt x="303022" y="635749"/>
                  </a:lnTo>
                  <a:lnTo>
                    <a:pt x="294855" y="632968"/>
                  </a:lnTo>
                  <a:lnTo>
                    <a:pt x="294855" y="646303"/>
                  </a:lnTo>
                  <a:lnTo>
                    <a:pt x="252120" y="701509"/>
                  </a:lnTo>
                  <a:lnTo>
                    <a:pt x="45758" y="561327"/>
                  </a:lnTo>
                  <a:lnTo>
                    <a:pt x="294855" y="646303"/>
                  </a:lnTo>
                  <a:lnTo>
                    <a:pt x="294855" y="632968"/>
                  </a:lnTo>
                  <a:lnTo>
                    <a:pt x="41986" y="546709"/>
                  </a:lnTo>
                  <a:lnTo>
                    <a:pt x="207962" y="547166"/>
                  </a:lnTo>
                  <a:lnTo>
                    <a:pt x="303822" y="634720"/>
                  </a:lnTo>
                  <a:lnTo>
                    <a:pt x="303822" y="617474"/>
                  </a:lnTo>
                  <a:lnTo>
                    <a:pt x="226923" y="547230"/>
                  </a:lnTo>
                  <a:lnTo>
                    <a:pt x="328155" y="547509"/>
                  </a:lnTo>
                  <a:lnTo>
                    <a:pt x="358038" y="564667"/>
                  </a:lnTo>
                  <a:lnTo>
                    <a:pt x="358038" y="550138"/>
                  </a:lnTo>
                  <a:lnTo>
                    <a:pt x="353593" y="547573"/>
                  </a:lnTo>
                  <a:lnTo>
                    <a:pt x="371233" y="547624"/>
                  </a:lnTo>
                  <a:lnTo>
                    <a:pt x="371233" y="534924"/>
                  </a:lnTo>
                  <a:lnTo>
                    <a:pt x="331368" y="534809"/>
                  </a:lnTo>
                  <a:lnTo>
                    <a:pt x="305917" y="520204"/>
                  </a:lnTo>
                  <a:lnTo>
                    <a:pt x="305917" y="534746"/>
                  </a:lnTo>
                  <a:lnTo>
                    <a:pt x="212979" y="534492"/>
                  </a:lnTo>
                  <a:lnTo>
                    <a:pt x="194017" y="517182"/>
                  </a:lnTo>
                  <a:lnTo>
                    <a:pt x="194017" y="534428"/>
                  </a:lnTo>
                  <a:lnTo>
                    <a:pt x="50863" y="534047"/>
                  </a:lnTo>
                  <a:lnTo>
                    <a:pt x="154889" y="498703"/>
                  </a:lnTo>
                  <a:lnTo>
                    <a:pt x="194017" y="534428"/>
                  </a:lnTo>
                  <a:lnTo>
                    <a:pt x="194017" y="517182"/>
                  </a:lnTo>
                  <a:lnTo>
                    <a:pt x="168668" y="494030"/>
                  </a:lnTo>
                  <a:lnTo>
                    <a:pt x="210324" y="479882"/>
                  </a:lnTo>
                  <a:lnTo>
                    <a:pt x="305917" y="534746"/>
                  </a:lnTo>
                  <a:lnTo>
                    <a:pt x="305917" y="520204"/>
                  </a:lnTo>
                  <a:lnTo>
                    <a:pt x="226237" y="474472"/>
                  </a:lnTo>
                  <a:lnTo>
                    <a:pt x="329285" y="439470"/>
                  </a:lnTo>
                  <a:lnTo>
                    <a:pt x="435673" y="464375"/>
                  </a:lnTo>
                  <a:lnTo>
                    <a:pt x="435673" y="451332"/>
                  </a:lnTo>
                  <a:lnTo>
                    <a:pt x="352031" y="431736"/>
                  </a:lnTo>
                  <a:lnTo>
                    <a:pt x="499783" y="381546"/>
                  </a:lnTo>
                  <a:lnTo>
                    <a:pt x="499783" y="368109"/>
                  </a:lnTo>
                  <a:lnTo>
                    <a:pt x="328599" y="426250"/>
                  </a:lnTo>
                  <a:lnTo>
                    <a:pt x="305841" y="420928"/>
                  </a:lnTo>
                  <a:lnTo>
                    <a:pt x="305841" y="433984"/>
                  </a:lnTo>
                  <a:lnTo>
                    <a:pt x="211518" y="466013"/>
                  </a:lnTo>
                  <a:lnTo>
                    <a:pt x="195605" y="456882"/>
                  </a:lnTo>
                  <a:lnTo>
                    <a:pt x="195605" y="471424"/>
                  </a:lnTo>
                  <a:lnTo>
                    <a:pt x="157937" y="484225"/>
                  </a:lnTo>
                  <a:lnTo>
                    <a:pt x="144157" y="471639"/>
                  </a:lnTo>
                  <a:lnTo>
                    <a:pt x="144157" y="488899"/>
                  </a:lnTo>
                  <a:lnTo>
                    <a:pt x="49263" y="521144"/>
                  </a:lnTo>
                  <a:lnTo>
                    <a:pt x="124053" y="470522"/>
                  </a:lnTo>
                  <a:lnTo>
                    <a:pt x="144157" y="488899"/>
                  </a:lnTo>
                  <a:lnTo>
                    <a:pt x="144157" y="471639"/>
                  </a:lnTo>
                  <a:lnTo>
                    <a:pt x="134912" y="463181"/>
                  </a:lnTo>
                  <a:lnTo>
                    <a:pt x="156184" y="448792"/>
                  </a:lnTo>
                  <a:lnTo>
                    <a:pt x="195605" y="471424"/>
                  </a:lnTo>
                  <a:lnTo>
                    <a:pt x="195605" y="456882"/>
                  </a:lnTo>
                  <a:lnTo>
                    <a:pt x="167817" y="440918"/>
                  </a:lnTo>
                  <a:lnTo>
                    <a:pt x="210921" y="411759"/>
                  </a:lnTo>
                  <a:lnTo>
                    <a:pt x="305841" y="433984"/>
                  </a:lnTo>
                  <a:lnTo>
                    <a:pt x="305841" y="420928"/>
                  </a:lnTo>
                  <a:lnTo>
                    <a:pt x="225259" y="402043"/>
                  </a:lnTo>
                  <a:lnTo>
                    <a:pt x="335203" y="327660"/>
                  </a:lnTo>
                  <a:lnTo>
                    <a:pt x="559625" y="304228"/>
                  </a:lnTo>
                  <a:lnTo>
                    <a:pt x="559625" y="291439"/>
                  </a:lnTo>
                  <a:lnTo>
                    <a:pt x="357505" y="312572"/>
                  </a:lnTo>
                  <a:lnTo>
                    <a:pt x="740079" y="53708"/>
                  </a:lnTo>
                  <a:lnTo>
                    <a:pt x="746417" y="58623"/>
                  </a:lnTo>
                  <a:lnTo>
                    <a:pt x="747636" y="61341"/>
                  </a:lnTo>
                  <a:lnTo>
                    <a:pt x="747636" y="1231"/>
                  </a:lnTo>
                  <a:lnTo>
                    <a:pt x="729500" y="419"/>
                  </a:lnTo>
                  <a:lnTo>
                    <a:pt x="729500" y="45504"/>
                  </a:lnTo>
                  <a:lnTo>
                    <a:pt x="330669" y="315379"/>
                  </a:lnTo>
                  <a:lnTo>
                    <a:pt x="308368" y="317715"/>
                  </a:lnTo>
                  <a:lnTo>
                    <a:pt x="308368" y="330466"/>
                  </a:lnTo>
                  <a:lnTo>
                    <a:pt x="208407" y="398094"/>
                  </a:lnTo>
                  <a:lnTo>
                    <a:pt x="194056" y="394741"/>
                  </a:lnTo>
                  <a:lnTo>
                    <a:pt x="194056" y="407809"/>
                  </a:lnTo>
                  <a:lnTo>
                    <a:pt x="155536" y="433870"/>
                  </a:lnTo>
                  <a:lnTo>
                    <a:pt x="143903" y="427202"/>
                  </a:lnTo>
                  <a:lnTo>
                    <a:pt x="143903" y="441744"/>
                  </a:lnTo>
                  <a:lnTo>
                    <a:pt x="125260" y="454355"/>
                  </a:lnTo>
                  <a:lnTo>
                    <a:pt x="56527" y="391579"/>
                  </a:lnTo>
                  <a:lnTo>
                    <a:pt x="143903" y="441744"/>
                  </a:lnTo>
                  <a:lnTo>
                    <a:pt x="143903" y="427202"/>
                  </a:lnTo>
                  <a:lnTo>
                    <a:pt x="52387" y="374650"/>
                  </a:lnTo>
                  <a:lnTo>
                    <a:pt x="194056" y="407809"/>
                  </a:lnTo>
                  <a:lnTo>
                    <a:pt x="194056" y="394741"/>
                  </a:lnTo>
                  <a:lnTo>
                    <a:pt x="39446" y="358533"/>
                  </a:lnTo>
                  <a:lnTo>
                    <a:pt x="308368" y="330466"/>
                  </a:lnTo>
                  <a:lnTo>
                    <a:pt x="308368" y="317715"/>
                  </a:lnTo>
                  <a:lnTo>
                    <a:pt x="57658" y="343916"/>
                  </a:lnTo>
                  <a:lnTo>
                    <a:pt x="728751" y="44932"/>
                  </a:lnTo>
                  <a:lnTo>
                    <a:pt x="729500" y="45504"/>
                  </a:lnTo>
                  <a:lnTo>
                    <a:pt x="729500" y="419"/>
                  </a:lnTo>
                  <a:lnTo>
                    <a:pt x="720344" y="0"/>
                  </a:lnTo>
                  <a:lnTo>
                    <a:pt x="726503" y="13855"/>
                  </a:lnTo>
                  <a:lnTo>
                    <a:pt x="717931" y="14986"/>
                  </a:lnTo>
                  <a:lnTo>
                    <a:pt x="728802" y="31038"/>
                  </a:lnTo>
                  <a:lnTo>
                    <a:pt x="17094" y="348157"/>
                  </a:lnTo>
                  <a:lnTo>
                    <a:pt x="9004" y="348996"/>
                  </a:lnTo>
                  <a:lnTo>
                    <a:pt x="9245" y="351459"/>
                  </a:lnTo>
                  <a:lnTo>
                    <a:pt x="8001" y="351155"/>
                  </a:lnTo>
                  <a:lnTo>
                    <a:pt x="7734" y="352310"/>
                  </a:lnTo>
                  <a:lnTo>
                    <a:pt x="4064" y="353949"/>
                  </a:lnTo>
                  <a:lnTo>
                    <a:pt x="6248" y="358952"/>
                  </a:lnTo>
                  <a:lnTo>
                    <a:pt x="5613" y="361772"/>
                  </a:lnTo>
                  <a:lnTo>
                    <a:pt x="5334" y="362077"/>
                  </a:lnTo>
                  <a:lnTo>
                    <a:pt x="5511" y="362242"/>
                  </a:lnTo>
                  <a:lnTo>
                    <a:pt x="5207" y="363601"/>
                  </a:lnTo>
                  <a:lnTo>
                    <a:pt x="7620" y="364172"/>
                  </a:lnTo>
                  <a:lnTo>
                    <a:pt x="114401" y="461708"/>
                  </a:lnTo>
                  <a:lnTo>
                    <a:pt x="7683" y="533920"/>
                  </a:lnTo>
                  <a:lnTo>
                    <a:pt x="6591" y="533908"/>
                  </a:lnTo>
                  <a:lnTo>
                    <a:pt x="6591" y="534644"/>
                  </a:lnTo>
                  <a:lnTo>
                    <a:pt x="5588" y="534289"/>
                  </a:lnTo>
                  <a:lnTo>
                    <a:pt x="5118" y="535647"/>
                  </a:lnTo>
                  <a:lnTo>
                    <a:pt x="0" y="539115"/>
                  </a:lnTo>
                  <a:lnTo>
                    <a:pt x="2146" y="542315"/>
                  </a:lnTo>
                  <a:lnTo>
                    <a:pt x="0" y="545465"/>
                  </a:lnTo>
                  <a:lnTo>
                    <a:pt x="244386" y="711517"/>
                  </a:lnTo>
                  <a:lnTo>
                    <a:pt x="31330" y="986777"/>
                  </a:lnTo>
                  <a:lnTo>
                    <a:pt x="30861" y="987044"/>
                  </a:lnTo>
                  <a:lnTo>
                    <a:pt x="30962" y="987247"/>
                  </a:lnTo>
                  <a:lnTo>
                    <a:pt x="28956" y="989838"/>
                  </a:lnTo>
                  <a:lnTo>
                    <a:pt x="31203" y="991565"/>
                  </a:lnTo>
                  <a:lnTo>
                    <a:pt x="34010" y="994587"/>
                  </a:lnTo>
                  <a:lnTo>
                    <a:pt x="33274" y="1000760"/>
                  </a:lnTo>
                  <a:lnTo>
                    <a:pt x="723722" y="1082954"/>
                  </a:lnTo>
                  <a:lnTo>
                    <a:pt x="719963" y="1114552"/>
                  </a:lnTo>
                  <a:lnTo>
                    <a:pt x="800100" y="1085723"/>
                  </a:lnTo>
                  <a:lnTo>
                    <a:pt x="798169" y="1084453"/>
                  </a:lnTo>
                  <a:lnTo>
                    <a:pt x="794435" y="1082001"/>
                  </a:lnTo>
                  <a:lnTo>
                    <a:pt x="797039" y="1082344"/>
                  </a:lnTo>
                  <a:lnTo>
                    <a:pt x="806323" y="1084973"/>
                  </a:lnTo>
                  <a:lnTo>
                    <a:pt x="791654" y="1046873"/>
                  </a:lnTo>
                  <a:lnTo>
                    <a:pt x="775716" y="1005459"/>
                  </a:lnTo>
                  <a:lnTo>
                    <a:pt x="765390" y="1016787"/>
                  </a:lnTo>
                  <a:lnTo>
                    <a:pt x="760857" y="1008634"/>
                  </a:lnTo>
                  <a:lnTo>
                    <a:pt x="749896" y="1024801"/>
                  </a:lnTo>
                  <a:lnTo>
                    <a:pt x="739292" y="1015123"/>
                  </a:lnTo>
                  <a:lnTo>
                    <a:pt x="739292" y="1032408"/>
                  </a:lnTo>
                  <a:lnTo>
                    <a:pt x="728764" y="1025258"/>
                  </a:lnTo>
                  <a:lnTo>
                    <a:pt x="728764" y="1040625"/>
                  </a:lnTo>
                  <a:lnTo>
                    <a:pt x="726541" y="1059218"/>
                  </a:lnTo>
                  <a:lnTo>
                    <a:pt x="726160" y="1059789"/>
                  </a:lnTo>
                  <a:lnTo>
                    <a:pt x="724408" y="1061720"/>
                  </a:lnTo>
                  <a:lnTo>
                    <a:pt x="724776" y="1061834"/>
                  </a:lnTo>
                  <a:lnTo>
                    <a:pt x="719442" y="1069695"/>
                  </a:lnTo>
                  <a:lnTo>
                    <a:pt x="68300" y="992073"/>
                  </a:lnTo>
                  <a:lnTo>
                    <a:pt x="506552" y="889660"/>
                  </a:lnTo>
                  <a:lnTo>
                    <a:pt x="728764" y="1040625"/>
                  </a:lnTo>
                  <a:lnTo>
                    <a:pt x="728764" y="1025258"/>
                  </a:lnTo>
                  <a:lnTo>
                    <a:pt x="523341" y="885736"/>
                  </a:lnTo>
                  <a:lnTo>
                    <a:pt x="567397" y="875436"/>
                  </a:lnTo>
                  <a:lnTo>
                    <a:pt x="739292" y="1032408"/>
                  </a:lnTo>
                  <a:lnTo>
                    <a:pt x="739292" y="1015123"/>
                  </a:lnTo>
                  <a:lnTo>
                    <a:pt x="582472" y="871918"/>
                  </a:lnTo>
                  <a:lnTo>
                    <a:pt x="727354" y="838060"/>
                  </a:lnTo>
                  <a:lnTo>
                    <a:pt x="734568" y="869061"/>
                  </a:lnTo>
                  <a:lnTo>
                    <a:pt x="790168" y="822833"/>
                  </a:lnTo>
                  <a:lnTo>
                    <a:pt x="800100" y="814578"/>
                  </a:lnTo>
                  <a:lnTo>
                    <a:pt x="798817" y="814273"/>
                  </a:lnTo>
                  <a:lnTo>
                    <a:pt x="806323" y="814705"/>
                  </a:lnTo>
                  <a:lnTo>
                    <a:pt x="788949" y="788543"/>
                  </a:lnTo>
                  <a:lnTo>
                    <a:pt x="759206" y="743712"/>
                  </a:lnTo>
                  <a:lnTo>
                    <a:pt x="750036" y="759663"/>
                  </a:lnTo>
                  <a:lnTo>
                    <a:pt x="742569" y="752094"/>
                  </a:lnTo>
                  <a:lnTo>
                    <a:pt x="737222" y="767791"/>
                  </a:lnTo>
                  <a:lnTo>
                    <a:pt x="733107" y="765441"/>
                  </a:lnTo>
                  <a:lnTo>
                    <a:pt x="733107" y="779919"/>
                  </a:lnTo>
                  <a:lnTo>
                    <a:pt x="732345" y="782167"/>
                  </a:lnTo>
                  <a:lnTo>
                    <a:pt x="728281" y="780783"/>
                  </a:lnTo>
                  <a:lnTo>
                    <a:pt x="728281" y="794118"/>
                  </a:lnTo>
                  <a:lnTo>
                    <a:pt x="727240" y="797153"/>
                  </a:lnTo>
                  <a:lnTo>
                    <a:pt x="717296" y="794766"/>
                  </a:lnTo>
                  <a:lnTo>
                    <a:pt x="721664" y="813600"/>
                  </a:lnTo>
                  <a:lnTo>
                    <a:pt x="718058" y="824230"/>
                  </a:lnTo>
                  <a:lnTo>
                    <a:pt x="723938" y="823429"/>
                  </a:lnTo>
                  <a:lnTo>
                    <a:pt x="724484" y="825728"/>
                  </a:lnTo>
                  <a:lnTo>
                    <a:pt x="571144" y="861568"/>
                  </a:lnTo>
                  <a:lnTo>
                    <a:pt x="556069" y="847813"/>
                  </a:lnTo>
                  <a:lnTo>
                    <a:pt x="556069" y="865098"/>
                  </a:lnTo>
                  <a:lnTo>
                    <a:pt x="509104" y="876071"/>
                  </a:lnTo>
                  <a:lnTo>
                    <a:pt x="492328" y="864679"/>
                  </a:lnTo>
                  <a:lnTo>
                    <a:pt x="492328" y="879995"/>
                  </a:lnTo>
                  <a:lnTo>
                    <a:pt x="70472" y="978585"/>
                  </a:lnTo>
                  <a:lnTo>
                    <a:pt x="374764" y="800125"/>
                  </a:lnTo>
                  <a:lnTo>
                    <a:pt x="492328" y="879995"/>
                  </a:lnTo>
                  <a:lnTo>
                    <a:pt x="492328" y="864679"/>
                  </a:lnTo>
                  <a:lnTo>
                    <a:pt x="386842" y="793038"/>
                  </a:lnTo>
                  <a:lnTo>
                    <a:pt x="441833" y="760780"/>
                  </a:lnTo>
                  <a:lnTo>
                    <a:pt x="556069" y="865098"/>
                  </a:lnTo>
                  <a:lnTo>
                    <a:pt x="556069" y="847813"/>
                  </a:lnTo>
                  <a:lnTo>
                    <a:pt x="453364" y="754024"/>
                  </a:lnTo>
                  <a:lnTo>
                    <a:pt x="511213" y="720090"/>
                  </a:lnTo>
                  <a:lnTo>
                    <a:pt x="728281" y="794118"/>
                  </a:lnTo>
                  <a:lnTo>
                    <a:pt x="728281" y="780783"/>
                  </a:lnTo>
                  <a:lnTo>
                    <a:pt x="525589" y="711657"/>
                  </a:lnTo>
                  <a:lnTo>
                    <a:pt x="569391" y="685965"/>
                  </a:lnTo>
                  <a:lnTo>
                    <a:pt x="733107" y="779919"/>
                  </a:lnTo>
                  <a:lnTo>
                    <a:pt x="733107" y="765441"/>
                  </a:lnTo>
                  <a:lnTo>
                    <a:pt x="581888" y="678637"/>
                  </a:lnTo>
                  <a:lnTo>
                    <a:pt x="737577" y="587324"/>
                  </a:lnTo>
                  <a:lnTo>
                    <a:pt x="753618" y="614680"/>
                  </a:lnTo>
                  <a:lnTo>
                    <a:pt x="782726" y="569976"/>
                  </a:lnTo>
                  <a:lnTo>
                    <a:pt x="798233" y="546163"/>
                  </a:lnTo>
                  <a:lnTo>
                    <a:pt x="805434" y="544449"/>
                  </a:lnTo>
                  <a:lnTo>
                    <a:pt x="795362" y="536067"/>
                  </a:lnTo>
                  <a:lnTo>
                    <a:pt x="740029" y="489966"/>
                  </a:lnTo>
                  <a:lnTo>
                    <a:pt x="735609" y="508762"/>
                  </a:lnTo>
                  <a:lnTo>
                    <a:pt x="726313" y="504063"/>
                  </a:lnTo>
                  <a:lnTo>
                    <a:pt x="726274" y="519353"/>
                  </a:lnTo>
                  <a:lnTo>
                    <a:pt x="726262" y="532358"/>
                  </a:lnTo>
                  <a:lnTo>
                    <a:pt x="726249" y="535914"/>
                  </a:lnTo>
                  <a:lnTo>
                    <a:pt x="726198" y="567918"/>
                  </a:lnTo>
                  <a:lnTo>
                    <a:pt x="726186" y="579361"/>
                  </a:lnTo>
                  <a:lnTo>
                    <a:pt x="569239" y="671385"/>
                  </a:lnTo>
                  <a:lnTo>
                    <a:pt x="556742" y="664222"/>
                  </a:lnTo>
                  <a:lnTo>
                    <a:pt x="556742" y="678713"/>
                  </a:lnTo>
                  <a:lnTo>
                    <a:pt x="509752" y="706259"/>
                  </a:lnTo>
                  <a:lnTo>
                    <a:pt x="495376" y="701357"/>
                  </a:lnTo>
                  <a:lnTo>
                    <a:pt x="495376" y="714692"/>
                  </a:lnTo>
                  <a:lnTo>
                    <a:pt x="443560" y="745070"/>
                  </a:lnTo>
                  <a:lnTo>
                    <a:pt x="432041" y="734555"/>
                  </a:lnTo>
                  <a:lnTo>
                    <a:pt x="432041" y="751827"/>
                  </a:lnTo>
                  <a:lnTo>
                    <a:pt x="375221" y="785139"/>
                  </a:lnTo>
                  <a:lnTo>
                    <a:pt x="363143" y="776947"/>
                  </a:lnTo>
                  <a:lnTo>
                    <a:pt x="363143" y="792226"/>
                  </a:lnTo>
                  <a:lnTo>
                    <a:pt x="85331" y="955116"/>
                  </a:lnTo>
                  <a:lnTo>
                    <a:pt x="302590" y="751078"/>
                  </a:lnTo>
                  <a:lnTo>
                    <a:pt x="363143" y="792226"/>
                  </a:lnTo>
                  <a:lnTo>
                    <a:pt x="363143" y="776947"/>
                  </a:lnTo>
                  <a:lnTo>
                    <a:pt x="312026" y="742213"/>
                  </a:lnTo>
                  <a:lnTo>
                    <a:pt x="366001" y="691527"/>
                  </a:lnTo>
                  <a:lnTo>
                    <a:pt x="432041" y="751827"/>
                  </a:lnTo>
                  <a:lnTo>
                    <a:pt x="432041" y="734555"/>
                  </a:lnTo>
                  <a:lnTo>
                    <a:pt x="375335" y="682764"/>
                  </a:lnTo>
                  <a:lnTo>
                    <a:pt x="382371" y="676148"/>
                  </a:lnTo>
                  <a:lnTo>
                    <a:pt x="495376" y="714692"/>
                  </a:lnTo>
                  <a:lnTo>
                    <a:pt x="495376" y="701357"/>
                  </a:lnTo>
                  <a:lnTo>
                    <a:pt x="392785" y="666369"/>
                  </a:lnTo>
                  <a:lnTo>
                    <a:pt x="446811" y="615632"/>
                  </a:lnTo>
                  <a:lnTo>
                    <a:pt x="556742" y="678713"/>
                  </a:lnTo>
                  <a:lnTo>
                    <a:pt x="556742" y="664222"/>
                  </a:lnTo>
                  <a:lnTo>
                    <a:pt x="456412" y="606628"/>
                  </a:lnTo>
                  <a:lnTo>
                    <a:pt x="518782" y="548043"/>
                  </a:lnTo>
                  <a:lnTo>
                    <a:pt x="721372" y="548601"/>
                  </a:lnTo>
                  <a:lnTo>
                    <a:pt x="715137" y="549021"/>
                  </a:lnTo>
                  <a:lnTo>
                    <a:pt x="723011" y="562483"/>
                  </a:lnTo>
                  <a:lnTo>
                    <a:pt x="722630" y="564134"/>
                  </a:lnTo>
                  <a:lnTo>
                    <a:pt x="723811" y="563854"/>
                  </a:lnTo>
                  <a:lnTo>
                    <a:pt x="726198" y="567918"/>
                  </a:lnTo>
                  <a:lnTo>
                    <a:pt x="726198" y="535914"/>
                  </a:lnTo>
                  <a:lnTo>
                    <a:pt x="532269" y="535381"/>
                  </a:lnTo>
                  <a:lnTo>
                    <a:pt x="573519" y="496633"/>
                  </a:lnTo>
                  <a:lnTo>
                    <a:pt x="726262" y="532358"/>
                  </a:lnTo>
                  <a:lnTo>
                    <a:pt x="726262" y="519353"/>
                  </a:lnTo>
                  <a:lnTo>
                    <a:pt x="584631" y="486206"/>
                  </a:lnTo>
                  <a:lnTo>
                    <a:pt x="748931" y="331901"/>
                  </a:lnTo>
                  <a:lnTo>
                    <a:pt x="770636" y="354965"/>
                  </a:lnTo>
                  <a:lnTo>
                    <a:pt x="785761" y="313944"/>
                  </a:lnTo>
                  <a:lnTo>
                    <a:pt x="799655" y="276288"/>
                  </a:lnTo>
                  <a:lnTo>
                    <a:pt x="805916" y="272288"/>
                  </a:lnTo>
                  <a:lnTo>
                    <a:pt x="806323" y="272034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1560" y="3084576"/>
              <a:ext cx="182880" cy="1828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276217" y="2520949"/>
              <a:ext cx="1087120" cy="1090295"/>
            </a:xfrm>
            <a:custGeom>
              <a:avLst/>
              <a:gdLst/>
              <a:ahLst/>
              <a:cxnLst/>
              <a:rect l="l" t="t" r="r" b="b"/>
              <a:pathLst>
                <a:path w="1087120" h="1090295">
                  <a:moveTo>
                    <a:pt x="594360" y="655193"/>
                  </a:moveTo>
                  <a:lnTo>
                    <a:pt x="593280" y="653364"/>
                  </a:lnTo>
                  <a:lnTo>
                    <a:pt x="582422" y="614426"/>
                  </a:lnTo>
                  <a:lnTo>
                    <a:pt x="571500" y="575183"/>
                  </a:lnTo>
                  <a:lnTo>
                    <a:pt x="555688" y="589470"/>
                  </a:lnTo>
                  <a:lnTo>
                    <a:pt x="551180" y="581787"/>
                  </a:lnTo>
                  <a:lnTo>
                    <a:pt x="544283" y="592404"/>
                  </a:lnTo>
                  <a:lnTo>
                    <a:pt x="9398" y="0"/>
                  </a:lnTo>
                  <a:lnTo>
                    <a:pt x="0" y="8636"/>
                  </a:lnTo>
                  <a:lnTo>
                    <a:pt x="537133" y="603402"/>
                  </a:lnTo>
                  <a:lnTo>
                    <a:pt x="533882" y="608393"/>
                  </a:lnTo>
                  <a:lnTo>
                    <a:pt x="8128" y="267208"/>
                  </a:lnTo>
                  <a:lnTo>
                    <a:pt x="1270" y="277876"/>
                  </a:lnTo>
                  <a:lnTo>
                    <a:pt x="524205" y="617321"/>
                  </a:lnTo>
                  <a:lnTo>
                    <a:pt x="524065" y="618032"/>
                  </a:lnTo>
                  <a:lnTo>
                    <a:pt x="514985" y="626237"/>
                  </a:lnTo>
                  <a:lnTo>
                    <a:pt x="520801" y="628510"/>
                  </a:lnTo>
                  <a:lnTo>
                    <a:pt x="516636" y="634923"/>
                  </a:lnTo>
                  <a:lnTo>
                    <a:pt x="5842" y="537591"/>
                  </a:lnTo>
                  <a:lnTo>
                    <a:pt x="3556" y="550037"/>
                  </a:lnTo>
                  <a:lnTo>
                    <a:pt x="512965" y="647128"/>
                  </a:lnTo>
                  <a:lnTo>
                    <a:pt x="516178" y="659168"/>
                  </a:lnTo>
                  <a:lnTo>
                    <a:pt x="514108" y="669925"/>
                  </a:lnTo>
                  <a:lnTo>
                    <a:pt x="510286" y="670560"/>
                  </a:lnTo>
                  <a:lnTo>
                    <a:pt x="511479" y="672223"/>
                  </a:lnTo>
                  <a:lnTo>
                    <a:pt x="3048" y="808355"/>
                  </a:lnTo>
                  <a:lnTo>
                    <a:pt x="6350" y="820674"/>
                  </a:lnTo>
                  <a:lnTo>
                    <a:pt x="519518" y="683260"/>
                  </a:lnTo>
                  <a:lnTo>
                    <a:pt x="524421" y="689991"/>
                  </a:lnTo>
                  <a:lnTo>
                    <a:pt x="526542" y="697941"/>
                  </a:lnTo>
                  <a:lnTo>
                    <a:pt x="1016" y="1079627"/>
                  </a:lnTo>
                  <a:lnTo>
                    <a:pt x="8382" y="1089914"/>
                  </a:lnTo>
                  <a:lnTo>
                    <a:pt x="530059" y="711111"/>
                  </a:lnTo>
                  <a:lnTo>
                    <a:pt x="530606" y="713105"/>
                  </a:lnTo>
                  <a:lnTo>
                    <a:pt x="537057" y="707377"/>
                  </a:lnTo>
                  <a:lnTo>
                    <a:pt x="555117" y="732155"/>
                  </a:lnTo>
                  <a:lnTo>
                    <a:pt x="577672" y="688721"/>
                  </a:lnTo>
                  <a:lnTo>
                    <a:pt x="594080" y="657123"/>
                  </a:lnTo>
                  <a:lnTo>
                    <a:pt x="594360" y="657225"/>
                  </a:lnTo>
                  <a:lnTo>
                    <a:pt x="594233" y="656831"/>
                  </a:lnTo>
                  <a:lnTo>
                    <a:pt x="594360" y="656590"/>
                  </a:lnTo>
                  <a:lnTo>
                    <a:pt x="594156" y="656551"/>
                  </a:lnTo>
                  <a:lnTo>
                    <a:pt x="594080" y="656285"/>
                  </a:lnTo>
                  <a:lnTo>
                    <a:pt x="594360" y="656209"/>
                  </a:lnTo>
                  <a:lnTo>
                    <a:pt x="593979" y="655929"/>
                  </a:lnTo>
                  <a:lnTo>
                    <a:pt x="593763" y="655129"/>
                  </a:lnTo>
                  <a:lnTo>
                    <a:pt x="594360" y="655193"/>
                  </a:lnTo>
                  <a:close/>
                </a:path>
                <a:path w="1087120" h="1090295">
                  <a:moveTo>
                    <a:pt x="1086993" y="656590"/>
                  </a:moveTo>
                  <a:lnTo>
                    <a:pt x="1074293" y="650240"/>
                  </a:lnTo>
                  <a:lnTo>
                    <a:pt x="1010793" y="618490"/>
                  </a:lnTo>
                  <a:lnTo>
                    <a:pt x="1010793" y="650240"/>
                  </a:lnTo>
                  <a:lnTo>
                    <a:pt x="763651" y="650240"/>
                  </a:lnTo>
                  <a:lnTo>
                    <a:pt x="763651" y="662940"/>
                  </a:lnTo>
                  <a:lnTo>
                    <a:pt x="1010793" y="662940"/>
                  </a:lnTo>
                  <a:lnTo>
                    <a:pt x="1010793" y="694690"/>
                  </a:lnTo>
                  <a:lnTo>
                    <a:pt x="1074293" y="662940"/>
                  </a:lnTo>
                  <a:lnTo>
                    <a:pt x="1086993" y="65659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05350" y="3317494"/>
            <a:ext cx="529590" cy="345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1440" marR="5080" indent="-79375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 MT"/>
                <a:cs typeface="Arial MT"/>
              </a:rPr>
              <a:t>Capa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de </a:t>
            </a:r>
            <a:r>
              <a:rPr sz="1050" spc="-10" dirty="0">
                <a:latin typeface="Arial MT"/>
                <a:cs typeface="Arial MT"/>
              </a:rPr>
              <a:t>salida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17850" y="2702814"/>
            <a:ext cx="193675" cy="3994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>
              <a:lnSpc>
                <a:spcPct val="104299"/>
              </a:lnSpc>
              <a:spcBef>
                <a:spcPts val="35"/>
              </a:spcBef>
            </a:pPr>
            <a:r>
              <a:rPr sz="1200" i="1" spc="-35" dirty="0">
                <a:latin typeface="Times New Roman"/>
                <a:cs typeface="Times New Roman"/>
              </a:rPr>
              <a:t>x</a:t>
            </a:r>
            <a:r>
              <a:rPr sz="1200" spc="-52" baseline="-20833" dirty="0">
                <a:latin typeface="Times New Roman"/>
                <a:cs typeface="Times New Roman"/>
              </a:rPr>
              <a:t>1</a:t>
            </a:r>
            <a:r>
              <a:rPr sz="1200" spc="750" baseline="-20833" dirty="0">
                <a:latin typeface="Times New Roman"/>
                <a:cs typeface="Times New Roman"/>
              </a:rPr>
              <a:t> </a:t>
            </a:r>
            <a:r>
              <a:rPr sz="1200" i="1" spc="-35" dirty="0">
                <a:latin typeface="Times New Roman"/>
                <a:cs typeface="Times New Roman"/>
              </a:rPr>
              <a:t>x</a:t>
            </a:r>
            <a:r>
              <a:rPr sz="1200" spc="-52" baseline="-20833" dirty="0">
                <a:latin typeface="Times New Roman"/>
                <a:cs typeface="Times New Roman"/>
              </a:rPr>
              <a:t>2</a:t>
            </a:r>
            <a:endParaRPr sz="1200" baseline="-2083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09722" y="3403472"/>
            <a:ext cx="93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77032" y="3491864"/>
            <a:ext cx="76200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i="1" spc="-50" dirty="0">
                <a:latin typeface="Times New Roman"/>
                <a:cs typeface="Times New Roman"/>
              </a:rPr>
              <a:t>d</a:t>
            </a:r>
            <a:endParaRPr sz="80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88408" y="2923032"/>
            <a:ext cx="396239" cy="1402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/>
              <p:cNvSpPr txBox="1"/>
              <p:nvPr/>
            </p:nvSpPr>
            <p:spPr>
              <a:xfrm>
                <a:off x="5466841" y="3027933"/>
                <a:ext cx="1384935" cy="226985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400" i="1" spc="-1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400" b="0" i="1" spc="-1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PE" sz="1400" b="0" i="1" spc="-1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400" dirty="0">
                    <a:latin typeface="Cambria Math"/>
                    <a:cs typeface="Cambria Math"/>
                  </a:rPr>
                  <a:t>=</a:t>
                </a:r>
                <a:r>
                  <a:rPr sz="1400" spc="100" dirty="0">
                    <a:latin typeface="Cambria Math"/>
                    <a:cs typeface="Cambria Math"/>
                  </a:rPr>
                  <a:t> </a:t>
                </a:r>
                <a:r>
                  <a:rPr sz="1400" dirty="0">
                    <a:latin typeface="Cambria Math"/>
                    <a:cs typeface="Cambria Math"/>
                  </a:rPr>
                  <a:t>𝑎</a:t>
                </a:r>
                <a:r>
                  <a:rPr sz="1500" baseline="27777" dirty="0">
                    <a:latin typeface="Cambria Math"/>
                    <a:cs typeface="Cambria Math"/>
                  </a:rPr>
                  <a:t>[2]</a:t>
                </a:r>
                <a:r>
                  <a:rPr sz="1500" spc="390" baseline="27777" dirty="0">
                    <a:latin typeface="Cambria Math"/>
                    <a:cs typeface="Cambria Math"/>
                  </a:rPr>
                  <a:t> </a:t>
                </a:r>
                <a:r>
                  <a:rPr sz="1400" dirty="0">
                    <a:latin typeface="Cambria Math"/>
                    <a:cs typeface="Cambria Math"/>
                  </a:rPr>
                  <a:t>=</a:t>
                </a:r>
                <a:r>
                  <a:rPr sz="1400" spc="105" dirty="0">
                    <a:latin typeface="Cambria Math"/>
                    <a:cs typeface="Cambria Math"/>
                  </a:rPr>
                  <a:t> </a:t>
                </a:r>
                <a:r>
                  <a:rPr sz="1400" spc="-20" dirty="0">
                    <a:latin typeface="Cambria Math"/>
                    <a:cs typeface="Cambria Math"/>
                  </a:rPr>
                  <a:t>ℎ</a:t>
                </a:r>
                <a:r>
                  <a:rPr sz="1500" spc="-30" baseline="-16666" dirty="0">
                    <a:latin typeface="Cambria Math"/>
                    <a:cs typeface="Cambria Math"/>
                  </a:rPr>
                  <a:t>𝑤</a:t>
                </a:r>
                <a:r>
                  <a:rPr sz="1400" spc="-20" dirty="0">
                    <a:latin typeface="Cambria Math"/>
                    <a:cs typeface="Cambria Math"/>
                  </a:rPr>
                  <a:t>(𝑥)</a:t>
                </a:r>
                <a:endParaRPr sz="1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841" y="3027933"/>
                <a:ext cx="1384935" cy="226985"/>
              </a:xfrm>
              <a:prstGeom prst="rect">
                <a:avLst/>
              </a:prstGeom>
              <a:blipFill>
                <a:blip r:embed="rId7"/>
                <a:stretch>
                  <a:fillRect l="-2203" t="-24324" r="-1762" b="-4594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99B8639A-AC6D-950F-BAAD-7D65B30F4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Ingeniería de Sistemas - UNCP">
            <a:extLst>
              <a:ext uri="{FF2B5EF4-FFF2-40B4-BE49-F238E27FC236}">
                <a16:creationId xmlns:a16="http://schemas.microsoft.com/office/drawing/2014/main" id="{CDDABAA8-F634-C487-61CC-30D1406F6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70" dirty="0"/>
              <a:t> </a:t>
            </a:r>
            <a:r>
              <a:rPr dirty="0"/>
              <a:t>Neuronales</a:t>
            </a:r>
            <a:r>
              <a:rPr spc="-65" dirty="0"/>
              <a:t> </a:t>
            </a:r>
            <a:r>
              <a:rPr spc="-10" dirty="0"/>
              <a:t>Simples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7395209" cy="1235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6197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Función</a:t>
            </a:r>
            <a:r>
              <a:rPr sz="2000" b="1" spc="-5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Costo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Si</a:t>
            </a:r>
            <a:r>
              <a:rPr sz="2000" spc="-3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hay</a:t>
            </a:r>
            <a:r>
              <a:rPr sz="2000" spc="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00AF50"/>
                </a:solidFill>
                <a:latin typeface="Times New Roman"/>
                <a:cs typeface="Times New Roman"/>
              </a:rPr>
              <a:t>K</a:t>
            </a:r>
            <a:r>
              <a:rPr sz="2000" i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clases</a:t>
            </a:r>
            <a:endParaRPr sz="20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 usa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unidades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neuronales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salida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(varias</a:t>
            </a:r>
            <a:r>
              <a:rPr sz="1600" spc="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sigmoideas:</a:t>
            </a:r>
            <a:r>
              <a:rPr sz="16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“softmax”)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3848227"/>
            <a:ext cx="1927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costo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094" y="5045258"/>
            <a:ext cx="7119620" cy="84455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218440" indent="-193040">
              <a:lnSpc>
                <a:spcPct val="100000"/>
              </a:lnSpc>
              <a:spcBef>
                <a:spcPts val="1085"/>
              </a:spcBef>
              <a:buChar char="•"/>
              <a:tabLst>
                <a:tab pos="218440" algn="l"/>
              </a:tabLst>
            </a:pP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Minimización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9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Backpropagation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calcula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 derivadas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respecto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w</a:t>
            </a:r>
            <a:r>
              <a:rPr sz="1800" i="1" baseline="-20833" dirty="0">
                <a:latin typeface="Times New Roman"/>
                <a:cs typeface="Times New Roman"/>
              </a:rPr>
              <a:t>i</a:t>
            </a:r>
            <a:r>
              <a:rPr sz="1800" i="1" spc="322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y </a:t>
            </a:r>
            <a:r>
              <a:rPr sz="1800" i="1" spc="-25" dirty="0">
                <a:latin typeface="Times New Roman"/>
                <a:cs typeface="Times New Roman"/>
              </a:rPr>
              <a:t>b</a:t>
            </a:r>
            <a:r>
              <a:rPr sz="1800" i="1" spc="-37" baseline="-20833" dirty="0">
                <a:latin typeface="Times New Roman"/>
                <a:cs typeface="Times New Roman"/>
              </a:rPr>
              <a:t>i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802" y="5962301"/>
            <a:ext cx="658749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“gradient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descent”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encontrar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w</a:t>
            </a:r>
            <a:r>
              <a:rPr sz="1800" i="1" baseline="-20833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b</a:t>
            </a:r>
            <a:r>
              <a:rPr sz="1800" i="1" baseline="-20833" dirty="0">
                <a:latin typeface="Times New Roman"/>
                <a:cs typeface="Times New Roman"/>
              </a:rPr>
              <a:t>i</a:t>
            </a:r>
            <a:r>
              <a:rPr sz="1800" i="1" spc="277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óptimos: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w</a:t>
            </a:r>
            <a:r>
              <a:rPr sz="1650" i="1" baseline="-20202" dirty="0">
                <a:latin typeface="Times New Roman"/>
                <a:cs typeface="Times New Roman"/>
              </a:rPr>
              <a:t>i</a:t>
            </a:r>
            <a:r>
              <a:rPr sz="1650" i="1" spc="585" baseline="-20202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Symbol"/>
                <a:cs typeface="Symbol"/>
              </a:rPr>
              <a:t></a:t>
            </a:r>
            <a:r>
              <a:rPr sz="2850" spc="-7" baseline="2923" dirty="0">
                <a:latin typeface="Times New Roman"/>
                <a:cs typeface="Times New Roman"/>
              </a:rPr>
              <a:t> </a:t>
            </a:r>
            <a:r>
              <a:rPr sz="2850" i="1" spc="-37" baseline="2923" dirty="0">
                <a:latin typeface="Times New Roman"/>
                <a:cs typeface="Times New Roman"/>
              </a:rPr>
              <a:t>w</a:t>
            </a:r>
            <a:r>
              <a:rPr sz="1650" i="1" spc="-37" baseline="-20202" dirty="0">
                <a:latin typeface="Times New Roman"/>
                <a:cs typeface="Times New Roman"/>
              </a:rPr>
              <a:t>i</a:t>
            </a:r>
            <a:endParaRPr sz="1650" baseline="-20202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091" y="4250014"/>
            <a:ext cx="6414013" cy="6206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622619" y="6145762"/>
            <a:ext cx="356870" cy="0"/>
          </a:xfrm>
          <a:custGeom>
            <a:avLst/>
            <a:gdLst/>
            <a:ahLst/>
            <a:cxnLst/>
            <a:rect l="l" t="t" r="r" b="b"/>
            <a:pathLst>
              <a:path w="356870">
                <a:moveTo>
                  <a:pt x="0" y="0"/>
                </a:moveTo>
                <a:lnTo>
                  <a:pt x="356508" y="0"/>
                </a:lnTo>
              </a:path>
            </a:pathLst>
          </a:custGeom>
          <a:ln w="121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60224" y="5793811"/>
            <a:ext cx="252729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25" dirty="0">
                <a:latin typeface="Symbol"/>
                <a:cs typeface="Symbol"/>
              </a:rPr>
              <a:t></a:t>
            </a:r>
            <a:r>
              <a:rPr sz="1900" i="1" spc="-25" dirty="0">
                <a:latin typeface="Times New Roman"/>
                <a:cs typeface="Times New Roman"/>
              </a:rPr>
              <a:t>J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35620" y="5935179"/>
            <a:ext cx="41910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25" dirty="0">
                <a:latin typeface="Symbol"/>
                <a:cs typeface="Symbol"/>
              </a:rPr>
              <a:t></a:t>
            </a:r>
            <a:r>
              <a:rPr sz="2050" spc="-25" dirty="0">
                <a:latin typeface="Symbol"/>
                <a:cs typeface="Symbol"/>
              </a:rPr>
              <a:t>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95974" y="6140078"/>
            <a:ext cx="38227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900" spc="-25" dirty="0">
                <a:latin typeface="Symbol"/>
                <a:cs typeface="Symbol"/>
              </a:rPr>
              <a:t></a:t>
            </a:r>
            <a:r>
              <a:rPr sz="1900" i="1" spc="-25" dirty="0">
                <a:latin typeface="Times New Roman"/>
                <a:cs typeface="Times New Roman"/>
              </a:rPr>
              <a:t>w</a:t>
            </a:r>
            <a:r>
              <a:rPr sz="1650" i="1" spc="-37" baseline="-25252" dirty="0">
                <a:latin typeface="Times New Roman"/>
                <a:cs typeface="Times New Roman"/>
              </a:rPr>
              <a:t>i</a:t>
            </a:r>
            <a:endParaRPr sz="1650" baseline="-25252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5557392" y="3203829"/>
                <a:ext cx="1045210" cy="226985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400" i="1" spc="-1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400" b="0" i="1" spc="-1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PE" sz="1400" b="0" i="1" spc="-1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E" sz="1400" dirty="0">
                    <a:latin typeface="Cambria Math"/>
                    <a:cs typeface="Cambria Math"/>
                  </a:rPr>
                  <a:t>=</a:t>
                </a:r>
                <a:r>
                  <a:rPr sz="1400" spc="95" dirty="0">
                    <a:latin typeface="Cambria Math"/>
                    <a:cs typeface="Cambria Math"/>
                  </a:rPr>
                  <a:t> </a:t>
                </a:r>
                <a:r>
                  <a:rPr sz="1400" dirty="0">
                    <a:latin typeface="Cambria Math"/>
                    <a:cs typeface="Cambria Math"/>
                  </a:rPr>
                  <a:t>𝒂</a:t>
                </a:r>
                <a:r>
                  <a:rPr sz="1500" baseline="27777" dirty="0">
                    <a:latin typeface="Cambria Math"/>
                    <a:cs typeface="Cambria Math"/>
                  </a:rPr>
                  <a:t>[2]</a:t>
                </a:r>
                <a:r>
                  <a:rPr sz="1500" spc="375" baseline="27777" dirty="0">
                    <a:latin typeface="Cambria Math"/>
                    <a:cs typeface="Cambria Math"/>
                  </a:rPr>
                  <a:t> </a:t>
                </a:r>
                <a:r>
                  <a:rPr sz="1400" dirty="0">
                    <a:latin typeface="Cambria Math"/>
                    <a:cs typeface="Cambria Math"/>
                  </a:rPr>
                  <a:t>=</a:t>
                </a:r>
                <a:r>
                  <a:rPr sz="1400" spc="95" dirty="0">
                    <a:latin typeface="Cambria Math"/>
                    <a:cs typeface="Cambria Math"/>
                  </a:rPr>
                  <a:t> </a:t>
                </a:r>
                <a:r>
                  <a:rPr sz="1400" spc="-50" dirty="0">
                    <a:latin typeface="Cambria Math"/>
                    <a:cs typeface="Cambria Math"/>
                  </a:rPr>
                  <a:t>𝒉</a:t>
                </a:r>
                <a:endParaRPr sz="1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392" y="3203829"/>
                <a:ext cx="1045210" cy="226985"/>
              </a:xfrm>
              <a:prstGeom prst="rect">
                <a:avLst/>
              </a:prstGeom>
              <a:blipFill>
                <a:blip r:embed="rId3"/>
                <a:stretch>
                  <a:fillRect l="-2924" t="-24324" r="-4678" b="-4324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 txBox="1"/>
          <p:nvPr/>
        </p:nvSpPr>
        <p:spPr>
          <a:xfrm>
            <a:off x="6552438" y="3289173"/>
            <a:ext cx="13017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30" dirty="0">
                <a:latin typeface="Cambria Math"/>
                <a:cs typeface="Cambria Math"/>
              </a:rPr>
              <a:t>𝑤</a:t>
            </a:r>
            <a:endParaRPr sz="1000">
              <a:latin typeface="Cambria Math"/>
              <a:cs typeface="Cambria Math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94423" y="3257930"/>
            <a:ext cx="216026" cy="16370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741668" y="3203829"/>
            <a:ext cx="38608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Cambria Math"/>
                <a:cs typeface="Cambria Math"/>
              </a:rPr>
              <a:t>𝒙</a:t>
            </a:r>
            <a:r>
              <a:rPr sz="1400" spc="180" dirty="0">
                <a:latin typeface="Cambria Math"/>
                <a:cs typeface="Cambria Math"/>
              </a:rPr>
              <a:t>  </a:t>
            </a:r>
            <a:r>
              <a:rPr sz="1400" spc="-50" dirty="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953756" y="2962909"/>
            <a:ext cx="51435" cy="755650"/>
          </a:xfrm>
          <a:custGeom>
            <a:avLst/>
            <a:gdLst/>
            <a:ahLst/>
            <a:cxnLst/>
            <a:rect l="l" t="t" r="r" b="b"/>
            <a:pathLst>
              <a:path w="51434" h="755650">
                <a:moveTo>
                  <a:pt x="50927" y="0"/>
                </a:moveTo>
                <a:lnTo>
                  <a:pt x="0" y="0"/>
                </a:lnTo>
                <a:lnTo>
                  <a:pt x="0" y="10160"/>
                </a:lnTo>
                <a:lnTo>
                  <a:pt x="32004" y="10160"/>
                </a:lnTo>
                <a:lnTo>
                  <a:pt x="32004" y="746760"/>
                </a:lnTo>
                <a:lnTo>
                  <a:pt x="0" y="746760"/>
                </a:lnTo>
                <a:lnTo>
                  <a:pt x="0" y="755650"/>
                </a:lnTo>
                <a:lnTo>
                  <a:pt x="50927" y="755650"/>
                </a:lnTo>
                <a:lnTo>
                  <a:pt x="50927" y="746760"/>
                </a:lnTo>
                <a:lnTo>
                  <a:pt x="50927" y="10160"/>
                </a:lnTo>
                <a:lnTo>
                  <a:pt x="509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83247" y="2962909"/>
            <a:ext cx="51435" cy="755650"/>
          </a:xfrm>
          <a:custGeom>
            <a:avLst/>
            <a:gdLst/>
            <a:ahLst/>
            <a:cxnLst/>
            <a:rect l="l" t="t" r="r" b="b"/>
            <a:pathLst>
              <a:path w="51434" h="755650">
                <a:moveTo>
                  <a:pt x="50927" y="0"/>
                </a:moveTo>
                <a:lnTo>
                  <a:pt x="0" y="0"/>
                </a:lnTo>
                <a:lnTo>
                  <a:pt x="0" y="10160"/>
                </a:lnTo>
                <a:lnTo>
                  <a:pt x="0" y="746760"/>
                </a:lnTo>
                <a:lnTo>
                  <a:pt x="0" y="755650"/>
                </a:lnTo>
                <a:lnTo>
                  <a:pt x="50927" y="755650"/>
                </a:lnTo>
                <a:lnTo>
                  <a:pt x="50927" y="746760"/>
                </a:lnTo>
                <a:lnTo>
                  <a:pt x="18923" y="746760"/>
                </a:lnTo>
                <a:lnTo>
                  <a:pt x="18923" y="10160"/>
                </a:lnTo>
                <a:lnTo>
                  <a:pt x="50927" y="10160"/>
                </a:lnTo>
                <a:lnTo>
                  <a:pt x="509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200900" y="2877134"/>
            <a:ext cx="778510" cy="87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Cambria Math"/>
                <a:cs typeface="Cambria Math"/>
              </a:rPr>
              <a:t>(ℎ</a:t>
            </a:r>
            <a:r>
              <a:rPr sz="1500" spc="-15" baseline="-16666" dirty="0">
                <a:latin typeface="Cambria Math"/>
                <a:cs typeface="Cambria Math"/>
              </a:rPr>
              <a:t>𝑤</a:t>
            </a:r>
            <a:r>
              <a:rPr sz="1400" spc="-10" dirty="0">
                <a:latin typeface="Cambria Math"/>
                <a:cs typeface="Cambria Math"/>
              </a:rPr>
              <a:t>(𝑥))</a:t>
            </a:r>
            <a:r>
              <a:rPr sz="1500" spc="-15" baseline="-16666" dirty="0">
                <a:latin typeface="Cambria Math"/>
                <a:cs typeface="Cambria Math"/>
              </a:rPr>
              <a:t>1</a:t>
            </a:r>
            <a:endParaRPr sz="1500" baseline="-16666">
              <a:latin typeface="Cambria Math"/>
              <a:cs typeface="Cambria Math"/>
            </a:endParaRPr>
          </a:p>
          <a:p>
            <a:pPr marL="5715" algn="ctr">
              <a:lnSpc>
                <a:spcPts val="1670"/>
              </a:lnSpc>
              <a:spcBef>
                <a:spcPts val="50"/>
              </a:spcBef>
            </a:pPr>
            <a:r>
              <a:rPr sz="1400" spc="-10" dirty="0">
                <a:latin typeface="Cambria Math"/>
                <a:cs typeface="Cambria Math"/>
              </a:rPr>
              <a:t>(ℎ</a:t>
            </a:r>
            <a:r>
              <a:rPr sz="1500" spc="-15" baseline="-16666" dirty="0">
                <a:latin typeface="Cambria Math"/>
                <a:cs typeface="Cambria Math"/>
              </a:rPr>
              <a:t>𝑤</a:t>
            </a:r>
            <a:r>
              <a:rPr sz="1400" spc="-10" dirty="0">
                <a:latin typeface="Cambria Math"/>
                <a:cs typeface="Cambria Math"/>
              </a:rPr>
              <a:t>(𝑥))</a:t>
            </a:r>
            <a:r>
              <a:rPr sz="1500" spc="-15" baseline="-16666" dirty="0">
                <a:latin typeface="Cambria Math"/>
                <a:cs typeface="Cambria Math"/>
              </a:rPr>
              <a:t>2</a:t>
            </a:r>
            <a:endParaRPr sz="1500" baseline="-16666">
              <a:latin typeface="Cambria Math"/>
              <a:cs typeface="Cambria Math"/>
            </a:endParaRPr>
          </a:p>
          <a:p>
            <a:pPr marL="10795" algn="ctr">
              <a:lnSpc>
                <a:spcPts val="1645"/>
              </a:lnSpc>
            </a:pPr>
            <a:r>
              <a:rPr sz="1400" spc="-50" dirty="0">
                <a:latin typeface="Cambria Math"/>
                <a:cs typeface="Cambria Math"/>
              </a:rPr>
              <a:t>⋮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55"/>
              </a:lnSpc>
            </a:pPr>
            <a:r>
              <a:rPr sz="1400" spc="-10" dirty="0">
                <a:latin typeface="Cambria Math"/>
                <a:cs typeface="Cambria Math"/>
              </a:rPr>
              <a:t>(ℎ</a:t>
            </a:r>
            <a:r>
              <a:rPr sz="1500" spc="-15" baseline="-16666" dirty="0">
                <a:latin typeface="Cambria Math"/>
                <a:cs typeface="Cambria Math"/>
              </a:rPr>
              <a:t>𝑤</a:t>
            </a:r>
            <a:r>
              <a:rPr sz="1400" spc="-10" dirty="0">
                <a:latin typeface="Cambria Math"/>
                <a:cs typeface="Cambria Math"/>
              </a:rPr>
              <a:t>(𝑥))</a:t>
            </a:r>
            <a:r>
              <a:rPr sz="1500" spc="-15" baseline="-16666" dirty="0">
                <a:latin typeface="Cambria Math"/>
                <a:cs typeface="Cambria Math"/>
              </a:rPr>
              <a:t>𝐾</a:t>
            </a:r>
            <a:endParaRPr sz="1500" baseline="-16666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66008" y="2371344"/>
            <a:ext cx="2061210" cy="1264920"/>
            <a:chOff x="3366008" y="2371344"/>
            <a:chExt cx="2061210" cy="126492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3568" y="2642616"/>
              <a:ext cx="182880" cy="1828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63568" y="3182112"/>
              <a:ext cx="182880" cy="18288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63568" y="3453383"/>
              <a:ext cx="182880" cy="1828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3568" y="2371344"/>
              <a:ext cx="182880" cy="1828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3568" y="2913888"/>
              <a:ext cx="182880" cy="18288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366008" y="2460497"/>
              <a:ext cx="806450" cy="1115060"/>
            </a:xfrm>
            <a:custGeom>
              <a:avLst/>
              <a:gdLst/>
              <a:ahLst/>
              <a:cxnLst/>
              <a:rect l="l" t="t" r="r" b="b"/>
              <a:pathLst>
                <a:path w="806450" h="1115060">
                  <a:moveTo>
                    <a:pt x="806323" y="275082"/>
                  </a:moveTo>
                  <a:lnTo>
                    <a:pt x="738619" y="249643"/>
                  </a:lnTo>
                  <a:lnTo>
                    <a:pt x="738619" y="324091"/>
                  </a:lnTo>
                  <a:lnTo>
                    <a:pt x="569747" y="482714"/>
                  </a:lnTo>
                  <a:lnTo>
                    <a:pt x="558647" y="480123"/>
                  </a:lnTo>
                  <a:lnTo>
                    <a:pt x="558647" y="493141"/>
                  </a:lnTo>
                  <a:lnTo>
                    <a:pt x="510489" y="538378"/>
                  </a:lnTo>
                  <a:lnTo>
                    <a:pt x="497014" y="538353"/>
                  </a:lnTo>
                  <a:lnTo>
                    <a:pt x="497014" y="551040"/>
                  </a:lnTo>
                  <a:lnTo>
                    <a:pt x="444893" y="599998"/>
                  </a:lnTo>
                  <a:lnTo>
                    <a:pt x="435292" y="594487"/>
                  </a:lnTo>
                  <a:lnTo>
                    <a:pt x="435292" y="609015"/>
                  </a:lnTo>
                  <a:lnTo>
                    <a:pt x="376783" y="663968"/>
                  </a:lnTo>
                  <a:lnTo>
                    <a:pt x="366382" y="660425"/>
                  </a:lnTo>
                  <a:lnTo>
                    <a:pt x="366382" y="673735"/>
                  </a:lnTo>
                  <a:lnTo>
                    <a:pt x="365925" y="674179"/>
                  </a:lnTo>
                  <a:lnTo>
                    <a:pt x="364896" y="673227"/>
                  </a:lnTo>
                  <a:lnTo>
                    <a:pt x="366382" y="673735"/>
                  </a:lnTo>
                  <a:lnTo>
                    <a:pt x="366382" y="660425"/>
                  </a:lnTo>
                  <a:lnTo>
                    <a:pt x="356603" y="657085"/>
                  </a:lnTo>
                  <a:lnTo>
                    <a:pt x="356603" y="682929"/>
                  </a:lnTo>
                  <a:lnTo>
                    <a:pt x="299389" y="736663"/>
                  </a:lnTo>
                  <a:lnTo>
                    <a:pt x="289941" y="730250"/>
                  </a:lnTo>
                  <a:lnTo>
                    <a:pt x="289941" y="745540"/>
                  </a:lnTo>
                  <a:lnTo>
                    <a:pt x="94310" y="929297"/>
                  </a:lnTo>
                  <a:lnTo>
                    <a:pt x="254939" y="721741"/>
                  </a:lnTo>
                  <a:lnTo>
                    <a:pt x="289941" y="745540"/>
                  </a:lnTo>
                  <a:lnTo>
                    <a:pt x="289941" y="730250"/>
                  </a:lnTo>
                  <a:lnTo>
                    <a:pt x="262699" y="711720"/>
                  </a:lnTo>
                  <a:lnTo>
                    <a:pt x="307606" y="653694"/>
                  </a:lnTo>
                  <a:lnTo>
                    <a:pt x="334721" y="662927"/>
                  </a:lnTo>
                  <a:lnTo>
                    <a:pt x="356603" y="682929"/>
                  </a:lnTo>
                  <a:lnTo>
                    <a:pt x="356603" y="657085"/>
                  </a:lnTo>
                  <a:lnTo>
                    <a:pt x="341604" y="651954"/>
                  </a:lnTo>
                  <a:lnTo>
                    <a:pt x="322465" y="634492"/>
                  </a:lnTo>
                  <a:lnTo>
                    <a:pt x="370827" y="572008"/>
                  </a:lnTo>
                  <a:lnTo>
                    <a:pt x="435292" y="609015"/>
                  </a:lnTo>
                  <a:lnTo>
                    <a:pt x="435292" y="594487"/>
                  </a:lnTo>
                  <a:lnTo>
                    <a:pt x="378612" y="561936"/>
                  </a:lnTo>
                  <a:lnTo>
                    <a:pt x="387299" y="550722"/>
                  </a:lnTo>
                  <a:lnTo>
                    <a:pt x="497014" y="551040"/>
                  </a:lnTo>
                  <a:lnTo>
                    <a:pt x="497014" y="538353"/>
                  </a:lnTo>
                  <a:lnTo>
                    <a:pt x="397090" y="538060"/>
                  </a:lnTo>
                  <a:lnTo>
                    <a:pt x="451294" y="468020"/>
                  </a:lnTo>
                  <a:lnTo>
                    <a:pt x="558647" y="493141"/>
                  </a:lnTo>
                  <a:lnTo>
                    <a:pt x="558647" y="480123"/>
                  </a:lnTo>
                  <a:lnTo>
                    <a:pt x="459841" y="456984"/>
                  </a:lnTo>
                  <a:lnTo>
                    <a:pt x="521589" y="377190"/>
                  </a:lnTo>
                  <a:lnTo>
                    <a:pt x="726160" y="307695"/>
                  </a:lnTo>
                  <a:lnTo>
                    <a:pt x="734047" y="316090"/>
                  </a:lnTo>
                  <a:lnTo>
                    <a:pt x="734568" y="320929"/>
                  </a:lnTo>
                  <a:lnTo>
                    <a:pt x="737019" y="319366"/>
                  </a:lnTo>
                  <a:lnTo>
                    <a:pt x="738619" y="324091"/>
                  </a:lnTo>
                  <a:lnTo>
                    <a:pt x="738619" y="249643"/>
                  </a:lnTo>
                  <a:lnTo>
                    <a:pt x="726567" y="245110"/>
                  </a:lnTo>
                  <a:lnTo>
                    <a:pt x="728649" y="264985"/>
                  </a:lnTo>
                  <a:lnTo>
                    <a:pt x="728243" y="264934"/>
                  </a:lnTo>
                  <a:lnTo>
                    <a:pt x="728243" y="293522"/>
                  </a:lnTo>
                  <a:lnTo>
                    <a:pt x="535711" y="358940"/>
                  </a:lnTo>
                  <a:lnTo>
                    <a:pt x="577100" y="305460"/>
                  </a:lnTo>
                  <a:lnTo>
                    <a:pt x="726973" y="289801"/>
                  </a:lnTo>
                  <a:lnTo>
                    <a:pt x="728243" y="293522"/>
                  </a:lnTo>
                  <a:lnTo>
                    <a:pt x="728243" y="264934"/>
                  </a:lnTo>
                  <a:lnTo>
                    <a:pt x="718058" y="263525"/>
                  </a:lnTo>
                  <a:lnTo>
                    <a:pt x="722769" y="277418"/>
                  </a:lnTo>
                  <a:lnTo>
                    <a:pt x="587870" y="291528"/>
                  </a:lnTo>
                  <a:lnTo>
                    <a:pt x="757135" y="72821"/>
                  </a:lnTo>
                  <a:lnTo>
                    <a:pt x="760730" y="78105"/>
                  </a:lnTo>
                  <a:lnTo>
                    <a:pt x="762825" y="74371"/>
                  </a:lnTo>
                  <a:lnTo>
                    <a:pt x="783590" y="90424"/>
                  </a:lnTo>
                  <a:lnTo>
                    <a:pt x="790930" y="53213"/>
                  </a:lnTo>
                  <a:lnTo>
                    <a:pt x="799198" y="11391"/>
                  </a:lnTo>
                  <a:lnTo>
                    <a:pt x="805434" y="3810"/>
                  </a:lnTo>
                  <a:lnTo>
                    <a:pt x="748499" y="1270"/>
                  </a:lnTo>
                  <a:lnTo>
                    <a:pt x="748499" y="63271"/>
                  </a:lnTo>
                  <a:lnTo>
                    <a:pt x="570407" y="293357"/>
                  </a:lnTo>
                  <a:lnTo>
                    <a:pt x="559625" y="294487"/>
                  </a:lnTo>
                  <a:lnTo>
                    <a:pt x="559625" y="307276"/>
                  </a:lnTo>
                  <a:lnTo>
                    <a:pt x="513918" y="366344"/>
                  </a:lnTo>
                  <a:lnTo>
                    <a:pt x="499783" y="371157"/>
                  </a:lnTo>
                  <a:lnTo>
                    <a:pt x="499783" y="384594"/>
                  </a:lnTo>
                  <a:lnTo>
                    <a:pt x="446227" y="453796"/>
                  </a:lnTo>
                  <a:lnTo>
                    <a:pt x="437680" y="451802"/>
                  </a:lnTo>
                  <a:lnTo>
                    <a:pt x="437680" y="464832"/>
                  </a:lnTo>
                  <a:lnTo>
                    <a:pt x="381038" y="538010"/>
                  </a:lnTo>
                  <a:lnTo>
                    <a:pt x="371233" y="537984"/>
                  </a:lnTo>
                  <a:lnTo>
                    <a:pt x="371233" y="550672"/>
                  </a:lnTo>
                  <a:lnTo>
                    <a:pt x="367461" y="555548"/>
                  </a:lnTo>
                  <a:lnTo>
                    <a:pt x="359676" y="551065"/>
                  </a:lnTo>
                  <a:lnTo>
                    <a:pt x="359676" y="565607"/>
                  </a:lnTo>
                  <a:lnTo>
                    <a:pt x="313029" y="625868"/>
                  </a:lnTo>
                  <a:lnTo>
                    <a:pt x="305206" y="618731"/>
                  </a:lnTo>
                  <a:lnTo>
                    <a:pt x="305206" y="635977"/>
                  </a:lnTo>
                  <a:lnTo>
                    <a:pt x="303022" y="638797"/>
                  </a:lnTo>
                  <a:lnTo>
                    <a:pt x="294868" y="636028"/>
                  </a:lnTo>
                  <a:lnTo>
                    <a:pt x="294868" y="649338"/>
                  </a:lnTo>
                  <a:lnTo>
                    <a:pt x="252133" y="704545"/>
                  </a:lnTo>
                  <a:lnTo>
                    <a:pt x="45783" y="564375"/>
                  </a:lnTo>
                  <a:lnTo>
                    <a:pt x="294868" y="649338"/>
                  </a:lnTo>
                  <a:lnTo>
                    <a:pt x="294868" y="636028"/>
                  </a:lnTo>
                  <a:lnTo>
                    <a:pt x="41948" y="549757"/>
                  </a:lnTo>
                  <a:lnTo>
                    <a:pt x="211315" y="550227"/>
                  </a:lnTo>
                  <a:lnTo>
                    <a:pt x="305206" y="635977"/>
                  </a:lnTo>
                  <a:lnTo>
                    <a:pt x="305206" y="618731"/>
                  </a:lnTo>
                  <a:lnTo>
                    <a:pt x="230263" y="550278"/>
                  </a:lnTo>
                  <a:lnTo>
                    <a:pt x="333489" y="550570"/>
                  </a:lnTo>
                  <a:lnTo>
                    <a:pt x="359676" y="565607"/>
                  </a:lnTo>
                  <a:lnTo>
                    <a:pt x="359676" y="551065"/>
                  </a:lnTo>
                  <a:lnTo>
                    <a:pt x="358927" y="550633"/>
                  </a:lnTo>
                  <a:lnTo>
                    <a:pt x="371233" y="550672"/>
                  </a:lnTo>
                  <a:lnTo>
                    <a:pt x="371233" y="537984"/>
                  </a:lnTo>
                  <a:lnTo>
                    <a:pt x="336702" y="537883"/>
                  </a:lnTo>
                  <a:lnTo>
                    <a:pt x="311264" y="523290"/>
                  </a:lnTo>
                  <a:lnTo>
                    <a:pt x="311264" y="537806"/>
                  </a:lnTo>
                  <a:lnTo>
                    <a:pt x="216319" y="537540"/>
                  </a:lnTo>
                  <a:lnTo>
                    <a:pt x="197370" y="520242"/>
                  </a:lnTo>
                  <a:lnTo>
                    <a:pt x="197370" y="537489"/>
                  </a:lnTo>
                  <a:lnTo>
                    <a:pt x="50863" y="537095"/>
                  </a:lnTo>
                  <a:lnTo>
                    <a:pt x="157327" y="500926"/>
                  </a:lnTo>
                  <a:lnTo>
                    <a:pt x="197370" y="537489"/>
                  </a:lnTo>
                  <a:lnTo>
                    <a:pt x="197370" y="520242"/>
                  </a:lnTo>
                  <a:lnTo>
                    <a:pt x="171094" y="496252"/>
                  </a:lnTo>
                  <a:lnTo>
                    <a:pt x="213652" y="481787"/>
                  </a:lnTo>
                  <a:lnTo>
                    <a:pt x="311264" y="537806"/>
                  </a:lnTo>
                  <a:lnTo>
                    <a:pt x="311264" y="523290"/>
                  </a:lnTo>
                  <a:lnTo>
                    <a:pt x="229577" y="476389"/>
                  </a:lnTo>
                  <a:lnTo>
                    <a:pt x="334594" y="440702"/>
                  </a:lnTo>
                  <a:lnTo>
                    <a:pt x="437680" y="464832"/>
                  </a:lnTo>
                  <a:lnTo>
                    <a:pt x="437680" y="451802"/>
                  </a:lnTo>
                  <a:lnTo>
                    <a:pt x="357352" y="432981"/>
                  </a:lnTo>
                  <a:lnTo>
                    <a:pt x="499783" y="384594"/>
                  </a:lnTo>
                  <a:lnTo>
                    <a:pt x="499783" y="371157"/>
                  </a:lnTo>
                  <a:lnTo>
                    <a:pt x="333908" y="427494"/>
                  </a:lnTo>
                  <a:lnTo>
                    <a:pt x="311150" y="422173"/>
                  </a:lnTo>
                  <a:lnTo>
                    <a:pt x="311150" y="435216"/>
                  </a:lnTo>
                  <a:lnTo>
                    <a:pt x="214858" y="467931"/>
                  </a:lnTo>
                  <a:lnTo>
                    <a:pt x="198932" y="458787"/>
                  </a:lnTo>
                  <a:lnTo>
                    <a:pt x="198932" y="473341"/>
                  </a:lnTo>
                  <a:lnTo>
                    <a:pt x="160362" y="486448"/>
                  </a:lnTo>
                  <a:lnTo>
                    <a:pt x="146596" y="473875"/>
                  </a:lnTo>
                  <a:lnTo>
                    <a:pt x="146596" y="491121"/>
                  </a:lnTo>
                  <a:lnTo>
                    <a:pt x="40208" y="527265"/>
                  </a:lnTo>
                  <a:lnTo>
                    <a:pt x="124053" y="470522"/>
                  </a:lnTo>
                  <a:lnTo>
                    <a:pt x="146596" y="491121"/>
                  </a:lnTo>
                  <a:lnTo>
                    <a:pt x="146596" y="473875"/>
                  </a:lnTo>
                  <a:lnTo>
                    <a:pt x="134912" y="463181"/>
                  </a:lnTo>
                  <a:lnTo>
                    <a:pt x="156184" y="448792"/>
                  </a:lnTo>
                  <a:lnTo>
                    <a:pt x="198932" y="473341"/>
                  </a:lnTo>
                  <a:lnTo>
                    <a:pt x="198932" y="458787"/>
                  </a:lnTo>
                  <a:lnTo>
                    <a:pt x="167817" y="440918"/>
                  </a:lnTo>
                  <a:lnTo>
                    <a:pt x="210921" y="411759"/>
                  </a:lnTo>
                  <a:lnTo>
                    <a:pt x="311150" y="435216"/>
                  </a:lnTo>
                  <a:lnTo>
                    <a:pt x="311150" y="422173"/>
                  </a:lnTo>
                  <a:lnTo>
                    <a:pt x="225259" y="402043"/>
                  </a:lnTo>
                  <a:lnTo>
                    <a:pt x="329869" y="331266"/>
                  </a:lnTo>
                  <a:lnTo>
                    <a:pt x="559625" y="307276"/>
                  </a:lnTo>
                  <a:lnTo>
                    <a:pt x="559625" y="294487"/>
                  </a:lnTo>
                  <a:lnTo>
                    <a:pt x="352171" y="316179"/>
                  </a:lnTo>
                  <a:lnTo>
                    <a:pt x="737971" y="55130"/>
                  </a:lnTo>
                  <a:lnTo>
                    <a:pt x="748499" y="63271"/>
                  </a:lnTo>
                  <a:lnTo>
                    <a:pt x="748499" y="1270"/>
                  </a:lnTo>
                  <a:lnTo>
                    <a:pt x="720344" y="0"/>
                  </a:lnTo>
                  <a:lnTo>
                    <a:pt x="726503" y="13855"/>
                  </a:lnTo>
                  <a:lnTo>
                    <a:pt x="717931" y="14986"/>
                  </a:lnTo>
                  <a:lnTo>
                    <a:pt x="728802" y="31038"/>
                  </a:lnTo>
                  <a:lnTo>
                    <a:pt x="727392" y="31673"/>
                  </a:lnTo>
                  <a:lnTo>
                    <a:pt x="727392" y="46926"/>
                  </a:lnTo>
                  <a:lnTo>
                    <a:pt x="325335" y="318985"/>
                  </a:lnTo>
                  <a:lnTo>
                    <a:pt x="303034" y="321322"/>
                  </a:lnTo>
                  <a:lnTo>
                    <a:pt x="303034" y="334060"/>
                  </a:lnTo>
                  <a:lnTo>
                    <a:pt x="208407" y="398106"/>
                  </a:lnTo>
                  <a:lnTo>
                    <a:pt x="194056" y="394754"/>
                  </a:lnTo>
                  <a:lnTo>
                    <a:pt x="194056" y="407809"/>
                  </a:lnTo>
                  <a:lnTo>
                    <a:pt x="155536" y="433870"/>
                  </a:lnTo>
                  <a:lnTo>
                    <a:pt x="143903" y="427202"/>
                  </a:lnTo>
                  <a:lnTo>
                    <a:pt x="143903" y="441744"/>
                  </a:lnTo>
                  <a:lnTo>
                    <a:pt x="125260" y="454355"/>
                  </a:lnTo>
                  <a:lnTo>
                    <a:pt x="56527" y="391579"/>
                  </a:lnTo>
                  <a:lnTo>
                    <a:pt x="143903" y="441744"/>
                  </a:lnTo>
                  <a:lnTo>
                    <a:pt x="143903" y="427202"/>
                  </a:lnTo>
                  <a:lnTo>
                    <a:pt x="52387" y="374650"/>
                  </a:lnTo>
                  <a:lnTo>
                    <a:pt x="194056" y="407809"/>
                  </a:lnTo>
                  <a:lnTo>
                    <a:pt x="194056" y="394754"/>
                  </a:lnTo>
                  <a:lnTo>
                    <a:pt x="48437" y="360641"/>
                  </a:lnTo>
                  <a:lnTo>
                    <a:pt x="303034" y="334060"/>
                  </a:lnTo>
                  <a:lnTo>
                    <a:pt x="303034" y="321322"/>
                  </a:lnTo>
                  <a:lnTo>
                    <a:pt x="48717" y="347903"/>
                  </a:lnTo>
                  <a:lnTo>
                    <a:pt x="726262" y="46050"/>
                  </a:lnTo>
                  <a:lnTo>
                    <a:pt x="727392" y="46926"/>
                  </a:lnTo>
                  <a:lnTo>
                    <a:pt x="727392" y="31673"/>
                  </a:lnTo>
                  <a:lnTo>
                    <a:pt x="9525" y="351523"/>
                  </a:lnTo>
                  <a:lnTo>
                    <a:pt x="8001" y="351155"/>
                  </a:lnTo>
                  <a:lnTo>
                    <a:pt x="7734" y="352310"/>
                  </a:lnTo>
                  <a:lnTo>
                    <a:pt x="4064" y="353949"/>
                  </a:lnTo>
                  <a:lnTo>
                    <a:pt x="6248" y="358952"/>
                  </a:lnTo>
                  <a:lnTo>
                    <a:pt x="5613" y="361772"/>
                  </a:lnTo>
                  <a:lnTo>
                    <a:pt x="5334" y="362077"/>
                  </a:lnTo>
                  <a:lnTo>
                    <a:pt x="5511" y="362242"/>
                  </a:lnTo>
                  <a:lnTo>
                    <a:pt x="5207" y="363601"/>
                  </a:lnTo>
                  <a:lnTo>
                    <a:pt x="7620" y="364172"/>
                  </a:lnTo>
                  <a:lnTo>
                    <a:pt x="114401" y="461708"/>
                  </a:lnTo>
                  <a:lnTo>
                    <a:pt x="0" y="539115"/>
                  </a:lnTo>
                  <a:lnTo>
                    <a:pt x="3187" y="543852"/>
                  </a:lnTo>
                  <a:lnTo>
                    <a:pt x="0" y="548513"/>
                  </a:lnTo>
                  <a:lnTo>
                    <a:pt x="244386" y="714565"/>
                  </a:lnTo>
                  <a:lnTo>
                    <a:pt x="35229" y="984796"/>
                  </a:lnTo>
                  <a:lnTo>
                    <a:pt x="29718" y="989965"/>
                  </a:lnTo>
                  <a:lnTo>
                    <a:pt x="30530" y="990854"/>
                  </a:lnTo>
                  <a:lnTo>
                    <a:pt x="28956" y="992886"/>
                  </a:lnTo>
                  <a:lnTo>
                    <a:pt x="33769" y="996569"/>
                  </a:lnTo>
                  <a:lnTo>
                    <a:pt x="33274" y="1000760"/>
                  </a:lnTo>
                  <a:lnTo>
                    <a:pt x="35013" y="1000975"/>
                  </a:lnTo>
                  <a:lnTo>
                    <a:pt x="35433" y="1002792"/>
                  </a:lnTo>
                  <a:lnTo>
                    <a:pt x="40462" y="1001623"/>
                  </a:lnTo>
                  <a:lnTo>
                    <a:pt x="723722" y="1082954"/>
                  </a:lnTo>
                  <a:lnTo>
                    <a:pt x="719963" y="1114552"/>
                  </a:lnTo>
                  <a:lnTo>
                    <a:pt x="799973" y="1085786"/>
                  </a:lnTo>
                  <a:lnTo>
                    <a:pt x="802386" y="1086104"/>
                  </a:lnTo>
                  <a:lnTo>
                    <a:pt x="800887" y="1083437"/>
                  </a:lnTo>
                  <a:lnTo>
                    <a:pt x="806323" y="1084973"/>
                  </a:lnTo>
                  <a:lnTo>
                    <a:pt x="791654" y="1046861"/>
                  </a:lnTo>
                  <a:lnTo>
                    <a:pt x="775716" y="1005459"/>
                  </a:lnTo>
                  <a:lnTo>
                    <a:pt x="764336" y="1017943"/>
                  </a:lnTo>
                  <a:lnTo>
                    <a:pt x="760857" y="1011682"/>
                  </a:lnTo>
                  <a:lnTo>
                    <a:pt x="751166" y="1025969"/>
                  </a:lnTo>
                  <a:lnTo>
                    <a:pt x="743927" y="1019365"/>
                  </a:lnTo>
                  <a:lnTo>
                    <a:pt x="743927" y="1036650"/>
                  </a:lnTo>
                  <a:lnTo>
                    <a:pt x="743026" y="1037983"/>
                  </a:lnTo>
                  <a:lnTo>
                    <a:pt x="728433" y="1028077"/>
                  </a:lnTo>
                  <a:lnTo>
                    <a:pt x="728433" y="1043444"/>
                  </a:lnTo>
                  <a:lnTo>
                    <a:pt x="726528" y="1059395"/>
                  </a:lnTo>
                  <a:lnTo>
                    <a:pt x="724408" y="1061720"/>
                  </a:lnTo>
                  <a:lnTo>
                    <a:pt x="726186" y="1062240"/>
                  </a:lnTo>
                  <a:lnTo>
                    <a:pt x="726097" y="1062939"/>
                  </a:lnTo>
                  <a:lnTo>
                    <a:pt x="721360" y="1069924"/>
                  </a:lnTo>
                  <a:lnTo>
                    <a:pt x="76949" y="993101"/>
                  </a:lnTo>
                  <a:lnTo>
                    <a:pt x="506552" y="892708"/>
                  </a:lnTo>
                  <a:lnTo>
                    <a:pt x="728433" y="1043444"/>
                  </a:lnTo>
                  <a:lnTo>
                    <a:pt x="728433" y="1028077"/>
                  </a:lnTo>
                  <a:lnTo>
                    <a:pt x="523354" y="888784"/>
                  </a:lnTo>
                  <a:lnTo>
                    <a:pt x="570052" y="877874"/>
                  </a:lnTo>
                  <a:lnTo>
                    <a:pt x="743927" y="1036650"/>
                  </a:lnTo>
                  <a:lnTo>
                    <a:pt x="743927" y="1019365"/>
                  </a:lnTo>
                  <a:lnTo>
                    <a:pt x="585127" y="874344"/>
                  </a:lnTo>
                  <a:lnTo>
                    <a:pt x="727354" y="841108"/>
                  </a:lnTo>
                  <a:lnTo>
                    <a:pt x="734568" y="872109"/>
                  </a:lnTo>
                  <a:lnTo>
                    <a:pt x="790168" y="825881"/>
                  </a:lnTo>
                  <a:lnTo>
                    <a:pt x="800100" y="817626"/>
                  </a:lnTo>
                  <a:lnTo>
                    <a:pt x="795858" y="816622"/>
                  </a:lnTo>
                  <a:lnTo>
                    <a:pt x="802386" y="815721"/>
                  </a:lnTo>
                  <a:lnTo>
                    <a:pt x="801077" y="814400"/>
                  </a:lnTo>
                  <a:lnTo>
                    <a:pt x="806323" y="814705"/>
                  </a:lnTo>
                  <a:lnTo>
                    <a:pt x="788949" y="788543"/>
                  </a:lnTo>
                  <a:lnTo>
                    <a:pt x="759206" y="743712"/>
                  </a:lnTo>
                  <a:lnTo>
                    <a:pt x="748919" y="761593"/>
                  </a:lnTo>
                  <a:lnTo>
                    <a:pt x="742569" y="755142"/>
                  </a:lnTo>
                  <a:lnTo>
                    <a:pt x="738098" y="768299"/>
                  </a:lnTo>
                  <a:lnTo>
                    <a:pt x="733971" y="765937"/>
                  </a:lnTo>
                  <a:lnTo>
                    <a:pt x="733971" y="780415"/>
                  </a:lnTo>
                  <a:lnTo>
                    <a:pt x="732345" y="785215"/>
                  </a:lnTo>
                  <a:lnTo>
                    <a:pt x="728281" y="783831"/>
                  </a:lnTo>
                  <a:lnTo>
                    <a:pt x="728281" y="797166"/>
                  </a:lnTo>
                  <a:lnTo>
                    <a:pt x="728002" y="797979"/>
                  </a:lnTo>
                  <a:lnTo>
                    <a:pt x="726782" y="800087"/>
                  </a:lnTo>
                  <a:lnTo>
                    <a:pt x="717296" y="797814"/>
                  </a:lnTo>
                  <a:lnTo>
                    <a:pt x="721664" y="816648"/>
                  </a:lnTo>
                  <a:lnTo>
                    <a:pt x="718058" y="827278"/>
                  </a:lnTo>
                  <a:lnTo>
                    <a:pt x="723938" y="826477"/>
                  </a:lnTo>
                  <a:lnTo>
                    <a:pt x="724484" y="828776"/>
                  </a:lnTo>
                  <a:lnTo>
                    <a:pt x="573786" y="864006"/>
                  </a:lnTo>
                  <a:lnTo>
                    <a:pt x="558723" y="850252"/>
                  </a:lnTo>
                  <a:lnTo>
                    <a:pt x="558723" y="867524"/>
                  </a:lnTo>
                  <a:lnTo>
                    <a:pt x="509117" y="879119"/>
                  </a:lnTo>
                  <a:lnTo>
                    <a:pt x="492328" y="867727"/>
                  </a:lnTo>
                  <a:lnTo>
                    <a:pt x="492328" y="883043"/>
                  </a:lnTo>
                  <a:lnTo>
                    <a:pt x="70472" y="981633"/>
                  </a:lnTo>
                  <a:lnTo>
                    <a:pt x="374764" y="803173"/>
                  </a:lnTo>
                  <a:lnTo>
                    <a:pt x="492328" y="883043"/>
                  </a:lnTo>
                  <a:lnTo>
                    <a:pt x="492328" y="867727"/>
                  </a:lnTo>
                  <a:lnTo>
                    <a:pt x="386854" y="796074"/>
                  </a:lnTo>
                  <a:lnTo>
                    <a:pt x="443877" y="762635"/>
                  </a:lnTo>
                  <a:lnTo>
                    <a:pt x="558723" y="867524"/>
                  </a:lnTo>
                  <a:lnTo>
                    <a:pt x="558723" y="850252"/>
                  </a:lnTo>
                  <a:lnTo>
                    <a:pt x="455383" y="755878"/>
                  </a:lnTo>
                  <a:lnTo>
                    <a:pt x="511213" y="723138"/>
                  </a:lnTo>
                  <a:lnTo>
                    <a:pt x="728281" y="797166"/>
                  </a:lnTo>
                  <a:lnTo>
                    <a:pt x="728281" y="783831"/>
                  </a:lnTo>
                  <a:lnTo>
                    <a:pt x="525589" y="714705"/>
                  </a:lnTo>
                  <a:lnTo>
                    <a:pt x="572020" y="687476"/>
                  </a:lnTo>
                  <a:lnTo>
                    <a:pt x="733971" y="780415"/>
                  </a:lnTo>
                  <a:lnTo>
                    <a:pt x="733971" y="765937"/>
                  </a:lnTo>
                  <a:lnTo>
                    <a:pt x="584517" y="680148"/>
                  </a:lnTo>
                  <a:lnTo>
                    <a:pt x="737577" y="590372"/>
                  </a:lnTo>
                  <a:lnTo>
                    <a:pt x="753618" y="617728"/>
                  </a:lnTo>
                  <a:lnTo>
                    <a:pt x="782726" y="573024"/>
                  </a:lnTo>
                  <a:lnTo>
                    <a:pt x="799858" y="546722"/>
                  </a:lnTo>
                  <a:lnTo>
                    <a:pt x="802386" y="545465"/>
                  </a:lnTo>
                  <a:lnTo>
                    <a:pt x="801992" y="545274"/>
                  </a:lnTo>
                  <a:lnTo>
                    <a:pt x="805434" y="544449"/>
                  </a:lnTo>
                  <a:lnTo>
                    <a:pt x="795362" y="536067"/>
                  </a:lnTo>
                  <a:lnTo>
                    <a:pt x="740029" y="489966"/>
                  </a:lnTo>
                  <a:lnTo>
                    <a:pt x="734974" y="511492"/>
                  </a:lnTo>
                  <a:lnTo>
                    <a:pt x="726313" y="507111"/>
                  </a:lnTo>
                  <a:lnTo>
                    <a:pt x="726287" y="519353"/>
                  </a:lnTo>
                  <a:lnTo>
                    <a:pt x="726262" y="532358"/>
                  </a:lnTo>
                  <a:lnTo>
                    <a:pt x="726249" y="538962"/>
                  </a:lnTo>
                  <a:lnTo>
                    <a:pt x="726198" y="570966"/>
                  </a:lnTo>
                  <a:lnTo>
                    <a:pt x="726186" y="582409"/>
                  </a:lnTo>
                  <a:lnTo>
                    <a:pt x="571868" y="672884"/>
                  </a:lnTo>
                  <a:lnTo>
                    <a:pt x="559371" y="665721"/>
                  </a:lnTo>
                  <a:lnTo>
                    <a:pt x="559371" y="680224"/>
                  </a:lnTo>
                  <a:lnTo>
                    <a:pt x="509752" y="709307"/>
                  </a:lnTo>
                  <a:lnTo>
                    <a:pt x="495376" y="704405"/>
                  </a:lnTo>
                  <a:lnTo>
                    <a:pt x="495376" y="717740"/>
                  </a:lnTo>
                  <a:lnTo>
                    <a:pt x="445592" y="746937"/>
                  </a:lnTo>
                  <a:lnTo>
                    <a:pt x="434073" y="736422"/>
                  </a:lnTo>
                  <a:lnTo>
                    <a:pt x="434073" y="753681"/>
                  </a:lnTo>
                  <a:lnTo>
                    <a:pt x="375234" y="788174"/>
                  </a:lnTo>
                  <a:lnTo>
                    <a:pt x="363143" y="779970"/>
                  </a:lnTo>
                  <a:lnTo>
                    <a:pt x="363143" y="795274"/>
                  </a:lnTo>
                  <a:lnTo>
                    <a:pt x="76695" y="963218"/>
                  </a:lnTo>
                  <a:lnTo>
                    <a:pt x="300697" y="752856"/>
                  </a:lnTo>
                  <a:lnTo>
                    <a:pt x="363143" y="795274"/>
                  </a:lnTo>
                  <a:lnTo>
                    <a:pt x="363143" y="779970"/>
                  </a:lnTo>
                  <a:lnTo>
                    <a:pt x="310159" y="743978"/>
                  </a:lnTo>
                  <a:lnTo>
                    <a:pt x="366014" y="691515"/>
                  </a:lnTo>
                  <a:lnTo>
                    <a:pt x="434073" y="753681"/>
                  </a:lnTo>
                  <a:lnTo>
                    <a:pt x="434073" y="736422"/>
                  </a:lnTo>
                  <a:lnTo>
                    <a:pt x="375323" y="682764"/>
                  </a:lnTo>
                  <a:lnTo>
                    <a:pt x="379996" y="678383"/>
                  </a:lnTo>
                  <a:lnTo>
                    <a:pt x="495376" y="717740"/>
                  </a:lnTo>
                  <a:lnTo>
                    <a:pt x="495376" y="704405"/>
                  </a:lnTo>
                  <a:lnTo>
                    <a:pt x="390410" y="668604"/>
                  </a:lnTo>
                  <a:lnTo>
                    <a:pt x="446811" y="615632"/>
                  </a:lnTo>
                  <a:lnTo>
                    <a:pt x="559371" y="680224"/>
                  </a:lnTo>
                  <a:lnTo>
                    <a:pt x="559371" y="665721"/>
                  </a:lnTo>
                  <a:lnTo>
                    <a:pt x="456412" y="606615"/>
                  </a:lnTo>
                  <a:lnTo>
                    <a:pt x="515543" y="551091"/>
                  </a:lnTo>
                  <a:lnTo>
                    <a:pt x="721347" y="551662"/>
                  </a:lnTo>
                  <a:lnTo>
                    <a:pt x="715137" y="552069"/>
                  </a:lnTo>
                  <a:lnTo>
                    <a:pt x="726198" y="570966"/>
                  </a:lnTo>
                  <a:lnTo>
                    <a:pt x="726198" y="538962"/>
                  </a:lnTo>
                  <a:lnTo>
                    <a:pt x="529018" y="538429"/>
                  </a:lnTo>
                  <a:lnTo>
                    <a:pt x="573532" y="496633"/>
                  </a:lnTo>
                  <a:lnTo>
                    <a:pt x="726262" y="532358"/>
                  </a:lnTo>
                  <a:lnTo>
                    <a:pt x="726262" y="519353"/>
                  </a:lnTo>
                  <a:lnTo>
                    <a:pt x="584631" y="486206"/>
                  </a:lnTo>
                  <a:lnTo>
                    <a:pt x="748931" y="331901"/>
                  </a:lnTo>
                  <a:lnTo>
                    <a:pt x="770636" y="354965"/>
                  </a:lnTo>
                  <a:lnTo>
                    <a:pt x="785761" y="313944"/>
                  </a:lnTo>
                  <a:lnTo>
                    <a:pt x="798182" y="280276"/>
                  </a:lnTo>
                  <a:lnTo>
                    <a:pt x="805916" y="275336"/>
                  </a:lnTo>
                  <a:lnTo>
                    <a:pt x="806323" y="275082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5568" y="2779776"/>
              <a:ext cx="182880" cy="1828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337050" y="2459100"/>
              <a:ext cx="1090295" cy="1091565"/>
            </a:xfrm>
            <a:custGeom>
              <a:avLst/>
              <a:gdLst/>
              <a:ahLst/>
              <a:cxnLst/>
              <a:rect l="l" t="t" r="r" b="b"/>
              <a:pathLst>
                <a:path w="1090295" h="1091564">
                  <a:moveTo>
                    <a:pt x="594487" y="412877"/>
                  </a:moveTo>
                  <a:lnTo>
                    <a:pt x="577456" y="381889"/>
                  </a:lnTo>
                  <a:lnTo>
                    <a:pt x="553466" y="338201"/>
                  </a:lnTo>
                  <a:lnTo>
                    <a:pt x="535419" y="364286"/>
                  </a:lnTo>
                  <a:lnTo>
                    <a:pt x="531901" y="361861"/>
                  </a:lnTo>
                  <a:lnTo>
                    <a:pt x="528955" y="359410"/>
                  </a:lnTo>
                  <a:lnTo>
                    <a:pt x="528866" y="359765"/>
                  </a:lnTo>
                  <a:lnTo>
                    <a:pt x="8382" y="0"/>
                  </a:lnTo>
                  <a:lnTo>
                    <a:pt x="1270" y="10414"/>
                  </a:lnTo>
                  <a:lnTo>
                    <a:pt x="525754" y="373024"/>
                  </a:lnTo>
                  <a:lnTo>
                    <a:pt x="523900" y="380936"/>
                  </a:lnTo>
                  <a:lnTo>
                    <a:pt x="518007" y="389470"/>
                  </a:lnTo>
                  <a:lnTo>
                    <a:pt x="6223" y="270256"/>
                  </a:lnTo>
                  <a:lnTo>
                    <a:pt x="3429" y="282702"/>
                  </a:lnTo>
                  <a:lnTo>
                    <a:pt x="510197" y="400748"/>
                  </a:lnTo>
                  <a:lnTo>
                    <a:pt x="511022" y="400939"/>
                  </a:lnTo>
                  <a:lnTo>
                    <a:pt x="513689" y="401561"/>
                  </a:lnTo>
                  <a:lnTo>
                    <a:pt x="516318" y="413245"/>
                  </a:lnTo>
                  <a:lnTo>
                    <a:pt x="513626" y="424713"/>
                  </a:lnTo>
                  <a:lnTo>
                    <a:pt x="510032" y="425196"/>
                  </a:lnTo>
                  <a:lnTo>
                    <a:pt x="510590" y="426034"/>
                  </a:lnTo>
                  <a:lnTo>
                    <a:pt x="3429" y="540385"/>
                  </a:lnTo>
                  <a:lnTo>
                    <a:pt x="6223" y="552831"/>
                  </a:lnTo>
                  <a:lnTo>
                    <a:pt x="518337" y="437349"/>
                  </a:lnTo>
                  <a:lnTo>
                    <a:pt x="522312" y="443166"/>
                  </a:lnTo>
                  <a:lnTo>
                    <a:pt x="515620" y="445897"/>
                  </a:lnTo>
                  <a:lnTo>
                    <a:pt x="524573" y="453758"/>
                  </a:lnTo>
                  <a:lnTo>
                    <a:pt x="1270" y="811657"/>
                  </a:lnTo>
                  <a:lnTo>
                    <a:pt x="8382" y="822198"/>
                  </a:lnTo>
                  <a:lnTo>
                    <a:pt x="528332" y="466585"/>
                  </a:lnTo>
                  <a:lnTo>
                    <a:pt x="528574" y="467614"/>
                  </a:lnTo>
                  <a:lnTo>
                    <a:pt x="534682" y="462610"/>
                  </a:lnTo>
                  <a:lnTo>
                    <a:pt x="537044" y="464693"/>
                  </a:lnTo>
                  <a:lnTo>
                    <a:pt x="538924" y="467423"/>
                  </a:lnTo>
                  <a:lnTo>
                    <a:pt x="0" y="1083068"/>
                  </a:lnTo>
                  <a:lnTo>
                    <a:pt x="9652" y="1091438"/>
                  </a:lnTo>
                  <a:lnTo>
                    <a:pt x="546328" y="478231"/>
                  </a:lnTo>
                  <a:lnTo>
                    <a:pt x="553085" y="488061"/>
                  </a:lnTo>
                  <a:lnTo>
                    <a:pt x="556577" y="481787"/>
                  </a:lnTo>
                  <a:lnTo>
                    <a:pt x="572897" y="496062"/>
                  </a:lnTo>
                  <a:lnTo>
                    <a:pt x="583069" y="457200"/>
                  </a:lnTo>
                  <a:lnTo>
                    <a:pt x="594448" y="413778"/>
                  </a:lnTo>
                  <a:lnTo>
                    <a:pt x="594487" y="413639"/>
                  </a:lnTo>
                  <a:lnTo>
                    <a:pt x="594258" y="413588"/>
                  </a:lnTo>
                  <a:lnTo>
                    <a:pt x="593178" y="412699"/>
                  </a:lnTo>
                  <a:lnTo>
                    <a:pt x="594487" y="412877"/>
                  </a:lnTo>
                  <a:close/>
                </a:path>
                <a:path w="1090295" h="1091564">
                  <a:moveTo>
                    <a:pt x="1090168" y="413639"/>
                  </a:moveTo>
                  <a:lnTo>
                    <a:pt x="1077468" y="407289"/>
                  </a:lnTo>
                  <a:lnTo>
                    <a:pt x="1013968" y="375539"/>
                  </a:lnTo>
                  <a:lnTo>
                    <a:pt x="1013968" y="407289"/>
                  </a:lnTo>
                  <a:lnTo>
                    <a:pt x="766826" y="407289"/>
                  </a:lnTo>
                  <a:lnTo>
                    <a:pt x="766826" y="419989"/>
                  </a:lnTo>
                  <a:lnTo>
                    <a:pt x="1013968" y="419989"/>
                  </a:lnTo>
                  <a:lnTo>
                    <a:pt x="1013968" y="451739"/>
                  </a:lnTo>
                  <a:lnTo>
                    <a:pt x="1077468" y="419989"/>
                  </a:lnTo>
                  <a:lnTo>
                    <a:pt x="1090168" y="413639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743069" y="3545839"/>
            <a:ext cx="529590" cy="34544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91440" marR="5080" indent="-79375">
              <a:lnSpc>
                <a:spcPts val="1250"/>
              </a:lnSpc>
              <a:spcBef>
                <a:spcPts val="155"/>
              </a:spcBef>
            </a:pPr>
            <a:r>
              <a:rPr sz="1050" dirty="0">
                <a:latin typeface="Arial MT"/>
                <a:cs typeface="Arial MT"/>
              </a:rPr>
              <a:t>Capa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de </a:t>
            </a:r>
            <a:r>
              <a:rPr sz="1050" spc="-10" dirty="0">
                <a:latin typeface="Arial MT"/>
                <a:cs typeface="Arial MT"/>
              </a:rPr>
              <a:t>salida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80842" y="2643885"/>
            <a:ext cx="193675" cy="3994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>
              <a:lnSpc>
                <a:spcPct val="104400"/>
              </a:lnSpc>
              <a:spcBef>
                <a:spcPts val="35"/>
              </a:spcBef>
            </a:pPr>
            <a:r>
              <a:rPr sz="1200" i="1" spc="-35" dirty="0">
                <a:latin typeface="Times New Roman"/>
                <a:cs typeface="Times New Roman"/>
              </a:rPr>
              <a:t>x</a:t>
            </a:r>
            <a:r>
              <a:rPr sz="1200" spc="-52" baseline="-20833" dirty="0">
                <a:latin typeface="Times New Roman"/>
                <a:cs typeface="Times New Roman"/>
              </a:rPr>
              <a:t>1</a:t>
            </a:r>
            <a:r>
              <a:rPr sz="1200" spc="750" baseline="-20833" dirty="0">
                <a:latin typeface="Times New Roman"/>
                <a:cs typeface="Times New Roman"/>
              </a:rPr>
              <a:t> </a:t>
            </a:r>
            <a:r>
              <a:rPr sz="1200" i="1" spc="-35" dirty="0">
                <a:latin typeface="Times New Roman"/>
                <a:cs typeface="Times New Roman"/>
              </a:rPr>
              <a:t>x</a:t>
            </a:r>
            <a:r>
              <a:rPr sz="1200" spc="-52" baseline="-20833" dirty="0">
                <a:latin typeface="Times New Roman"/>
                <a:cs typeface="Times New Roman"/>
              </a:rPr>
              <a:t>2</a:t>
            </a:r>
            <a:endParaRPr sz="1200" baseline="-20833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47314" y="3344671"/>
            <a:ext cx="194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spc="-25" dirty="0">
                <a:latin typeface="Times New Roman"/>
                <a:cs typeface="Times New Roman"/>
              </a:rPr>
              <a:t>x</a:t>
            </a:r>
            <a:r>
              <a:rPr sz="1200" i="1" spc="-37" baseline="-20833" dirty="0">
                <a:latin typeface="Times New Roman"/>
                <a:cs typeface="Times New Roman"/>
              </a:rPr>
              <a:t>d</a:t>
            </a:r>
            <a:endParaRPr sz="1200" baseline="-20833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336541" y="2334767"/>
            <a:ext cx="1089025" cy="1217930"/>
            <a:chOff x="4336541" y="2334767"/>
            <a:chExt cx="1089025" cy="1217930"/>
          </a:xfrm>
        </p:grpSpPr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32247" y="2334767"/>
              <a:ext cx="393191" cy="14020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25567" y="2520695"/>
              <a:ext cx="182880" cy="18288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19471" y="3267455"/>
              <a:ext cx="182880" cy="18288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336542" y="2460878"/>
              <a:ext cx="1084580" cy="1091565"/>
            </a:xfrm>
            <a:custGeom>
              <a:avLst/>
              <a:gdLst/>
              <a:ahLst/>
              <a:cxnLst/>
              <a:rect l="l" t="t" r="r" b="b"/>
              <a:pathLst>
                <a:path w="1084579" h="1091564">
                  <a:moveTo>
                    <a:pt x="595630" y="152781"/>
                  </a:moveTo>
                  <a:lnTo>
                    <a:pt x="584606" y="143256"/>
                  </a:lnTo>
                  <a:lnTo>
                    <a:pt x="546582" y="110401"/>
                  </a:lnTo>
                  <a:lnTo>
                    <a:pt x="546582" y="217563"/>
                  </a:lnTo>
                  <a:lnTo>
                    <a:pt x="352894" y="524230"/>
                  </a:lnTo>
                  <a:lnTo>
                    <a:pt x="345414" y="512775"/>
                  </a:lnTo>
                  <a:lnTo>
                    <a:pt x="345414" y="536054"/>
                  </a:lnTo>
                  <a:lnTo>
                    <a:pt x="310311" y="591616"/>
                  </a:lnTo>
                  <a:lnTo>
                    <a:pt x="303301" y="584123"/>
                  </a:lnTo>
                  <a:lnTo>
                    <a:pt x="303301" y="602729"/>
                  </a:lnTo>
                  <a:lnTo>
                    <a:pt x="249542" y="687844"/>
                  </a:lnTo>
                  <a:lnTo>
                    <a:pt x="242735" y="683780"/>
                  </a:lnTo>
                  <a:lnTo>
                    <a:pt x="242735" y="698614"/>
                  </a:lnTo>
                  <a:lnTo>
                    <a:pt x="159664" y="830135"/>
                  </a:lnTo>
                  <a:lnTo>
                    <a:pt x="15506" y="809320"/>
                  </a:lnTo>
                  <a:lnTo>
                    <a:pt x="159372" y="648716"/>
                  </a:lnTo>
                  <a:lnTo>
                    <a:pt x="242735" y="698614"/>
                  </a:lnTo>
                  <a:lnTo>
                    <a:pt x="242735" y="683780"/>
                  </a:lnTo>
                  <a:lnTo>
                    <a:pt x="168033" y="639038"/>
                  </a:lnTo>
                  <a:lnTo>
                    <a:pt x="250825" y="546608"/>
                  </a:lnTo>
                  <a:lnTo>
                    <a:pt x="303301" y="602729"/>
                  </a:lnTo>
                  <a:lnTo>
                    <a:pt x="303301" y="584123"/>
                  </a:lnTo>
                  <a:lnTo>
                    <a:pt x="259346" y="537095"/>
                  </a:lnTo>
                  <a:lnTo>
                    <a:pt x="309524" y="481076"/>
                  </a:lnTo>
                  <a:lnTo>
                    <a:pt x="345414" y="536054"/>
                  </a:lnTo>
                  <a:lnTo>
                    <a:pt x="345414" y="512775"/>
                  </a:lnTo>
                  <a:lnTo>
                    <a:pt x="318312" y="471258"/>
                  </a:lnTo>
                  <a:lnTo>
                    <a:pt x="546150" y="216903"/>
                  </a:lnTo>
                  <a:lnTo>
                    <a:pt x="546582" y="217563"/>
                  </a:lnTo>
                  <a:lnTo>
                    <a:pt x="546582" y="110401"/>
                  </a:lnTo>
                  <a:lnTo>
                    <a:pt x="537972" y="102958"/>
                  </a:lnTo>
                  <a:lnTo>
                    <a:pt x="537972" y="206895"/>
                  </a:lnTo>
                  <a:lnTo>
                    <a:pt x="311124" y="460260"/>
                  </a:lnTo>
                  <a:lnTo>
                    <a:pt x="302348" y="446824"/>
                  </a:lnTo>
                  <a:lnTo>
                    <a:pt x="302348" y="470077"/>
                  </a:lnTo>
                  <a:lnTo>
                    <a:pt x="250659" y="527799"/>
                  </a:lnTo>
                  <a:lnTo>
                    <a:pt x="171246" y="442849"/>
                  </a:lnTo>
                  <a:lnTo>
                    <a:pt x="250228" y="390220"/>
                  </a:lnTo>
                  <a:lnTo>
                    <a:pt x="302348" y="470077"/>
                  </a:lnTo>
                  <a:lnTo>
                    <a:pt x="302348" y="446824"/>
                  </a:lnTo>
                  <a:lnTo>
                    <a:pt x="260807" y="383171"/>
                  </a:lnTo>
                  <a:lnTo>
                    <a:pt x="528066" y="205054"/>
                  </a:lnTo>
                  <a:lnTo>
                    <a:pt x="528193" y="205613"/>
                  </a:lnTo>
                  <a:lnTo>
                    <a:pt x="531634" y="202882"/>
                  </a:lnTo>
                  <a:lnTo>
                    <a:pt x="537972" y="206895"/>
                  </a:lnTo>
                  <a:lnTo>
                    <a:pt x="537972" y="102958"/>
                  </a:lnTo>
                  <a:lnTo>
                    <a:pt x="531114" y="97028"/>
                  </a:lnTo>
                  <a:lnTo>
                    <a:pt x="524598" y="122656"/>
                  </a:lnTo>
                  <a:lnTo>
                    <a:pt x="524598" y="192100"/>
                  </a:lnTo>
                  <a:lnTo>
                    <a:pt x="253860" y="372529"/>
                  </a:lnTo>
                  <a:lnTo>
                    <a:pt x="243281" y="356336"/>
                  </a:lnTo>
                  <a:lnTo>
                    <a:pt x="243281" y="379577"/>
                  </a:lnTo>
                  <a:lnTo>
                    <a:pt x="162445" y="433438"/>
                  </a:lnTo>
                  <a:lnTo>
                    <a:pt x="18313" y="279260"/>
                  </a:lnTo>
                  <a:lnTo>
                    <a:pt x="158737" y="250050"/>
                  </a:lnTo>
                  <a:lnTo>
                    <a:pt x="243281" y="379577"/>
                  </a:lnTo>
                  <a:lnTo>
                    <a:pt x="243281" y="356336"/>
                  </a:lnTo>
                  <a:lnTo>
                    <a:pt x="172085" y="247281"/>
                  </a:lnTo>
                  <a:lnTo>
                    <a:pt x="518363" y="175260"/>
                  </a:lnTo>
                  <a:lnTo>
                    <a:pt x="522503" y="181483"/>
                  </a:lnTo>
                  <a:lnTo>
                    <a:pt x="515747" y="184150"/>
                  </a:lnTo>
                  <a:lnTo>
                    <a:pt x="524598" y="192100"/>
                  </a:lnTo>
                  <a:lnTo>
                    <a:pt x="524598" y="122656"/>
                  </a:lnTo>
                  <a:lnTo>
                    <a:pt x="523290" y="127787"/>
                  </a:lnTo>
                  <a:lnTo>
                    <a:pt x="22098" y="381"/>
                  </a:lnTo>
                  <a:lnTo>
                    <a:pt x="19050" y="12573"/>
                  </a:lnTo>
                  <a:lnTo>
                    <a:pt x="514172" y="138607"/>
                  </a:lnTo>
                  <a:lnTo>
                    <a:pt x="517042" y="152349"/>
                  </a:lnTo>
                  <a:lnTo>
                    <a:pt x="514375" y="162839"/>
                  </a:lnTo>
                  <a:lnTo>
                    <a:pt x="510413" y="163322"/>
                  </a:lnTo>
                  <a:lnTo>
                    <a:pt x="510755" y="163855"/>
                  </a:lnTo>
                  <a:lnTo>
                    <a:pt x="164630" y="235851"/>
                  </a:lnTo>
                  <a:lnTo>
                    <a:pt x="10668" y="0"/>
                  </a:lnTo>
                  <a:lnTo>
                    <a:pt x="0" y="6858"/>
                  </a:lnTo>
                  <a:lnTo>
                    <a:pt x="151269" y="238633"/>
                  </a:lnTo>
                  <a:lnTo>
                    <a:pt x="4064" y="269240"/>
                  </a:lnTo>
                  <a:lnTo>
                    <a:pt x="5194" y="274828"/>
                  </a:lnTo>
                  <a:lnTo>
                    <a:pt x="635" y="279019"/>
                  </a:lnTo>
                  <a:lnTo>
                    <a:pt x="151714" y="440601"/>
                  </a:lnTo>
                  <a:lnTo>
                    <a:pt x="1778" y="540512"/>
                  </a:lnTo>
                  <a:lnTo>
                    <a:pt x="8890" y="551053"/>
                  </a:lnTo>
                  <a:lnTo>
                    <a:pt x="160502" y="450011"/>
                  </a:lnTo>
                  <a:lnTo>
                    <a:pt x="242138" y="537324"/>
                  </a:lnTo>
                  <a:lnTo>
                    <a:pt x="156984" y="632421"/>
                  </a:lnTo>
                  <a:lnTo>
                    <a:pt x="23876" y="552704"/>
                  </a:lnTo>
                  <a:lnTo>
                    <a:pt x="17272" y="563626"/>
                  </a:lnTo>
                  <a:lnTo>
                    <a:pt x="148336" y="642099"/>
                  </a:lnTo>
                  <a:lnTo>
                    <a:pt x="3683" y="803656"/>
                  </a:lnTo>
                  <a:lnTo>
                    <a:pt x="8966" y="808380"/>
                  </a:lnTo>
                  <a:lnTo>
                    <a:pt x="6223" y="807974"/>
                  </a:lnTo>
                  <a:lnTo>
                    <a:pt x="4445" y="820420"/>
                  </a:lnTo>
                  <a:lnTo>
                    <a:pt x="152285" y="841819"/>
                  </a:lnTo>
                  <a:lnTo>
                    <a:pt x="0" y="1082941"/>
                  </a:lnTo>
                  <a:lnTo>
                    <a:pt x="5702" y="1086535"/>
                  </a:lnTo>
                  <a:lnTo>
                    <a:pt x="7239" y="1091438"/>
                  </a:lnTo>
                  <a:lnTo>
                    <a:pt x="519099" y="928674"/>
                  </a:lnTo>
                  <a:lnTo>
                    <a:pt x="528701" y="958977"/>
                  </a:lnTo>
                  <a:lnTo>
                    <a:pt x="576211" y="912749"/>
                  </a:lnTo>
                  <a:lnTo>
                    <a:pt x="589597" y="899731"/>
                  </a:lnTo>
                  <a:lnTo>
                    <a:pt x="589788" y="899795"/>
                  </a:lnTo>
                  <a:lnTo>
                    <a:pt x="589724" y="899604"/>
                  </a:lnTo>
                  <a:lnTo>
                    <a:pt x="589648" y="899363"/>
                  </a:lnTo>
                  <a:lnTo>
                    <a:pt x="590423" y="899414"/>
                  </a:lnTo>
                  <a:lnTo>
                    <a:pt x="589737" y="898347"/>
                  </a:lnTo>
                  <a:lnTo>
                    <a:pt x="588556" y="888022"/>
                  </a:lnTo>
                  <a:lnTo>
                    <a:pt x="588556" y="899350"/>
                  </a:lnTo>
                  <a:lnTo>
                    <a:pt x="587971" y="899261"/>
                  </a:lnTo>
                  <a:lnTo>
                    <a:pt x="588327" y="899261"/>
                  </a:lnTo>
                  <a:lnTo>
                    <a:pt x="588556" y="899350"/>
                  </a:lnTo>
                  <a:lnTo>
                    <a:pt x="588556" y="888022"/>
                  </a:lnTo>
                  <a:lnTo>
                    <a:pt x="584111" y="849122"/>
                  </a:lnTo>
                  <a:lnTo>
                    <a:pt x="580136" y="814197"/>
                  </a:lnTo>
                  <a:lnTo>
                    <a:pt x="567016" y="822756"/>
                  </a:lnTo>
                  <a:lnTo>
                    <a:pt x="565658" y="818134"/>
                  </a:lnTo>
                  <a:lnTo>
                    <a:pt x="552678" y="830262"/>
                  </a:lnTo>
                  <a:lnTo>
                    <a:pt x="540385" y="811441"/>
                  </a:lnTo>
                  <a:lnTo>
                    <a:pt x="540385" y="834758"/>
                  </a:lnTo>
                  <a:lnTo>
                    <a:pt x="539292" y="836574"/>
                  </a:lnTo>
                  <a:lnTo>
                    <a:pt x="530999" y="827709"/>
                  </a:lnTo>
                  <a:lnTo>
                    <a:pt x="530999" y="846239"/>
                  </a:lnTo>
                  <a:lnTo>
                    <a:pt x="522871" y="851535"/>
                  </a:lnTo>
                  <a:lnTo>
                    <a:pt x="517499" y="848321"/>
                  </a:lnTo>
                  <a:lnTo>
                    <a:pt x="517499" y="863117"/>
                  </a:lnTo>
                  <a:lnTo>
                    <a:pt x="509905" y="870204"/>
                  </a:lnTo>
                  <a:lnTo>
                    <a:pt x="516661" y="872718"/>
                  </a:lnTo>
                  <a:lnTo>
                    <a:pt x="516331" y="874979"/>
                  </a:lnTo>
                  <a:lnTo>
                    <a:pt x="512673" y="881100"/>
                  </a:lnTo>
                  <a:lnTo>
                    <a:pt x="511860" y="880986"/>
                  </a:lnTo>
                  <a:lnTo>
                    <a:pt x="511860" y="905789"/>
                  </a:lnTo>
                  <a:lnTo>
                    <a:pt x="510044" y="918273"/>
                  </a:lnTo>
                  <a:lnTo>
                    <a:pt x="20713" y="1073759"/>
                  </a:lnTo>
                  <a:lnTo>
                    <a:pt x="165963" y="843788"/>
                  </a:lnTo>
                  <a:lnTo>
                    <a:pt x="505599" y="892924"/>
                  </a:lnTo>
                  <a:lnTo>
                    <a:pt x="505929" y="892975"/>
                  </a:lnTo>
                  <a:lnTo>
                    <a:pt x="507898" y="893267"/>
                  </a:lnTo>
                  <a:lnTo>
                    <a:pt x="511860" y="905789"/>
                  </a:lnTo>
                  <a:lnTo>
                    <a:pt x="511860" y="880986"/>
                  </a:lnTo>
                  <a:lnTo>
                    <a:pt x="173342" y="832104"/>
                  </a:lnTo>
                  <a:lnTo>
                    <a:pt x="253555" y="705104"/>
                  </a:lnTo>
                  <a:lnTo>
                    <a:pt x="517499" y="863117"/>
                  </a:lnTo>
                  <a:lnTo>
                    <a:pt x="517499" y="848321"/>
                  </a:lnTo>
                  <a:lnTo>
                    <a:pt x="260362" y="694334"/>
                  </a:lnTo>
                  <a:lnTo>
                    <a:pt x="312204" y="612254"/>
                  </a:lnTo>
                  <a:lnTo>
                    <a:pt x="530999" y="846239"/>
                  </a:lnTo>
                  <a:lnTo>
                    <a:pt x="530999" y="827709"/>
                  </a:lnTo>
                  <a:lnTo>
                    <a:pt x="319227" y="601141"/>
                  </a:lnTo>
                  <a:lnTo>
                    <a:pt x="352996" y="547674"/>
                  </a:lnTo>
                  <a:lnTo>
                    <a:pt x="540385" y="834758"/>
                  </a:lnTo>
                  <a:lnTo>
                    <a:pt x="540385" y="811441"/>
                  </a:lnTo>
                  <a:lnTo>
                    <a:pt x="360476" y="535838"/>
                  </a:lnTo>
                  <a:lnTo>
                    <a:pt x="558457" y="222389"/>
                  </a:lnTo>
                  <a:lnTo>
                    <a:pt x="572516" y="234950"/>
                  </a:lnTo>
                  <a:lnTo>
                    <a:pt x="573976" y="229603"/>
                  </a:lnTo>
                  <a:lnTo>
                    <a:pt x="586486" y="237490"/>
                  </a:lnTo>
                  <a:lnTo>
                    <a:pt x="589940" y="203073"/>
                  </a:lnTo>
                  <a:lnTo>
                    <a:pt x="594969" y="152946"/>
                  </a:lnTo>
                  <a:lnTo>
                    <a:pt x="595630" y="152781"/>
                  </a:lnTo>
                  <a:close/>
                </a:path>
                <a:path w="1084579" h="1091564">
                  <a:moveTo>
                    <a:pt x="1072388" y="905637"/>
                  </a:moveTo>
                  <a:lnTo>
                    <a:pt x="1059688" y="899287"/>
                  </a:lnTo>
                  <a:lnTo>
                    <a:pt x="996188" y="867537"/>
                  </a:lnTo>
                  <a:lnTo>
                    <a:pt x="996188" y="899287"/>
                  </a:lnTo>
                  <a:lnTo>
                    <a:pt x="749046" y="899287"/>
                  </a:lnTo>
                  <a:lnTo>
                    <a:pt x="749046" y="911987"/>
                  </a:lnTo>
                  <a:lnTo>
                    <a:pt x="996188" y="911987"/>
                  </a:lnTo>
                  <a:lnTo>
                    <a:pt x="996188" y="943737"/>
                  </a:lnTo>
                  <a:lnTo>
                    <a:pt x="1059688" y="911987"/>
                  </a:lnTo>
                  <a:lnTo>
                    <a:pt x="1072388" y="905637"/>
                  </a:lnTo>
                  <a:close/>
                </a:path>
                <a:path w="1084579" h="1091564">
                  <a:moveTo>
                    <a:pt x="1084580" y="152781"/>
                  </a:moveTo>
                  <a:lnTo>
                    <a:pt x="1071880" y="146431"/>
                  </a:lnTo>
                  <a:lnTo>
                    <a:pt x="1008380" y="114681"/>
                  </a:lnTo>
                  <a:lnTo>
                    <a:pt x="1008380" y="146431"/>
                  </a:lnTo>
                  <a:lnTo>
                    <a:pt x="761238" y="146431"/>
                  </a:lnTo>
                  <a:lnTo>
                    <a:pt x="761238" y="159131"/>
                  </a:lnTo>
                  <a:lnTo>
                    <a:pt x="1008380" y="159131"/>
                  </a:lnTo>
                  <a:lnTo>
                    <a:pt x="1008380" y="190881"/>
                  </a:lnTo>
                  <a:lnTo>
                    <a:pt x="1071880" y="159131"/>
                  </a:lnTo>
                  <a:lnTo>
                    <a:pt x="1084580" y="152781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pic>
        <p:nvPicPr>
          <p:cNvPr id="37" name="Picture 4">
            <a:extLst>
              <a:ext uri="{FF2B5EF4-FFF2-40B4-BE49-F238E27FC236}">
                <a16:creationId xmlns:a16="http://schemas.microsoft.com/office/drawing/2014/main" id="{B54202C5-294D-0F7E-2A7C-2D13EE15D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Ingeniería de Sistemas - UNCP">
            <a:extLst>
              <a:ext uri="{FF2B5EF4-FFF2-40B4-BE49-F238E27FC236}">
                <a16:creationId xmlns:a16="http://schemas.microsoft.com/office/drawing/2014/main" id="{F086E458-F87C-ECD9-262F-A93B3AF21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2375" y="6639559"/>
            <a:ext cx="1657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solidFill>
                  <a:srgbClr val="585858"/>
                </a:solidFill>
                <a:latin typeface="Arial MT"/>
                <a:cs typeface="Arial MT"/>
              </a:rPr>
              <a:t>16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70" dirty="0"/>
              <a:t> </a:t>
            </a:r>
            <a:r>
              <a:rPr dirty="0"/>
              <a:t>Neuronales</a:t>
            </a:r>
            <a:r>
              <a:rPr spc="-65" dirty="0"/>
              <a:t> </a:t>
            </a:r>
            <a:r>
              <a:rPr spc="-10" dirty="0"/>
              <a:t>Simples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6816" y="1990344"/>
            <a:ext cx="1831848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6816" y="2346960"/>
            <a:ext cx="1341120" cy="2560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9864" y="2746248"/>
            <a:ext cx="1828800" cy="216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50720" y="3105911"/>
            <a:ext cx="1758695" cy="2590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14272" y="4066032"/>
            <a:ext cx="1389888" cy="2438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53983" y="4867655"/>
            <a:ext cx="618744" cy="24079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6071" y="5273040"/>
            <a:ext cx="786383" cy="24079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72271" y="5684520"/>
            <a:ext cx="609600" cy="2377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86255" y="4489703"/>
            <a:ext cx="1645920" cy="20726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14272" y="4876800"/>
            <a:ext cx="1057655" cy="204216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408175" y="5407152"/>
            <a:ext cx="2679700" cy="953769"/>
            <a:chOff x="1408175" y="5407152"/>
            <a:chExt cx="2679700" cy="953769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08175" y="5407152"/>
              <a:ext cx="2679192" cy="27432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96768" y="5661660"/>
              <a:ext cx="76200" cy="699770"/>
            </a:xfrm>
            <a:custGeom>
              <a:avLst/>
              <a:gdLst/>
              <a:ahLst/>
              <a:cxnLst/>
              <a:rect l="l" t="t" r="r" b="b"/>
              <a:pathLst>
                <a:path w="76200" h="699770">
                  <a:moveTo>
                    <a:pt x="44450" y="63499"/>
                  </a:moveTo>
                  <a:lnTo>
                    <a:pt x="31750" y="63499"/>
                  </a:lnTo>
                  <a:lnTo>
                    <a:pt x="31750" y="699185"/>
                  </a:lnTo>
                  <a:lnTo>
                    <a:pt x="44450" y="699185"/>
                  </a:lnTo>
                  <a:lnTo>
                    <a:pt x="44450" y="63499"/>
                  </a:lnTo>
                  <a:close/>
                </a:path>
                <a:path w="76200" h="699770">
                  <a:moveTo>
                    <a:pt x="38100" y="0"/>
                  </a:moveTo>
                  <a:lnTo>
                    <a:pt x="0" y="76199"/>
                  </a:lnTo>
                  <a:lnTo>
                    <a:pt x="31750" y="76199"/>
                  </a:lnTo>
                  <a:lnTo>
                    <a:pt x="31750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699770">
                  <a:moveTo>
                    <a:pt x="69850" y="63499"/>
                  </a:moveTo>
                  <a:lnTo>
                    <a:pt x="44450" y="63499"/>
                  </a:lnTo>
                  <a:lnTo>
                    <a:pt x="44450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74063" y="5861303"/>
            <a:ext cx="1475232" cy="20726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14272" y="6248400"/>
            <a:ext cx="1057655" cy="20421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69352" y="6044184"/>
            <a:ext cx="1267968" cy="289559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4213859" y="1946148"/>
            <a:ext cx="143510" cy="612775"/>
          </a:xfrm>
          <a:custGeom>
            <a:avLst/>
            <a:gdLst/>
            <a:ahLst/>
            <a:cxnLst/>
            <a:rect l="l" t="t" r="r" b="b"/>
            <a:pathLst>
              <a:path w="143510" h="612775">
                <a:moveTo>
                  <a:pt x="0" y="0"/>
                </a:moveTo>
                <a:lnTo>
                  <a:pt x="27854" y="4413"/>
                </a:lnTo>
                <a:lnTo>
                  <a:pt x="50625" y="16446"/>
                </a:lnTo>
                <a:lnTo>
                  <a:pt x="65990" y="34290"/>
                </a:lnTo>
                <a:lnTo>
                  <a:pt x="71627" y="56134"/>
                </a:lnTo>
                <a:lnTo>
                  <a:pt x="71627" y="250189"/>
                </a:lnTo>
                <a:lnTo>
                  <a:pt x="77265" y="272034"/>
                </a:lnTo>
                <a:lnTo>
                  <a:pt x="92630" y="289877"/>
                </a:lnTo>
                <a:lnTo>
                  <a:pt x="115401" y="301910"/>
                </a:lnTo>
                <a:lnTo>
                  <a:pt x="143255" y="306324"/>
                </a:lnTo>
                <a:lnTo>
                  <a:pt x="115401" y="310737"/>
                </a:lnTo>
                <a:lnTo>
                  <a:pt x="92630" y="322770"/>
                </a:lnTo>
                <a:lnTo>
                  <a:pt x="77265" y="340613"/>
                </a:lnTo>
                <a:lnTo>
                  <a:pt x="71627" y="362457"/>
                </a:lnTo>
                <a:lnTo>
                  <a:pt x="71627" y="556513"/>
                </a:lnTo>
                <a:lnTo>
                  <a:pt x="65990" y="578358"/>
                </a:lnTo>
                <a:lnTo>
                  <a:pt x="50625" y="596201"/>
                </a:lnTo>
                <a:lnTo>
                  <a:pt x="27854" y="608234"/>
                </a:lnTo>
                <a:lnTo>
                  <a:pt x="0" y="612648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7794" y="936751"/>
            <a:ext cx="6781800" cy="1399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6677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Propagación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Propagación</a:t>
            </a:r>
            <a:r>
              <a:rPr sz="20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hacia</a:t>
            </a:r>
            <a:r>
              <a:rPr sz="2000" spc="-4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adelante</a:t>
            </a:r>
            <a:r>
              <a:rPr sz="20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(“predicción”):</a:t>
            </a:r>
            <a:r>
              <a:rPr sz="18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obtiene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predicción</a:t>
            </a:r>
            <a:endParaRPr sz="1600">
              <a:latin typeface="Arial MT"/>
              <a:cs typeface="Arial MT"/>
            </a:endParaRPr>
          </a:p>
          <a:p>
            <a:pPr marL="4084320">
              <a:lnSpc>
                <a:spcPct val="100000"/>
              </a:lnSpc>
              <a:spcBef>
                <a:spcPts val="2215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para</a:t>
            </a:r>
            <a:r>
              <a:rPr sz="1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la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capa</a:t>
            </a:r>
            <a:r>
              <a:rPr sz="1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oculta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(capa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1)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226052" y="2711195"/>
            <a:ext cx="131445" cy="655320"/>
          </a:xfrm>
          <a:custGeom>
            <a:avLst/>
            <a:gdLst/>
            <a:ahLst/>
            <a:cxnLst/>
            <a:rect l="l" t="t" r="r" b="b"/>
            <a:pathLst>
              <a:path w="131445" h="655320">
                <a:moveTo>
                  <a:pt x="0" y="0"/>
                </a:moveTo>
                <a:lnTo>
                  <a:pt x="25509" y="4036"/>
                </a:lnTo>
                <a:lnTo>
                  <a:pt x="46339" y="15049"/>
                </a:lnTo>
                <a:lnTo>
                  <a:pt x="60382" y="31396"/>
                </a:lnTo>
                <a:lnTo>
                  <a:pt x="65532" y="51434"/>
                </a:lnTo>
                <a:lnTo>
                  <a:pt x="65532" y="276225"/>
                </a:lnTo>
                <a:lnTo>
                  <a:pt x="70681" y="296263"/>
                </a:lnTo>
                <a:lnTo>
                  <a:pt x="84724" y="312610"/>
                </a:lnTo>
                <a:lnTo>
                  <a:pt x="105554" y="323623"/>
                </a:lnTo>
                <a:lnTo>
                  <a:pt x="131063" y="327659"/>
                </a:lnTo>
                <a:lnTo>
                  <a:pt x="105554" y="331696"/>
                </a:lnTo>
                <a:lnTo>
                  <a:pt x="84724" y="342709"/>
                </a:lnTo>
                <a:lnTo>
                  <a:pt x="70681" y="359056"/>
                </a:lnTo>
                <a:lnTo>
                  <a:pt x="65532" y="379094"/>
                </a:lnTo>
                <a:lnTo>
                  <a:pt x="65532" y="603884"/>
                </a:lnTo>
                <a:lnTo>
                  <a:pt x="60382" y="623923"/>
                </a:lnTo>
                <a:lnTo>
                  <a:pt x="46339" y="640270"/>
                </a:lnTo>
                <a:lnTo>
                  <a:pt x="25509" y="651283"/>
                </a:lnTo>
                <a:lnTo>
                  <a:pt x="0" y="655319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9694" y="2867406"/>
            <a:ext cx="8016875" cy="1403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1861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para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la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capa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salida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(capa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2)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400">
              <a:latin typeface="Arial MT"/>
              <a:cs typeface="Arial MT"/>
            </a:endParaRPr>
          </a:p>
          <a:p>
            <a:pPr marL="243840" indent="-193040">
              <a:lnSpc>
                <a:spcPct val="100000"/>
              </a:lnSpc>
              <a:buChar char="•"/>
              <a:tabLst>
                <a:tab pos="2438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Propagación</a:t>
            </a:r>
            <a:r>
              <a:rPr sz="20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hacia</a:t>
            </a:r>
            <a:r>
              <a:rPr sz="2000" spc="-3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atrás</a:t>
            </a:r>
            <a:r>
              <a:rPr sz="2000" spc="-5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(“backpropagation”):</a:t>
            </a:r>
            <a:r>
              <a:rPr sz="1800" spc="-1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obtiene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derivadas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parciales</a:t>
            </a:r>
            <a:endParaRPr sz="1600">
              <a:latin typeface="Arial MT"/>
              <a:cs typeface="Arial MT"/>
            </a:endParaRPr>
          </a:p>
          <a:p>
            <a:pPr marL="4337050">
              <a:lnSpc>
                <a:spcPct val="100000"/>
              </a:lnSpc>
              <a:spcBef>
                <a:spcPts val="146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asumiendo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que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i="1" dirty="0">
                <a:solidFill>
                  <a:srgbClr val="7E7E7E"/>
                </a:solidFill>
                <a:latin typeface="Times New Roman"/>
                <a:cs typeface="Times New Roman"/>
              </a:rPr>
              <a:t>a</a:t>
            </a:r>
            <a:r>
              <a:rPr sz="1350" baseline="27777" dirty="0">
                <a:solidFill>
                  <a:srgbClr val="7E7E7E"/>
                </a:solidFill>
                <a:latin typeface="Times New Roman"/>
                <a:cs typeface="Times New Roman"/>
              </a:rPr>
              <a:t>[2]</a:t>
            </a:r>
            <a:r>
              <a:rPr sz="1350" spc="150" baseline="27777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es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sigmoidea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25723" y="4034028"/>
            <a:ext cx="146685" cy="1073150"/>
          </a:xfrm>
          <a:custGeom>
            <a:avLst/>
            <a:gdLst/>
            <a:ahLst/>
            <a:cxnLst/>
            <a:rect l="l" t="t" r="r" b="b"/>
            <a:pathLst>
              <a:path w="146685" h="1073150">
                <a:moveTo>
                  <a:pt x="0" y="0"/>
                </a:moveTo>
                <a:lnTo>
                  <a:pt x="28467" y="4504"/>
                </a:lnTo>
                <a:lnTo>
                  <a:pt x="51720" y="16795"/>
                </a:lnTo>
                <a:lnTo>
                  <a:pt x="67401" y="35040"/>
                </a:lnTo>
                <a:lnTo>
                  <a:pt x="73151" y="57404"/>
                </a:lnTo>
                <a:lnTo>
                  <a:pt x="73151" y="479044"/>
                </a:lnTo>
                <a:lnTo>
                  <a:pt x="78902" y="501407"/>
                </a:lnTo>
                <a:lnTo>
                  <a:pt x="94583" y="519652"/>
                </a:lnTo>
                <a:lnTo>
                  <a:pt x="117836" y="531943"/>
                </a:lnTo>
                <a:lnTo>
                  <a:pt x="146303" y="536448"/>
                </a:lnTo>
                <a:lnTo>
                  <a:pt x="117836" y="540952"/>
                </a:lnTo>
                <a:lnTo>
                  <a:pt x="94583" y="553243"/>
                </a:lnTo>
                <a:lnTo>
                  <a:pt x="78902" y="571488"/>
                </a:lnTo>
                <a:lnTo>
                  <a:pt x="73151" y="593852"/>
                </a:lnTo>
                <a:lnTo>
                  <a:pt x="73151" y="1015492"/>
                </a:lnTo>
                <a:lnTo>
                  <a:pt x="67401" y="1037855"/>
                </a:lnTo>
                <a:lnTo>
                  <a:pt x="51720" y="1056100"/>
                </a:lnTo>
                <a:lnTo>
                  <a:pt x="28467" y="1068391"/>
                </a:lnTo>
                <a:lnTo>
                  <a:pt x="0" y="1072896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87011" y="5375147"/>
            <a:ext cx="143510" cy="1073150"/>
          </a:xfrm>
          <a:custGeom>
            <a:avLst/>
            <a:gdLst/>
            <a:ahLst/>
            <a:cxnLst/>
            <a:rect l="l" t="t" r="r" b="b"/>
            <a:pathLst>
              <a:path w="143510" h="1073150">
                <a:moveTo>
                  <a:pt x="0" y="0"/>
                </a:moveTo>
                <a:lnTo>
                  <a:pt x="27854" y="4413"/>
                </a:lnTo>
                <a:lnTo>
                  <a:pt x="50625" y="16446"/>
                </a:lnTo>
                <a:lnTo>
                  <a:pt x="65990" y="34289"/>
                </a:lnTo>
                <a:lnTo>
                  <a:pt x="71627" y="56133"/>
                </a:lnTo>
                <a:lnTo>
                  <a:pt x="71627" y="480288"/>
                </a:lnTo>
                <a:lnTo>
                  <a:pt x="77265" y="502147"/>
                </a:lnTo>
                <a:lnTo>
                  <a:pt x="92630" y="519998"/>
                </a:lnTo>
                <a:lnTo>
                  <a:pt x="115401" y="532034"/>
                </a:lnTo>
                <a:lnTo>
                  <a:pt x="143255" y="536447"/>
                </a:lnTo>
                <a:lnTo>
                  <a:pt x="115401" y="540861"/>
                </a:lnTo>
                <a:lnTo>
                  <a:pt x="92630" y="552897"/>
                </a:lnTo>
                <a:lnTo>
                  <a:pt x="77265" y="570748"/>
                </a:lnTo>
                <a:lnTo>
                  <a:pt x="71627" y="592607"/>
                </a:lnTo>
                <a:lnTo>
                  <a:pt x="71627" y="1016736"/>
                </a:lnTo>
                <a:lnTo>
                  <a:pt x="65990" y="1038595"/>
                </a:lnTo>
                <a:lnTo>
                  <a:pt x="50625" y="1056446"/>
                </a:lnTo>
                <a:lnTo>
                  <a:pt x="27854" y="1068482"/>
                </a:lnTo>
                <a:lnTo>
                  <a:pt x="0" y="1072895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31489" y="4367529"/>
            <a:ext cx="124523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180" marR="5080" indent="-3048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para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la</a:t>
            </a:r>
            <a:r>
              <a:rPr sz="14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capa</a:t>
            </a:r>
            <a:r>
              <a:rPr sz="14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de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salida</a:t>
            </a:r>
            <a:r>
              <a:rPr sz="1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(capa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2)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71821" y="5646521"/>
            <a:ext cx="119697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0033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para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la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capa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oculta</a:t>
            </a:r>
            <a:r>
              <a:rPr sz="1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(capa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1)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49590" y="4435297"/>
            <a:ext cx="83058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10" dirty="0">
                <a:latin typeface="Arial MT"/>
                <a:cs typeface="Arial MT"/>
              </a:rPr>
              <a:t>Notación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375659" y="4171188"/>
            <a:ext cx="1171575" cy="76200"/>
          </a:xfrm>
          <a:custGeom>
            <a:avLst/>
            <a:gdLst/>
            <a:ahLst/>
            <a:cxnLst/>
            <a:rect l="l" t="t" r="r" b="b"/>
            <a:pathLst>
              <a:path w="1171575" h="76200">
                <a:moveTo>
                  <a:pt x="76200" y="0"/>
                </a:moveTo>
                <a:lnTo>
                  <a:pt x="0" y="38226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171575" h="76200">
                <a:moveTo>
                  <a:pt x="1171320" y="30225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lnTo>
                  <a:pt x="1171320" y="31750"/>
                </a:lnTo>
                <a:lnTo>
                  <a:pt x="1171320" y="30225"/>
                </a:lnTo>
                <a:close/>
              </a:path>
              <a:path w="1171575" h="76200">
                <a:moveTo>
                  <a:pt x="117132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63499" y="44450"/>
                </a:lnTo>
                <a:lnTo>
                  <a:pt x="1171320" y="42925"/>
                </a:lnTo>
                <a:lnTo>
                  <a:pt x="1171320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539745" y="6377432"/>
            <a:ext cx="1111250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7E7E7E"/>
                </a:solidFill>
                <a:latin typeface="Arial MT"/>
                <a:cs typeface="Arial MT"/>
              </a:rPr>
              <a:t>multiplicación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7E7E7E"/>
                </a:solidFill>
                <a:latin typeface="Arial MT"/>
                <a:cs typeface="Arial MT"/>
              </a:rPr>
              <a:t>término</a:t>
            </a:r>
            <a:r>
              <a:rPr sz="11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11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7E7E7E"/>
                </a:solidFill>
                <a:latin typeface="Arial MT"/>
                <a:cs typeface="Arial MT"/>
              </a:rPr>
              <a:t>término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68358ED7-1CC1-046E-DDF7-CCE11C1F0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Ingeniería de Sistemas - UNCP">
            <a:extLst>
              <a:ext uri="{FF2B5EF4-FFF2-40B4-BE49-F238E27FC236}">
                <a16:creationId xmlns:a16="http://schemas.microsoft.com/office/drawing/2014/main" id="{EDFA8550-BC50-44B0-7207-07B750FE8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70" dirty="0"/>
              <a:t> </a:t>
            </a:r>
            <a:r>
              <a:rPr dirty="0"/>
              <a:t>Neuronales</a:t>
            </a:r>
            <a:r>
              <a:rPr spc="-65" dirty="0"/>
              <a:t> </a:t>
            </a:r>
            <a:r>
              <a:rPr spc="-10" dirty="0"/>
              <a:t>Simples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694" y="936751"/>
            <a:ext cx="8271509" cy="1522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3835" algn="ctr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Propagación</a:t>
            </a:r>
            <a:r>
              <a:rPr sz="2000" b="1" spc="-2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usando</a:t>
            </a:r>
            <a:r>
              <a:rPr sz="2000" b="1" spc="-5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varias</a:t>
            </a:r>
            <a:r>
              <a:rPr sz="2000" b="1" spc="-7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Instancias</a:t>
            </a:r>
            <a:r>
              <a:rPr sz="2000" b="1" spc="-4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a</a:t>
            </a:r>
            <a:r>
              <a:rPr sz="2000" b="1" spc="-6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la</a:t>
            </a:r>
            <a:r>
              <a:rPr sz="2000" b="1" spc="-7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2092FA"/>
                </a:solidFill>
                <a:latin typeface="Arial"/>
                <a:cs typeface="Arial"/>
              </a:rPr>
              <a:t>vez</a:t>
            </a:r>
            <a:endParaRPr sz="2000">
              <a:latin typeface="Arial"/>
              <a:cs typeface="Arial"/>
            </a:endParaRPr>
          </a:p>
          <a:p>
            <a:pPr marL="2438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43840" algn="l"/>
              </a:tabLst>
            </a:pPr>
            <a:r>
              <a:rPr sz="2000" dirty="0">
                <a:latin typeface="Arial MT"/>
                <a:cs typeface="Arial MT"/>
              </a:rPr>
              <a:t>El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entrenamiento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realiza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instancias</a:t>
            </a:r>
            <a:endParaRPr sz="200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  <a:spcBef>
                <a:spcPts val="535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Todas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instancias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27777" dirty="0">
                <a:latin typeface="Cambria Math"/>
                <a:cs typeface="Cambria Math"/>
              </a:rPr>
              <a:t>(𝑖)</a:t>
            </a:r>
            <a:r>
              <a:rPr sz="1950" spc="450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ℝ</a:t>
            </a:r>
            <a:r>
              <a:rPr sz="1950" baseline="27777" dirty="0">
                <a:latin typeface="Cambria Math"/>
                <a:cs typeface="Cambria Math"/>
              </a:rPr>
              <a:t>𝑑</a:t>
            </a:r>
            <a:r>
              <a:rPr sz="1950" spc="472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agrupan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matriz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55" dirty="0">
                <a:latin typeface="Cambria Math"/>
                <a:cs typeface="Cambria Math"/>
              </a:rPr>
              <a:t>ℝ</a:t>
            </a:r>
            <a:r>
              <a:rPr sz="1950" spc="82" baseline="27777" dirty="0">
                <a:latin typeface="Cambria Math"/>
                <a:cs typeface="Cambria Math"/>
              </a:rPr>
              <a:t>𝑑×𝑛</a:t>
            </a:r>
            <a:r>
              <a:rPr sz="1950" spc="457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evitar</a:t>
            </a:r>
            <a:endParaRPr sz="1800">
              <a:latin typeface="Arial MT"/>
              <a:cs typeface="Arial MT"/>
            </a:endParaRPr>
          </a:p>
          <a:p>
            <a:pPr marL="42545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bucles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implementación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102" y="3091561"/>
            <a:ext cx="5207000" cy="6845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35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propagaciones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baseline="25462" dirty="0">
                <a:latin typeface="Times New Roman"/>
                <a:cs typeface="Times New Roman"/>
              </a:rPr>
              <a:t>[0]</a:t>
            </a:r>
            <a:r>
              <a:rPr sz="1800" spc="187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i="1" spc="-35" dirty="0">
                <a:latin typeface="Times New Roman"/>
                <a:cs typeface="Times New Roman"/>
              </a:rPr>
              <a:t>X</a:t>
            </a:r>
            <a:r>
              <a:rPr sz="1800" spc="-35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178435">
              <a:lnSpc>
                <a:spcPct val="100000"/>
              </a:lnSpc>
              <a:spcBef>
                <a:spcPts val="434"/>
              </a:spcBef>
              <a:tabLst>
                <a:tab pos="5066030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matrices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Z</a:t>
            </a:r>
            <a:r>
              <a:rPr sz="1800" baseline="25462" dirty="0">
                <a:latin typeface="Times New Roman"/>
                <a:cs typeface="Times New Roman"/>
              </a:rPr>
              <a:t>[1]</a:t>
            </a:r>
            <a:r>
              <a:rPr sz="1800" spc="172" baseline="25462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=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</a:t>
            </a:r>
            <a:r>
              <a:rPr sz="1800" i="1" dirty="0">
                <a:latin typeface="Times New Roman"/>
                <a:cs typeface="Times New Roman"/>
              </a:rPr>
              <a:t>z</a:t>
            </a:r>
            <a:r>
              <a:rPr sz="1800" baseline="25462" dirty="0">
                <a:latin typeface="Times New Roman"/>
                <a:cs typeface="Times New Roman"/>
              </a:rPr>
              <a:t>[1](1)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z</a:t>
            </a:r>
            <a:r>
              <a:rPr sz="1800" baseline="25462" dirty="0">
                <a:latin typeface="Times New Roman"/>
                <a:cs typeface="Times New Roman"/>
              </a:rPr>
              <a:t>[1](2)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…,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z</a:t>
            </a:r>
            <a:r>
              <a:rPr sz="1800" spc="-15" baseline="25462" dirty="0">
                <a:latin typeface="Times New Roman"/>
                <a:cs typeface="Times New Roman"/>
              </a:rPr>
              <a:t>[1](</a:t>
            </a:r>
            <a:r>
              <a:rPr sz="1800" i="1" spc="-15" baseline="25462" dirty="0">
                <a:latin typeface="Times New Roman"/>
                <a:cs typeface="Times New Roman"/>
              </a:rPr>
              <a:t>n</a:t>
            </a:r>
            <a:r>
              <a:rPr sz="1800" spc="-15" baseline="25462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Times New Roman"/>
                <a:cs typeface="Times New Roman"/>
              </a:rPr>
              <a:t>]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600" spc="-50" dirty="0">
                <a:latin typeface="Arial MT"/>
                <a:cs typeface="Arial MT"/>
              </a:rPr>
              <a:t>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4578" y="3406267"/>
            <a:ext cx="2802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i="1" baseline="-1697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[1]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2700" i="1" baseline="-16975" dirty="0">
                <a:latin typeface="Times New Roman"/>
                <a:cs typeface="Times New Roman"/>
              </a:rPr>
              <a:t>=</a:t>
            </a:r>
            <a:r>
              <a:rPr sz="2700" i="1" spc="22" baseline="-16975" dirty="0">
                <a:latin typeface="Times New Roman"/>
                <a:cs typeface="Times New Roman"/>
              </a:rPr>
              <a:t> </a:t>
            </a:r>
            <a:r>
              <a:rPr sz="2700" baseline="-16975" dirty="0">
                <a:latin typeface="Times New Roman"/>
                <a:cs typeface="Times New Roman"/>
              </a:rPr>
              <a:t>[</a:t>
            </a:r>
            <a:r>
              <a:rPr sz="2700" i="1" baseline="-1697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[1](1)</a:t>
            </a:r>
            <a:r>
              <a:rPr sz="2700" baseline="-16975" dirty="0">
                <a:latin typeface="Arial MT"/>
                <a:cs typeface="Arial MT"/>
              </a:rPr>
              <a:t>,</a:t>
            </a:r>
            <a:r>
              <a:rPr sz="2700" spc="-97" baseline="-16975" dirty="0">
                <a:latin typeface="Arial MT"/>
                <a:cs typeface="Arial MT"/>
              </a:rPr>
              <a:t> </a:t>
            </a:r>
            <a:r>
              <a:rPr sz="2700" i="1" baseline="-1697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[1](2)</a:t>
            </a:r>
            <a:r>
              <a:rPr sz="2700" baseline="-16975" dirty="0">
                <a:latin typeface="Arial MT"/>
                <a:cs typeface="Arial MT"/>
              </a:rPr>
              <a:t>,</a:t>
            </a:r>
            <a:r>
              <a:rPr sz="2700" spc="-97" baseline="-16975" dirty="0">
                <a:latin typeface="Arial MT"/>
                <a:cs typeface="Arial MT"/>
              </a:rPr>
              <a:t> </a:t>
            </a:r>
            <a:r>
              <a:rPr sz="2700" i="1" baseline="-16975" dirty="0">
                <a:latin typeface="Times New Roman"/>
                <a:cs typeface="Times New Roman"/>
              </a:rPr>
              <a:t>…,</a:t>
            </a:r>
            <a:r>
              <a:rPr sz="2700" i="1" spc="15" baseline="-16975" dirty="0">
                <a:latin typeface="Times New Roman"/>
                <a:cs typeface="Times New Roman"/>
              </a:rPr>
              <a:t> </a:t>
            </a:r>
            <a:r>
              <a:rPr sz="2700" i="1" spc="-15" baseline="-1697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[1](</a:t>
            </a:r>
            <a:r>
              <a:rPr sz="1200" i="1" spc="-10" dirty="0">
                <a:latin typeface="Times New Roman"/>
                <a:cs typeface="Times New Roman"/>
              </a:rPr>
              <a:t>n</a:t>
            </a:r>
            <a:r>
              <a:rPr sz="1200" spc="-10" dirty="0">
                <a:latin typeface="Times New Roman"/>
                <a:cs typeface="Times New Roman"/>
              </a:rPr>
              <a:t>)</a:t>
            </a:r>
            <a:r>
              <a:rPr sz="2700" spc="-15" baseline="-16975" dirty="0">
                <a:latin typeface="Times New Roman"/>
                <a:cs typeface="Times New Roman"/>
              </a:rPr>
              <a:t>]</a:t>
            </a:r>
            <a:endParaRPr sz="2700" baseline="-16975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344" y="4581144"/>
            <a:ext cx="2218944" cy="2438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8488" y="4962144"/>
            <a:ext cx="1621536" cy="2895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0679" y="5559552"/>
            <a:ext cx="2221992" cy="2468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2391" y="5943600"/>
            <a:ext cx="1627632" cy="2926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25727" y="2649355"/>
            <a:ext cx="2978719" cy="31079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4037076" y="4539996"/>
            <a:ext cx="201295" cy="713740"/>
          </a:xfrm>
          <a:custGeom>
            <a:avLst/>
            <a:gdLst/>
            <a:ahLst/>
            <a:cxnLst/>
            <a:rect l="l" t="t" r="r" b="b"/>
            <a:pathLst>
              <a:path w="201295" h="713739">
                <a:moveTo>
                  <a:pt x="0" y="0"/>
                </a:moveTo>
                <a:lnTo>
                  <a:pt x="39129" y="6197"/>
                </a:lnTo>
                <a:lnTo>
                  <a:pt x="71104" y="23098"/>
                </a:lnTo>
                <a:lnTo>
                  <a:pt x="92672" y="48166"/>
                </a:lnTo>
                <a:lnTo>
                  <a:pt x="100584" y="78866"/>
                </a:lnTo>
                <a:lnTo>
                  <a:pt x="100584" y="277748"/>
                </a:lnTo>
                <a:lnTo>
                  <a:pt x="108495" y="308449"/>
                </a:lnTo>
                <a:lnTo>
                  <a:pt x="130063" y="333517"/>
                </a:lnTo>
                <a:lnTo>
                  <a:pt x="162038" y="350418"/>
                </a:lnTo>
                <a:lnTo>
                  <a:pt x="201168" y="356615"/>
                </a:lnTo>
                <a:lnTo>
                  <a:pt x="162038" y="362813"/>
                </a:lnTo>
                <a:lnTo>
                  <a:pt x="130063" y="379714"/>
                </a:lnTo>
                <a:lnTo>
                  <a:pt x="108495" y="404782"/>
                </a:lnTo>
                <a:lnTo>
                  <a:pt x="100584" y="435482"/>
                </a:lnTo>
                <a:lnTo>
                  <a:pt x="100584" y="634364"/>
                </a:lnTo>
                <a:lnTo>
                  <a:pt x="92672" y="665065"/>
                </a:lnTo>
                <a:lnTo>
                  <a:pt x="71104" y="690133"/>
                </a:lnTo>
                <a:lnTo>
                  <a:pt x="39129" y="707034"/>
                </a:lnTo>
                <a:lnTo>
                  <a:pt x="0" y="713231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7794" y="4107560"/>
            <a:ext cx="6193790" cy="8877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90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Propagación</a:t>
            </a:r>
            <a:r>
              <a:rPr sz="2000" spc="-7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hacia</a:t>
            </a:r>
            <a:r>
              <a:rPr sz="2000" spc="-8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adelante</a:t>
            </a:r>
            <a:r>
              <a:rPr sz="2000" spc="-6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(“predicción”)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000">
              <a:latin typeface="Arial MT"/>
              <a:cs typeface="Arial MT"/>
            </a:endParaRPr>
          </a:p>
          <a:p>
            <a:pPr marL="398526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para</a:t>
            </a:r>
            <a:r>
              <a:rPr sz="1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la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capa</a:t>
            </a:r>
            <a:r>
              <a:rPr sz="1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oculta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(capa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1)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52315" y="5472684"/>
            <a:ext cx="186055" cy="765175"/>
          </a:xfrm>
          <a:custGeom>
            <a:avLst/>
            <a:gdLst/>
            <a:ahLst/>
            <a:cxnLst/>
            <a:rect l="l" t="t" r="r" b="b"/>
            <a:pathLst>
              <a:path w="186054" h="765175">
                <a:moveTo>
                  <a:pt x="0" y="0"/>
                </a:moveTo>
                <a:lnTo>
                  <a:pt x="36171" y="5728"/>
                </a:lnTo>
                <a:lnTo>
                  <a:pt x="65722" y="21351"/>
                </a:lnTo>
                <a:lnTo>
                  <a:pt x="85653" y="44523"/>
                </a:lnTo>
                <a:lnTo>
                  <a:pt x="92963" y="72897"/>
                </a:lnTo>
                <a:lnTo>
                  <a:pt x="92963" y="309638"/>
                </a:lnTo>
                <a:lnTo>
                  <a:pt x="100274" y="338005"/>
                </a:lnTo>
                <a:lnTo>
                  <a:pt x="120205" y="361173"/>
                </a:lnTo>
                <a:lnTo>
                  <a:pt x="149756" y="376795"/>
                </a:lnTo>
                <a:lnTo>
                  <a:pt x="185928" y="382523"/>
                </a:lnTo>
                <a:lnTo>
                  <a:pt x="149756" y="388252"/>
                </a:lnTo>
                <a:lnTo>
                  <a:pt x="120205" y="403874"/>
                </a:lnTo>
                <a:lnTo>
                  <a:pt x="100274" y="427042"/>
                </a:lnTo>
                <a:lnTo>
                  <a:pt x="92963" y="455409"/>
                </a:lnTo>
                <a:lnTo>
                  <a:pt x="92963" y="692162"/>
                </a:lnTo>
                <a:lnTo>
                  <a:pt x="85653" y="720529"/>
                </a:lnTo>
                <a:lnTo>
                  <a:pt x="65722" y="743697"/>
                </a:lnTo>
                <a:lnTo>
                  <a:pt x="36171" y="759319"/>
                </a:lnTo>
                <a:lnTo>
                  <a:pt x="0" y="765047"/>
                </a:lnTo>
              </a:path>
            </a:pathLst>
          </a:custGeom>
          <a:ln w="9143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36109" y="5693765"/>
            <a:ext cx="24555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para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la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capa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salida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(capa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2)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54C34BF0-DE62-F93F-CA3A-5D5087270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Ingeniería de Sistemas - UNCP">
            <a:extLst>
              <a:ext uri="{FF2B5EF4-FFF2-40B4-BE49-F238E27FC236}">
                <a16:creationId xmlns:a16="http://schemas.microsoft.com/office/drawing/2014/main" id="{BAF3399F-8650-AF3C-0E6F-06C283A50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70" dirty="0"/>
              <a:t> </a:t>
            </a:r>
            <a:r>
              <a:rPr dirty="0"/>
              <a:t>Neuronales</a:t>
            </a:r>
            <a:r>
              <a:rPr spc="-65" dirty="0"/>
              <a:t> </a:t>
            </a:r>
            <a:r>
              <a:rPr spc="-10" dirty="0"/>
              <a:t>Simples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7673975" cy="1235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Propagación</a:t>
            </a:r>
            <a:r>
              <a:rPr sz="2000" b="1" spc="-2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usando</a:t>
            </a:r>
            <a:r>
              <a:rPr sz="2000" b="1" spc="-5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varias</a:t>
            </a:r>
            <a:r>
              <a:rPr sz="2000" b="1" spc="-7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Instancias</a:t>
            </a:r>
            <a:r>
              <a:rPr sz="2000" b="1" spc="-4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a</a:t>
            </a:r>
            <a:r>
              <a:rPr sz="2000" b="1" spc="-6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la</a:t>
            </a:r>
            <a:r>
              <a:rPr sz="2000" b="1" spc="-7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2092FA"/>
                </a:solidFill>
                <a:latin typeface="Arial"/>
                <a:cs typeface="Arial"/>
              </a:rPr>
              <a:t>vez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Propagación</a:t>
            </a:r>
            <a:r>
              <a:rPr sz="20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hacia</a:t>
            </a:r>
            <a:r>
              <a:rPr sz="2000" spc="-5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atrás</a:t>
            </a:r>
            <a:r>
              <a:rPr sz="2000" spc="-9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(“backpropagation”)</a:t>
            </a:r>
            <a:endParaRPr sz="18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salida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(asumiendo</a:t>
            </a:r>
            <a:r>
              <a:rPr sz="16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que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la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función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activación</a:t>
            </a:r>
            <a:r>
              <a:rPr sz="16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es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sigmoidea)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3957650"/>
            <a:ext cx="21431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oculta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3003" y="6180531"/>
            <a:ext cx="255524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34950" indent="-222250">
              <a:lnSpc>
                <a:spcPct val="100000"/>
              </a:lnSpc>
              <a:spcBef>
                <a:spcPts val="110"/>
              </a:spcBef>
              <a:buChar char="•"/>
              <a:tabLst>
                <a:tab pos="234950" algn="l"/>
              </a:tabLst>
            </a:pPr>
            <a:r>
              <a:rPr sz="1600" dirty="0">
                <a:latin typeface="Arial MT"/>
                <a:cs typeface="Arial MT"/>
              </a:rPr>
              <a:t>Nota: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derivada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g</a:t>
            </a:r>
            <a:r>
              <a:rPr sz="1600" i="1" spc="2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Arial MT"/>
                <a:cs typeface="Arial MT"/>
              </a:rPr>
              <a:t>es: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5096" y="2377439"/>
            <a:ext cx="1709927" cy="2316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5079" y="2371344"/>
            <a:ext cx="719328" cy="3352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61944" y="2883407"/>
            <a:ext cx="2133600" cy="3169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5200" y="3337559"/>
            <a:ext cx="2075688" cy="32003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93008" y="4465320"/>
            <a:ext cx="3179064" cy="31089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83279" y="4965191"/>
            <a:ext cx="1965960" cy="32003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32632" y="5398008"/>
            <a:ext cx="2078736" cy="32004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96055" y="6147815"/>
            <a:ext cx="1511808" cy="3261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90216" y="2871216"/>
            <a:ext cx="786383" cy="33527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12135" y="3310128"/>
            <a:ext cx="664463" cy="33528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54223" y="4459223"/>
            <a:ext cx="722376" cy="3352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481072" y="4959096"/>
            <a:ext cx="786384" cy="33528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12135" y="5398008"/>
            <a:ext cx="664463" cy="335280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E3DA671D-DE2B-161C-F07E-C70CB54D9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Ingeniería de Sistemas - UNCP">
            <a:extLst>
              <a:ext uri="{FF2B5EF4-FFF2-40B4-BE49-F238E27FC236}">
                <a16:creationId xmlns:a16="http://schemas.microsoft.com/office/drawing/2014/main" id="{B2AC2203-77CC-FE6B-AD25-4E3B096ED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70" dirty="0"/>
              <a:t> </a:t>
            </a:r>
            <a:r>
              <a:rPr dirty="0"/>
              <a:t>Neuronales</a:t>
            </a:r>
            <a:r>
              <a:rPr spc="-65" dirty="0"/>
              <a:t> </a:t>
            </a:r>
            <a:r>
              <a:rPr spc="-10" dirty="0"/>
              <a:t>Simples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7011034" cy="1564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Propagación</a:t>
            </a:r>
            <a:r>
              <a:rPr sz="2000" b="1" spc="-2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usando</a:t>
            </a:r>
            <a:r>
              <a:rPr sz="2000" b="1" spc="-5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varias</a:t>
            </a:r>
            <a:r>
              <a:rPr sz="2000" b="1" spc="-7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Instancias</a:t>
            </a:r>
            <a:r>
              <a:rPr sz="2000" b="1" spc="-4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a</a:t>
            </a:r>
            <a:r>
              <a:rPr sz="2000" b="1" spc="-6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la</a:t>
            </a:r>
            <a:r>
              <a:rPr sz="2000" b="1" spc="-7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2092FA"/>
                </a:solidFill>
                <a:latin typeface="Arial"/>
                <a:cs typeface="Arial"/>
              </a:rPr>
              <a:t>vez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Algoritmo</a:t>
            </a:r>
            <a:endParaRPr sz="2000">
              <a:latin typeface="Arial MT"/>
              <a:cs typeface="Arial MT"/>
            </a:endParaRPr>
          </a:p>
          <a:p>
            <a:pPr marL="570230" lvl="1" indent="-341630">
              <a:lnSpc>
                <a:spcPct val="100000"/>
              </a:lnSpc>
              <a:spcBef>
                <a:spcPts val="440"/>
              </a:spcBef>
              <a:buAutoNum type="arabicPeriod"/>
              <a:tabLst>
                <a:tab pos="570230" algn="l"/>
              </a:tabLst>
            </a:pPr>
            <a:r>
              <a:rPr sz="1800" dirty="0">
                <a:latin typeface="Arial MT"/>
                <a:cs typeface="Arial MT"/>
              </a:rPr>
              <a:t>Inicializar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pesos</a:t>
            </a:r>
            <a:endParaRPr sz="1800">
              <a:latin typeface="Arial MT"/>
              <a:cs typeface="Arial MT"/>
            </a:endParaRPr>
          </a:p>
          <a:p>
            <a:pPr marL="570230" lvl="1" indent="-341630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570230" algn="l"/>
              </a:tabLst>
            </a:pPr>
            <a:r>
              <a:rPr sz="1800" dirty="0">
                <a:latin typeface="Arial MT"/>
                <a:cs typeface="Arial MT"/>
              </a:rPr>
              <a:t>Aplicar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propagación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hacia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adelante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calcular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predicción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3189173"/>
            <a:ext cx="8011159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353695" algn="l"/>
              </a:tabLst>
            </a:pPr>
            <a:r>
              <a:rPr sz="1800" dirty="0">
                <a:latin typeface="Arial MT"/>
                <a:cs typeface="Arial MT"/>
              </a:rPr>
              <a:t>Aplicar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propagación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hacia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atrás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calcular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derivadas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 la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</a:t>
            </a:r>
            <a:endParaRPr sz="1800">
              <a:latin typeface="Arial MT"/>
              <a:cs typeface="Arial MT"/>
            </a:endParaRPr>
          </a:p>
          <a:p>
            <a:pPr marL="35433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costo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(con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respecto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i="1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b</a:t>
            </a:r>
            <a:r>
              <a:rPr sz="1800" spc="-25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marL="353695" indent="-340995">
              <a:lnSpc>
                <a:spcPct val="100000"/>
              </a:lnSpc>
              <a:spcBef>
                <a:spcPts val="430"/>
              </a:spcBef>
              <a:buAutoNum type="arabicPeriod" startAt="4"/>
              <a:tabLst>
                <a:tab pos="353695" algn="l"/>
              </a:tabLst>
            </a:pPr>
            <a:r>
              <a:rPr sz="1800" dirty="0">
                <a:latin typeface="Arial MT"/>
                <a:cs typeface="Arial MT"/>
              </a:rPr>
              <a:t>Actualizar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0" dirty="0">
                <a:latin typeface="Arial MT"/>
                <a:cs typeface="Arial MT"/>
              </a:rPr>
              <a:t> pesos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202" y="5439562"/>
            <a:ext cx="56845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695" algn="l"/>
              </a:tabLst>
            </a:pPr>
            <a:r>
              <a:rPr sz="1800" spc="-25" dirty="0">
                <a:latin typeface="Arial MT"/>
                <a:cs typeface="Arial MT"/>
              </a:rPr>
              <a:t>5.</a:t>
            </a:r>
            <a:r>
              <a:rPr sz="1800" dirty="0">
                <a:latin typeface="Arial MT"/>
                <a:cs typeface="Arial MT"/>
              </a:rPr>
              <a:t>	Ir 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paso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2, hasta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satisfacer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algún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criterio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parada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6264" y="2709672"/>
            <a:ext cx="1624584" cy="29260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483989" y="4734544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0" y="0"/>
                </a:moveTo>
                <a:lnTo>
                  <a:pt x="385289" y="0"/>
                </a:lnTo>
              </a:path>
            </a:pathLst>
          </a:custGeom>
          <a:ln w="13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43415" y="4702886"/>
            <a:ext cx="5734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7525" algn="l"/>
              </a:tabLst>
            </a:pPr>
            <a:r>
              <a:rPr sz="1200" i="1" spc="-50" dirty="0">
                <a:latin typeface="Times New Roman"/>
                <a:cs typeface="Times New Roman"/>
              </a:rPr>
              <a:t>i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50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3771258" y="4908867"/>
            <a:ext cx="685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8415" y="4509046"/>
            <a:ext cx="1564005" cy="36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50" i="1" dirty="0">
                <a:latin typeface="Times New Roman"/>
                <a:cs typeface="Times New Roman"/>
              </a:rPr>
              <a:t>w</a:t>
            </a:r>
            <a:r>
              <a:rPr sz="2050" i="1" spc="43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w</a:t>
            </a:r>
            <a:r>
              <a:rPr sz="2050" i="1" spc="305" dirty="0">
                <a:latin typeface="Times New Roman"/>
                <a:cs typeface="Times New Roman"/>
              </a:rPr>
              <a:t> </a:t>
            </a:r>
            <a:r>
              <a:rPr sz="2050" spc="30" dirty="0">
                <a:latin typeface="Symbol"/>
                <a:cs typeface="Symbol"/>
              </a:rPr>
              <a:t></a:t>
            </a:r>
            <a:r>
              <a:rPr sz="2200" spc="30" dirty="0">
                <a:latin typeface="Symbol"/>
                <a:cs typeface="Symbol"/>
              </a:rPr>
              <a:t></a:t>
            </a:r>
            <a:r>
              <a:rPr sz="3075" spc="44" baseline="35230" dirty="0">
                <a:latin typeface="Symbol"/>
                <a:cs typeface="Symbol"/>
              </a:rPr>
              <a:t></a:t>
            </a:r>
            <a:r>
              <a:rPr sz="3075" i="1" spc="44" baseline="35230" dirty="0">
                <a:latin typeface="Times New Roman"/>
                <a:cs typeface="Times New Roman"/>
              </a:rPr>
              <a:t>J</a:t>
            </a:r>
            <a:endParaRPr sz="3075" baseline="3523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3668" y="4729383"/>
            <a:ext cx="33083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25" dirty="0">
                <a:latin typeface="Symbol"/>
                <a:cs typeface="Symbol"/>
              </a:rPr>
              <a:t></a:t>
            </a:r>
            <a:r>
              <a:rPr sz="2050" i="1" spc="-25" dirty="0">
                <a:latin typeface="Times New Roman"/>
                <a:cs typeface="Times New Roman"/>
              </a:rPr>
              <a:t>w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80916" y="4412199"/>
            <a:ext cx="27114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u="sng" spc="-2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205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68483" y="4563607"/>
            <a:ext cx="133223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i="1" dirty="0">
                <a:latin typeface="Times New Roman"/>
                <a:cs typeface="Times New Roman"/>
              </a:rPr>
              <a:t>b</a:t>
            </a:r>
            <a:r>
              <a:rPr sz="2050" i="1" spc="-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-9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b</a:t>
            </a:r>
            <a:r>
              <a:rPr sz="2050" i="1" spc="-15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Symbol"/>
                <a:cs typeface="Symbol"/>
              </a:rPr>
              <a:t></a:t>
            </a:r>
            <a:r>
              <a:rPr sz="2200" spc="-20" dirty="0">
                <a:latin typeface="Symbol"/>
                <a:cs typeface="Symbol"/>
              </a:rPr>
              <a:t></a:t>
            </a:r>
            <a:r>
              <a:rPr sz="3075" spc="-30" baseline="-43360" dirty="0">
                <a:latin typeface="Symbol"/>
                <a:cs typeface="Symbol"/>
              </a:rPr>
              <a:t></a:t>
            </a:r>
            <a:r>
              <a:rPr sz="3075" i="1" spc="-30" baseline="-43360" dirty="0">
                <a:latin typeface="Times New Roman"/>
                <a:cs typeface="Times New Roman"/>
              </a:rPr>
              <a:t>b</a:t>
            </a:r>
            <a:endParaRPr sz="3075" baseline="-43360">
              <a:latin typeface="Times New Roman"/>
              <a:cs typeface="Times New Roman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5CA7A4DC-6B1F-8A25-E93B-0BACC1C01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Ingeniería de Sistemas - UNCP">
            <a:extLst>
              <a:ext uri="{FF2B5EF4-FFF2-40B4-BE49-F238E27FC236}">
                <a16:creationId xmlns:a16="http://schemas.microsoft.com/office/drawing/2014/main" id="{E506591F-D7E3-BAD1-EA29-12D43A4D1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9390" y="592962"/>
            <a:ext cx="112712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>
                <a:solidFill>
                  <a:srgbClr val="B51A00"/>
                </a:solidFill>
              </a:rPr>
              <a:t>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8" y="2907691"/>
            <a:ext cx="8471157" cy="6501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62811"/>
            <a:ext cx="5075555" cy="1114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Introducción</a:t>
            </a:r>
            <a:r>
              <a:rPr sz="24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y</a:t>
            </a:r>
            <a:r>
              <a:rPr sz="24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Conceptos</a:t>
            </a:r>
            <a:r>
              <a:rPr sz="24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Básicos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7E7E7E"/>
              </a:buClr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Redes</a:t>
            </a:r>
            <a:r>
              <a:rPr sz="2400" spc="-1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Neuronales</a:t>
            </a:r>
            <a:r>
              <a:rPr sz="24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Simples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23672" y="2996183"/>
            <a:ext cx="8296909" cy="475615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2794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220"/>
              </a:spcBef>
              <a:tabLst>
                <a:tab pos="698500" algn="l"/>
              </a:tabLst>
            </a:pPr>
            <a:r>
              <a:rPr sz="2400" b="1" spc="-25" dirty="0">
                <a:solidFill>
                  <a:srgbClr val="0000FF"/>
                </a:solidFill>
                <a:latin typeface="Arial"/>
                <a:cs typeface="Arial"/>
              </a:rPr>
              <a:t>3.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0000FF"/>
                </a:solidFill>
                <a:latin typeface="Arial"/>
                <a:cs typeface="Arial"/>
              </a:rPr>
              <a:t>Backpropagation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3733876"/>
            <a:ext cx="44900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4.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	Redes</a:t>
            </a:r>
            <a:r>
              <a:rPr sz="2400" spc="-1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Neuronales</a:t>
            </a:r>
            <a:r>
              <a:rPr sz="24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Profundas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05D2C299-81E8-5B73-88A2-3A2A161C8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B2AA750D-BE9C-F88E-C0FD-9C11F8F39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5029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Backpropagation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202" y="3701922"/>
            <a:ext cx="1280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Derivadas: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3003" y="4936998"/>
            <a:ext cx="9715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 dirty="0">
                <a:latin typeface="Arial MT"/>
                <a:cs typeface="Arial MT"/>
              </a:rPr>
              <a:t>•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93035" y="2167763"/>
            <a:ext cx="5311775" cy="1186815"/>
            <a:chOff x="2193035" y="2167763"/>
            <a:chExt cx="5311775" cy="1186815"/>
          </a:xfrm>
        </p:grpSpPr>
        <p:sp>
          <p:nvSpPr>
            <p:cNvPr id="6" name="object 6"/>
            <p:cNvSpPr/>
            <p:nvPr/>
          </p:nvSpPr>
          <p:spPr>
            <a:xfrm>
              <a:off x="2721863" y="2563368"/>
              <a:ext cx="4770120" cy="372110"/>
            </a:xfrm>
            <a:custGeom>
              <a:avLst/>
              <a:gdLst/>
              <a:ahLst/>
              <a:cxnLst/>
              <a:rect l="l" t="t" r="r" b="b"/>
              <a:pathLst>
                <a:path w="4770120" h="372110">
                  <a:moveTo>
                    <a:pt x="0" y="68580"/>
                  </a:moveTo>
                  <a:lnTo>
                    <a:pt x="4679" y="45469"/>
                  </a:lnTo>
                  <a:lnTo>
                    <a:pt x="17430" y="26574"/>
                  </a:lnTo>
                  <a:lnTo>
                    <a:pt x="36325" y="13823"/>
                  </a:lnTo>
                  <a:lnTo>
                    <a:pt x="59436" y="9144"/>
                  </a:lnTo>
                  <a:lnTo>
                    <a:pt x="1604772" y="9144"/>
                  </a:lnTo>
                  <a:lnTo>
                    <a:pt x="1627882" y="13823"/>
                  </a:lnTo>
                  <a:lnTo>
                    <a:pt x="1646777" y="26574"/>
                  </a:lnTo>
                  <a:lnTo>
                    <a:pt x="1659528" y="45469"/>
                  </a:lnTo>
                  <a:lnTo>
                    <a:pt x="1664208" y="68580"/>
                  </a:lnTo>
                  <a:lnTo>
                    <a:pt x="1664208" y="306324"/>
                  </a:lnTo>
                  <a:lnTo>
                    <a:pt x="1659528" y="329434"/>
                  </a:lnTo>
                  <a:lnTo>
                    <a:pt x="1646777" y="348329"/>
                  </a:lnTo>
                  <a:lnTo>
                    <a:pt x="1627882" y="361080"/>
                  </a:lnTo>
                  <a:lnTo>
                    <a:pt x="1604772" y="365760"/>
                  </a:lnTo>
                  <a:lnTo>
                    <a:pt x="59436" y="365760"/>
                  </a:lnTo>
                  <a:lnTo>
                    <a:pt x="36325" y="361080"/>
                  </a:lnTo>
                  <a:lnTo>
                    <a:pt x="17430" y="348329"/>
                  </a:lnTo>
                  <a:lnTo>
                    <a:pt x="4679" y="329434"/>
                  </a:lnTo>
                  <a:lnTo>
                    <a:pt x="0" y="306324"/>
                  </a:lnTo>
                  <a:lnTo>
                    <a:pt x="0" y="68580"/>
                  </a:lnTo>
                  <a:close/>
                </a:path>
                <a:path w="4770120" h="372110">
                  <a:moveTo>
                    <a:pt x="2087880" y="77216"/>
                  </a:moveTo>
                  <a:lnTo>
                    <a:pt x="2092515" y="54292"/>
                  </a:lnTo>
                  <a:lnTo>
                    <a:pt x="2105152" y="35560"/>
                  </a:lnTo>
                  <a:lnTo>
                    <a:pt x="2123884" y="22923"/>
                  </a:lnTo>
                  <a:lnTo>
                    <a:pt x="2146808" y="18287"/>
                  </a:lnTo>
                  <a:lnTo>
                    <a:pt x="3275584" y="18287"/>
                  </a:lnTo>
                  <a:lnTo>
                    <a:pt x="3298507" y="22923"/>
                  </a:lnTo>
                  <a:lnTo>
                    <a:pt x="3317240" y="35560"/>
                  </a:lnTo>
                  <a:lnTo>
                    <a:pt x="3329876" y="54292"/>
                  </a:lnTo>
                  <a:lnTo>
                    <a:pt x="3334512" y="77216"/>
                  </a:lnTo>
                  <a:lnTo>
                    <a:pt x="3334512" y="312928"/>
                  </a:lnTo>
                  <a:lnTo>
                    <a:pt x="3329876" y="335851"/>
                  </a:lnTo>
                  <a:lnTo>
                    <a:pt x="3317240" y="354584"/>
                  </a:lnTo>
                  <a:lnTo>
                    <a:pt x="3298507" y="367220"/>
                  </a:lnTo>
                  <a:lnTo>
                    <a:pt x="3275584" y="371856"/>
                  </a:lnTo>
                  <a:lnTo>
                    <a:pt x="2146808" y="371856"/>
                  </a:lnTo>
                  <a:lnTo>
                    <a:pt x="2123884" y="367220"/>
                  </a:lnTo>
                  <a:lnTo>
                    <a:pt x="2105152" y="354584"/>
                  </a:lnTo>
                  <a:lnTo>
                    <a:pt x="2092515" y="335851"/>
                  </a:lnTo>
                  <a:lnTo>
                    <a:pt x="2087880" y="312928"/>
                  </a:lnTo>
                  <a:lnTo>
                    <a:pt x="2087880" y="77216"/>
                  </a:lnTo>
                  <a:close/>
                </a:path>
                <a:path w="4770120" h="372110">
                  <a:moveTo>
                    <a:pt x="3800856" y="59436"/>
                  </a:moveTo>
                  <a:lnTo>
                    <a:pt x="3805535" y="36325"/>
                  </a:lnTo>
                  <a:lnTo>
                    <a:pt x="3818286" y="17430"/>
                  </a:lnTo>
                  <a:lnTo>
                    <a:pt x="3837181" y="4679"/>
                  </a:lnTo>
                  <a:lnTo>
                    <a:pt x="3860291" y="0"/>
                  </a:lnTo>
                  <a:lnTo>
                    <a:pt x="4710684" y="0"/>
                  </a:lnTo>
                  <a:lnTo>
                    <a:pt x="4733794" y="4679"/>
                  </a:lnTo>
                  <a:lnTo>
                    <a:pt x="4752689" y="17430"/>
                  </a:lnTo>
                  <a:lnTo>
                    <a:pt x="4765440" y="36325"/>
                  </a:lnTo>
                  <a:lnTo>
                    <a:pt x="4770120" y="59436"/>
                  </a:lnTo>
                  <a:lnTo>
                    <a:pt x="4770120" y="297180"/>
                  </a:lnTo>
                  <a:lnTo>
                    <a:pt x="4765440" y="320290"/>
                  </a:lnTo>
                  <a:lnTo>
                    <a:pt x="4752689" y="339185"/>
                  </a:lnTo>
                  <a:lnTo>
                    <a:pt x="4733794" y="351936"/>
                  </a:lnTo>
                  <a:lnTo>
                    <a:pt x="4710684" y="356616"/>
                  </a:lnTo>
                  <a:lnTo>
                    <a:pt x="3860291" y="356616"/>
                  </a:lnTo>
                  <a:lnTo>
                    <a:pt x="3837181" y="351936"/>
                  </a:lnTo>
                  <a:lnTo>
                    <a:pt x="3818286" y="339185"/>
                  </a:lnTo>
                  <a:lnTo>
                    <a:pt x="3805535" y="320290"/>
                  </a:lnTo>
                  <a:lnTo>
                    <a:pt x="3800856" y="297180"/>
                  </a:lnTo>
                  <a:lnTo>
                    <a:pt x="3800856" y="59436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93036" y="2167762"/>
              <a:ext cx="4330065" cy="1186815"/>
            </a:xfrm>
            <a:custGeom>
              <a:avLst/>
              <a:gdLst/>
              <a:ahLst/>
              <a:cxnLst/>
              <a:rect l="l" t="t" r="r" b="b"/>
              <a:pathLst>
                <a:path w="4330065" h="1186814">
                  <a:moveTo>
                    <a:pt x="532130" y="478790"/>
                  </a:moveTo>
                  <a:lnTo>
                    <a:pt x="522960" y="432435"/>
                  </a:lnTo>
                  <a:lnTo>
                    <a:pt x="515620" y="395224"/>
                  </a:lnTo>
                  <a:lnTo>
                    <a:pt x="490550" y="414629"/>
                  </a:lnTo>
                  <a:lnTo>
                    <a:pt x="169672" y="0"/>
                  </a:lnTo>
                  <a:lnTo>
                    <a:pt x="159512" y="7874"/>
                  </a:lnTo>
                  <a:lnTo>
                    <a:pt x="480529" y="422389"/>
                  </a:lnTo>
                  <a:lnTo>
                    <a:pt x="455422" y="441833"/>
                  </a:lnTo>
                  <a:lnTo>
                    <a:pt x="532130" y="478790"/>
                  </a:lnTo>
                  <a:close/>
                </a:path>
                <a:path w="4330065" h="1186814">
                  <a:moveTo>
                    <a:pt x="546227" y="704977"/>
                  </a:moveTo>
                  <a:lnTo>
                    <a:pt x="467106" y="736600"/>
                  </a:lnTo>
                  <a:lnTo>
                    <a:pt x="490829" y="757745"/>
                  </a:lnTo>
                  <a:lnTo>
                    <a:pt x="117221" y="1178306"/>
                  </a:lnTo>
                  <a:lnTo>
                    <a:pt x="126619" y="1186688"/>
                  </a:lnTo>
                  <a:lnTo>
                    <a:pt x="500303" y="766178"/>
                  </a:lnTo>
                  <a:lnTo>
                    <a:pt x="524002" y="787273"/>
                  </a:lnTo>
                  <a:lnTo>
                    <a:pt x="534530" y="748284"/>
                  </a:lnTo>
                  <a:lnTo>
                    <a:pt x="546227" y="704977"/>
                  </a:lnTo>
                  <a:close/>
                </a:path>
                <a:path w="4330065" h="1186814">
                  <a:moveTo>
                    <a:pt x="552577" y="592201"/>
                  </a:moveTo>
                  <a:lnTo>
                    <a:pt x="539851" y="585876"/>
                  </a:lnTo>
                  <a:lnTo>
                    <a:pt x="476377" y="554228"/>
                  </a:lnTo>
                  <a:lnTo>
                    <a:pt x="476377" y="585876"/>
                  </a:lnTo>
                  <a:lnTo>
                    <a:pt x="0" y="586359"/>
                  </a:lnTo>
                  <a:lnTo>
                    <a:pt x="0" y="599059"/>
                  </a:lnTo>
                  <a:lnTo>
                    <a:pt x="476377" y="598576"/>
                  </a:lnTo>
                  <a:lnTo>
                    <a:pt x="476377" y="630428"/>
                  </a:lnTo>
                  <a:lnTo>
                    <a:pt x="539889" y="598576"/>
                  </a:lnTo>
                  <a:lnTo>
                    <a:pt x="552577" y="592201"/>
                  </a:lnTo>
                  <a:close/>
                </a:path>
                <a:path w="4330065" h="1186814">
                  <a:moveTo>
                    <a:pt x="2607576" y="596011"/>
                  </a:moveTo>
                  <a:lnTo>
                    <a:pt x="2554859" y="596011"/>
                  </a:lnTo>
                  <a:lnTo>
                    <a:pt x="2542222" y="596011"/>
                  </a:lnTo>
                  <a:lnTo>
                    <a:pt x="2541651" y="627507"/>
                  </a:lnTo>
                  <a:lnTo>
                    <a:pt x="2607576" y="596011"/>
                  </a:lnTo>
                  <a:close/>
                </a:path>
                <a:path w="4330065" h="1186814">
                  <a:moveTo>
                    <a:pt x="2618486" y="590804"/>
                  </a:moveTo>
                  <a:lnTo>
                    <a:pt x="2543048" y="551307"/>
                  </a:lnTo>
                  <a:lnTo>
                    <a:pt x="2542578" y="576707"/>
                  </a:lnTo>
                  <a:lnTo>
                    <a:pt x="2542463" y="583082"/>
                  </a:lnTo>
                  <a:lnTo>
                    <a:pt x="2194687" y="576707"/>
                  </a:lnTo>
                  <a:lnTo>
                    <a:pt x="2194547" y="583082"/>
                  </a:lnTo>
                  <a:lnTo>
                    <a:pt x="2194433" y="589407"/>
                  </a:lnTo>
                  <a:lnTo>
                    <a:pt x="2542222" y="595782"/>
                  </a:lnTo>
                  <a:lnTo>
                    <a:pt x="2554859" y="595782"/>
                  </a:lnTo>
                  <a:lnTo>
                    <a:pt x="2608059" y="595782"/>
                  </a:lnTo>
                  <a:lnTo>
                    <a:pt x="2618486" y="590804"/>
                  </a:lnTo>
                  <a:close/>
                </a:path>
                <a:path w="4330065" h="1186814">
                  <a:moveTo>
                    <a:pt x="4329938" y="583057"/>
                  </a:moveTo>
                  <a:lnTo>
                    <a:pt x="4318825" y="577723"/>
                  </a:lnTo>
                  <a:lnTo>
                    <a:pt x="4253230" y="546227"/>
                  </a:lnTo>
                  <a:lnTo>
                    <a:pt x="4253750" y="577723"/>
                  </a:lnTo>
                  <a:lnTo>
                    <a:pt x="4253750" y="577938"/>
                  </a:lnTo>
                  <a:lnTo>
                    <a:pt x="3864737" y="584454"/>
                  </a:lnTo>
                  <a:lnTo>
                    <a:pt x="3864991" y="597154"/>
                  </a:lnTo>
                  <a:lnTo>
                    <a:pt x="4253966" y="590638"/>
                  </a:lnTo>
                  <a:lnTo>
                    <a:pt x="4254500" y="622427"/>
                  </a:lnTo>
                  <a:lnTo>
                    <a:pt x="4329938" y="583057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178811" y="3188969"/>
            <a:ext cx="10413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x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6157" y="2557018"/>
            <a:ext cx="1435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0" dirty="0">
                <a:latin typeface="Times New Roman"/>
                <a:cs typeface="Times New Roman"/>
              </a:rPr>
              <a:t>w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794" y="936751"/>
            <a:ext cx="6315075" cy="1272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61514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Cuando</a:t>
            </a:r>
            <a:r>
              <a:rPr sz="2000" b="1" spc="-3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hay</a:t>
            </a:r>
            <a:r>
              <a:rPr sz="2000" b="1" spc="-3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1</a:t>
            </a:r>
            <a:r>
              <a:rPr sz="2000" b="1" spc="-4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sola</a:t>
            </a:r>
            <a:r>
              <a:rPr sz="2000" b="1" spc="-5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Unidad</a:t>
            </a:r>
            <a:r>
              <a:rPr sz="2000" b="1" spc="-2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Neuronal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spc="-10" dirty="0">
                <a:latin typeface="Arial MT"/>
                <a:cs typeface="Arial MT"/>
              </a:rPr>
              <a:t>Esquema</a:t>
            </a:r>
            <a:endParaRPr sz="2000">
              <a:latin typeface="Arial MT"/>
              <a:cs typeface="Arial MT"/>
            </a:endParaRPr>
          </a:p>
          <a:p>
            <a:pPr marL="1800860">
              <a:lnSpc>
                <a:spcPct val="100000"/>
              </a:lnSpc>
              <a:spcBef>
                <a:spcPts val="1215"/>
              </a:spcBef>
            </a:pPr>
            <a:r>
              <a:rPr sz="1400" i="1" spc="-50" dirty="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0024" y="2578649"/>
            <a:ext cx="161607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5270">
              <a:lnSpc>
                <a:spcPct val="100000"/>
              </a:lnSpc>
              <a:spcBef>
                <a:spcPts val="90"/>
              </a:spcBef>
            </a:pP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w</a:t>
            </a:r>
            <a:r>
              <a:rPr sz="1575" i="1" baseline="42328" dirty="0">
                <a:latin typeface="Times New Roman"/>
                <a:cs typeface="Times New Roman"/>
              </a:rPr>
              <a:t>T</a:t>
            </a:r>
            <a:r>
              <a:rPr sz="1575" i="1" spc="-44" baseline="42328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x</a:t>
            </a:r>
            <a:r>
              <a:rPr sz="1850" b="1" spc="-1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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b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21308" y="2564174"/>
            <a:ext cx="80454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i="1" spc="60" dirty="0">
                <a:latin typeface="Times New Roman"/>
                <a:cs typeface="Times New Roman"/>
              </a:rPr>
              <a:t>g</a:t>
            </a:r>
            <a:r>
              <a:rPr sz="1850" spc="60" dirty="0">
                <a:latin typeface="Times New Roman"/>
                <a:cs typeface="Times New Roman"/>
              </a:rPr>
              <a:t>(</a:t>
            </a:r>
            <a:r>
              <a:rPr sz="1850" i="1" spc="60" dirty="0">
                <a:latin typeface="Times New Roman"/>
                <a:cs typeface="Times New Roman"/>
              </a:rPr>
              <a:t>z</a:t>
            </a:r>
            <a:r>
              <a:rPr sz="1850" spc="6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9729" y="2590805"/>
            <a:ext cx="648124" cy="31089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054612" y="3159573"/>
            <a:ext cx="699770" cy="2641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550" i="1" dirty="0">
                <a:latin typeface="Times New Roman"/>
                <a:cs typeface="Times New Roman"/>
              </a:rPr>
              <a:t>da</a:t>
            </a:r>
            <a:r>
              <a:rPr sz="1550" i="1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Symbol"/>
                <a:cs typeface="Symbol"/>
              </a:rPr>
              <a:t>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2325" u="sng" spc="-75" baseline="35842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2325" u="sng" spc="750" baseline="3584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325" baseline="35842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95659" y="3314424"/>
            <a:ext cx="221615" cy="2641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50" spc="-25" dirty="0">
                <a:latin typeface="Symbol"/>
                <a:cs typeface="Symbol"/>
              </a:rPr>
              <a:t></a:t>
            </a:r>
            <a:r>
              <a:rPr sz="1550" i="1" spc="-25" dirty="0">
                <a:latin typeface="Times New Roman"/>
                <a:cs typeface="Times New Roman"/>
              </a:rPr>
              <a:t>a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87596" y="3057151"/>
            <a:ext cx="2134870" cy="302895"/>
            <a:chOff x="4387596" y="3057151"/>
            <a:chExt cx="2134870" cy="30289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2272" y="3057151"/>
              <a:ext cx="145420" cy="3028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87596" y="3264407"/>
              <a:ext cx="2134870" cy="88900"/>
            </a:xfrm>
            <a:custGeom>
              <a:avLst/>
              <a:gdLst/>
              <a:ahLst/>
              <a:cxnLst/>
              <a:rect l="l" t="t" r="r" b="b"/>
              <a:pathLst>
                <a:path w="2134870" h="88900">
                  <a:moveTo>
                    <a:pt x="504063" y="43942"/>
                  </a:moveTo>
                  <a:lnTo>
                    <a:pt x="76200" y="43942"/>
                  </a:lnTo>
                  <a:lnTo>
                    <a:pt x="76200" y="12192"/>
                  </a:lnTo>
                  <a:lnTo>
                    <a:pt x="0" y="50292"/>
                  </a:lnTo>
                  <a:lnTo>
                    <a:pt x="76200" y="88392"/>
                  </a:lnTo>
                  <a:lnTo>
                    <a:pt x="76200" y="56642"/>
                  </a:lnTo>
                  <a:lnTo>
                    <a:pt x="504063" y="56642"/>
                  </a:lnTo>
                  <a:lnTo>
                    <a:pt x="504063" y="43942"/>
                  </a:lnTo>
                  <a:close/>
                </a:path>
                <a:path w="2134870" h="88900">
                  <a:moveTo>
                    <a:pt x="2134743" y="31750"/>
                  </a:moveTo>
                  <a:lnTo>
                    <a:pt x="1706880" y="31750"/>
                  </a:lnTo>
                  <a:lnTo>
                    <a:pt x="1706880" y="0"/>
                  </a:lnTo>
                  <a:lnTo>
                    <a:pt x="1630680" y="38100"/>
                  </a:lnTo>
                  <a:lnTo>
                    <a:pt x="1706880" y="76200"/>
                  </a:lnTo>
                  <a:lnTo>
                    <a:pt x="1706880" y="44450"/>
                  </a:lnTo>
                  <a:lnTo>
                    <a:pt x="2134743" y="44450"/>
                  </a:lnTo>
                  <a:lnTo>
                    <a:pt x="2134743" y="3175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792951" y="3031608"/>
            <a:ext cx="1346200" cy="2641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325" i="1" baseline="-35842" dirty="0">
                <a:latin typeface="Times New Roman"/>
                <a:cs typeface="Times New Roman"/>
              </a:rPr>
              <a:t>dz</a:t>
            </a:r>
            <a:r>
              <a:rPr sz="2325" i="1" spc="37" baseline="-35842" dirty="0">
                <a:latin typeface="Times New Roman"/>
                <a:cs typeface="Times New Roman"/>
              </a:rPr>
              <a:t> </a:t>
            </a:r>
            <a:r>
              <a:rPr sz="2325" baseline="-35842" dirty="0">
                <a:latin typeface="Symbol"/>
                <a:cs typeface="Symbol"/>
              </a:rPr>
              <a:t></a:t>
            </a:r>
            <a:r>
              <a:rPr sz="2325" spc="104" baseline="-35842" dirty="0">
                <a:latin typeface="Times New Roman"/>
                <a:cs typeface="Times New Roman"/>
              </a:rPr>
              <a:t> </a:t>
            </a:r>
            <a:r>
              <a:rPr sz="1550" u="sng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1550" u="sng" spc="3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2325" baseline="-35842" dirty="0">
                <a:latin typeface="Symbol"/>
                <a:cs typeface="Symbol"/>
              </a:rPr>
              <a:t></a:t>
            </a:r>
            <a:r>
              <a:rPr sz="2325" spc="104" baseline="-35842" dirty="0">
                <a:latin typeface="Times New Roman"/>
                <a:cs typeface="Times New Roman"/>
              </a:rPr>
              <a:t> </a:t>
            </a:r>
            <a:r>
              <a:rPr sz="1550" u="sng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155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550" i="1" u="sng" spc="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u="sng" spc="-5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1550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16347" y="3311375"/>
            <a:ext cx="885190" cy="2641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431800" algn="l"/>
              </a:tabLst>
            </a:pPr>
            <a:r>
              <a:rPr sz="1550" spc="-25" dirty="0">
                <a:latin typeface="Symbol"/>
                <a:cs typeface="Symbol"/>
              </a:rPr>
              <a:t></a:t>
            </a:r>
            <a:r>
              <a:rPr sz="1550" i="1" spc="-25" dirty="0">
                <a:latin typeface="Times New Roman"/>
                <a:cs typeface="Times New Roman"/>
              </a:rPr>
              <a:t>z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dirty="0">
                <a:latin typeface="Symbol"/>
                <a:cs typeface="Symbol"/>
              </a:rPr>
              <a:t></a:t>
            </a:r>
            <a:r>
              <a:rPr sz="1550" i="1" dirty="0">
                <a:latin typeface="Times New Roman"/>
                <a:cs typeface="Times New Roman"/>
              </a:rPr>
              <a:t>z</a:t>
            </a:r>
            <a:r>
              <a:rPr sz="1550" i="1" spc="16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Symbol"/>
                <a:cs typeface="Symbol"/>
              </a:rPr>
              <a:t></a:t>
            </a:r>
            <a:r>
              <a:rPr sz="1550" i="1" spc="-25" dirty="0">
                <a:latin typeface="Times New Roman"/>
                <a:cs typeface="Times New Roman"/>
              </a:rPr>
              <a:t>a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165604" y="2125979"/>
            <a:ext cx="1973580" cy="1231265"/>
            <a:chOff x="2165604" y="2125979"/>
            <a:chExt cx="1973580" cy="123126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3507" y="3054103"/>
              <a:ext cx="815659" cy="30283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165604" y="2125979"/>
              <a:ext cx="605155" cy="741680"/>
            </a:xfrm>
            <a:custGeom>
              <a:avLst/>
              <a:gdLst/>
              <a:ahLst/>
              <a:cxnLst/>
              <a:rect l="l" t="t" r="r" b="b"/>
              <a:pathLst>
                <a:path w="605155" h="741680">
                  <a:moveTo>
                    <a:pt x="524637" y="695198"/>
                  </a:moveTo>
                  <a:lnTo>
                    <a:pt x="524256" y="682498"/>
                  </a:lnTo>
                  <a:lnTo>
                    <a:pt x="75933" y="696950"/>
                  </a:lnTo>
                  <a:lnTo>
                    <a:pt x="74930" y="665226"/>
                  </a:lnTo>
                  <a:lnTo>
                    <a:pt x="0" y="705739"/>
                  </a:lnTo>
                  <a:lnTo>
                    <a:pt x="77343" y="741299"/>
                  </a:lnTo>
                  <a:lnTo>
                    <a:pt x="76339" y="710057"/>
                  </a:lnTo>
                  <a:lnTo>
                    <a:pt x="76327" y="709650"/>
                  </a:lnTo>
                  <a:lnTo>
                    <a:pt x="75946" y="697357"/>
                  </a:lnTo>
                  <a:lnTo>
                    <a:pt x="76212" y="705739"/>
                  </a:lnTo>
                  <a:lnTo>
                    <a:pt x="76327" y="709650"/>
                  </a:lnTo>
                  <a:lnTo>
                    <a:pt x="524637" y="695198"/>
                  </a:lnTo>
                  <a:close/>
                </a:path>
                <a:path w="605155" h="741680">
                  <a:moveTo>
                    <a:pt x="604774" y="452628"/>
                  </a:moveTo>
                  <a:lnTo>
                    <a:pt x="309676" y="57238"/>
                  </a:lnTo>
                  <a:lnTo>
                    <a:pt x="323240" y="47117"/>
                  </a:lnTo>
                  <a:lnTo>
                    <a:pt x="335153" y="38227"/>
                  </a:lnTo>
                  <a:lnTo>
                    <a:pt x="259080" y="0"/>
                  </a:lnTo>
                  <a:lnTo>
                    <a:pt x="274066" y="83820"/>
                  </a:lnTo>
                  <a:lnTo>
                    <a:pt x="299504" y="64833"/>
                  </a:lnTo>
                  <a:lnTo>
                    <a:pt x="594614" y="460248"/>
                  </a:lnTo>
                  <a:lnTo>
                    <a:pt x="604774" y="45262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1784176" y="4520201"/>
            <a:ext cx="1153160" cy="0"/>
          </a:xfrm>
          <a:custGeom>
            <a:avLst/>
            <a:gdLst/>
            <a:ahLst/>
            <a:cxnLst/>
            <a:rect l="l" t="t" r="r" b="b"/>
            <a:pathLst>
              <a:path w="1153160">
                <a:moveTo>
                  <a:pt x="0" y="0"/>
                </a:moveTo>
                <a:lnTo>
                  <a:pt x="199235" y="0"/>
                </a:lnTo>
              </a:path>
              <a:path w="1153160">
                <a:moveTo>
                  <a:pt x="518027" y="0"/>
                </a:moveTo>
                <a:lnTo>
                  <a:pt x="640416" y="0"/>
                </a:lnTo>
              </a:path>
              <a:path w="1153160">
                <a:moveTo>
                  <a:pt x="814042" y="0"/>
                </a:moveTo>
                <a:lnTo>
                  <a:pt x="1152767" y="0"/>
                </a:lnTo>
              </a:path>
            </a:pathLst>
          </a:custGeom>
          <a:ln w="90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87603" y="4351401"/>
            <a:ext cx="114109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350" indent="-2222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60350" algn="l"/>
              </a:tabLst>
            </a:pPr>
            <a:r>
              <a:rPr sz="1600" i="1" dirty="0">
                <a:latin typeface="Times New Roman"/>
                <a:cs typeface="Times New Roman"/>
              </a:rPr>
              <a:t>da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330" dirty="0">
                <a:latin typeface="Arial MT"/>
                <a:cs typeface="Arial MT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da</a:t>
            </a:r>
            <a:r>
              <a:rPr sz="1450" i="1" spc="-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Symbol"/>
                <a:cs typeface="Symbol"/>
              </a:rPr>
              <a:t></a:t>
            </a:r>
            <a:r>
              <a:rPr sz="1450" spc="105" dirty="0">
                <a:latin typeface="Times New Roman"/>
                <a:cs typeface="Times New Roman"/>
              </a:rPr>
              <a:t> </a:t>
            </a:r>
            <a:r>
              <a:rPr sz="2175" spc="-75" baseline="36398" dirty="0">
                <a:latin typeface="Symbol"/>
                <a:cs typeface="Symbol"/>
              </a:rPr>
              <a:t></a:t>
            </a:r>
            <a:endParaRPr sz="2175" baseline="36398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93553" y="4254611"/>
            <a:ext cx="96901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75" baseline="-34482" dirty="0">
                <a:latin typeface="Symbol"/>
                <a:cs typeface="Symbol"/>
              </a:rPr>
              <a:t></a:t>
            </a:r>
            <a:r>
              <a:rPr sz="2175" spc="-37" baseline="-34482" dirty="0">
                <a:latin typeface="Times New Roman"/>
                <a:cs typeface="Times New Roman"/>
              </a:rPr>
              <a:t> </a:t>
            </a:r>
            <a:r>
              <a:rPr sz="2175" baseline="-34482" dirty="0">
                <a:latin typeface="Symbol"/>
                <a:cs typeface="Symbol"/>
              </a:rPr>
              <a:t></a:t>
            </a:r>
            <a:r>
              <a:rPr sz="2175" spc="142" baseline="-34482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y</a:t>
            </a:r>
            <a:r>
              <a:rPr sz="1450" i="1" spc="35" dirty="0">
                <a:latin typeface="Times New Roman"/>
                <a:cs typeface="Times New Roman"/>
              </a:rPr>
              <a:t> </a:t>
            </a:r>
            <a:r>
              <a:rPr sz="2175" spc="-37" baseline="-34482" dirty="0">
                <a:latin typeface="Symbol"/>
                <a:cs typeface="Symbol"/>
              </a:rPr>
              <a:t></a:t>
            </a:r>
            <a:r>
              <a:rPr sz="2175" spc="-202" baseline="-34482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1</a:t>
            </a:r>
            <a:r>
              <a:rPr sz="1450" dirty="0">
                <a:latin typeface="Symbol"/>
                <a:cs typeface="Symbol"/>
              </a:rPr>
              <a:t>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i="1" spc="-50" dirty="0">
                <a:latin typeface="Times New Roman"/>
                <a:cs typeface="Times New Roman"/>
              </a:rPr>
              <a:t>y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0012" y="4512731"/>
            <a:ext cx="115443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37210" algn="l"/>
                <a:tab pos="813435" algn="l"/>
              </a:tabLst>
            </a:pPr>
            <a:r>
              <a:rPr sz="1450" spc="-25" dirty="0">
                <a:latin typeface="Symbol"/>
                <a:cs typeface="Symbol"/>
              </a:rPr>
              <a:t></a:t>
            </a:r>
            <a:r>
              <a:rPr sz="1450" i="1" spc="-25" dirty="0">
                <a:latin typeface="Times New Roman"/>
                <a:cs typeface="Times New Roman"/>
              </a:rPr>
              <a:t>a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-50" dirty="0">
                <a:latin typeface="Times New Roman"/>
                <a:cs typeface="Times New Roman"/>
              </a:rPr>
              <a:t>a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dirty="0">
                <a:latin typeface="Times New Roman"/>
                <a:cs typeface="Times New Roman"/>
              </a:rPr>
              <a:t>1</a:t>
            </a:r>
            <a:r>
              <a:rPr sz="1450" dirty="0">
                <a:latin typeface="Symbol"/>
                <a:cs typeface="Symbol"/>
              </a:rPr>
              <a:t></a:t>
            </a:r>
            <a:r>
              <a:rPr sz="1450" spc="-45" dirty="0">
                <a:latin typeface="Times New Roman"/>
                <a:cs typeface="Times New Roman"/>
              </a:rPr>
              <a:t> </a:t>
            </a:r>
            <a:r>
              <a:rPr sz="1450" i="1" spc="-50" dirty="0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88071" y="4276348"/>
            <a:ext cx="728659" cy="279406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1395895" y="5126753"/>
            <a:ext cx="199390" cy="0"/>
          </a:xfrm>
          <a:custGeom>
            <a:avLst/>
            <a:gdLst/>
            <a:ahLst/>
            <a:cxnLst/>
            <a:rect l="l" t="t" r="r" b="b"/>
            <a:pathLst>
              <a:path w="199390">
                <a:moveTo>
                  <a:pt x="0" y="0"/>
                </a:moveTo>
                <a:lnTo>
                  <a:pt x="199366" y="0"/>
                </a:lnTo>
              </a:path>
            </a:pathLst>
          </a:custGeom>
          <a:ln w="90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010107" y="4955546"/>
            <a:ext cx="135064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i="1" baseline="5208" dirty="0">
                <a:latin typeface="Times New Roman"/>
                <a:cs typeface="Times New Roman"/>
              </a:rPr>
              <a:t>dz</a:t>
            </a:r>
            <a:r>
              <a:rPr sz="2400" baseline="5208" dirty="0">
                <a:latin typeface="Arial MT"/>
                <a:cs typeface="Arial MT"/>
              </a:rPr>
              <a:t>:</a:t>
            </a:r>
            <a:r>
              <a:rPr sz="2400" spc="682" baseline="5208" dirty="0">
                <a:latin typeface="Arial MT"/>
                <a:cs typeface="Arial MT"/>
              </a:rPr>
              <a:t> </a:t>
            </a:r>
            <a:r>
              <a:rPr sz="2175" baseline="34482" dirty="0">
                <a:latin typeface="Symbol"/>
                <a:cs typeface="Symbol"/>
              </a:rPr>
              <a:t></a:t>
            </a:r>
            <a:r>
              <a:rPr sz="2175" i="1" baseline="34482" dirty="0">
                <a:latin typeface="Times New Roman"/>
                <a:cs typeface="Times New Roman"/>
              </a:rPr>
              <a:t>a</a:t>
            </a:r>
            <a:r>
              <a:rPr sz="2175" i="1" spc="142" baseline="34482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Symbol"/>
                <a:cs typeface="Symbol"/>
              </a:rPr>
              <a:t></a:t>
            </a:r>
            <a:r>
              <a:rPr sz="1450" spc="-40" dirty="0">
                <a:latin typeface="Times New Roman"/>
                <a:cs typeface="Times New Roman"/>
              </a:rPr>
              <a:t> </a:t>
            </a:r>
            <a:r>
              <a:rPr sz="1450" i="1" spc="-10" dirty="0">
                <a:latin typeface="Times New Roman"/>
                <a:cs typeface="Times New Roman"/>
              </a:rPr>
              <a:t>a</a:t>
            </a:r>
            <a:r>
              <a:rPr sz="1450" spc="-10" dirty="0">
                <a:latin typeface="Times New Roman"/>
                <a:cs typeface="Times New Roman"/>
              </a:rPr>
              <a:t>(1</a:t>
            </a:r>
            <a:r>
              <a:rPr sz="1450" spc="-10" dirty="0">
                <a:latin typeface="Symbol"/>
                <a:cs typeface="Symbol"/>
              </a:rPr>
              <a:t></a:t>
            </a:r>
            <a:r>
              <a:rPr sz="1450" spc="-125" dirty="0">
                <a:latin typeface="Times New Roman"/>
                <a:cs typeface="Times New Roman"/>
              </a:rPr>
              <a:t> </a:t>
            </a:r>
            <a:r>
              <a:rPr sz="1450" i="1" spc="-25" dirty="0">
                <a:latin typeface="Times New Roman"/>
                <a:cs typeface="Times New Roman"/>
              </a:rPr>
              <a:t>a</a:t>
            </a:r>
            <a:r>
              <a:rPr sz="1450" spc="-25" dirty="0">
                <a:latin typeface="Times New Roman"/>
                <a:cs typeface="Times New Roman"/>
              </a:rPr>
              <a:t>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00279" y="5119283"/>
            <a:ext cx="18542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latin typeface="Symbol"/>
                <a:cs typeface="Symbol"/>
              </a:rPr>
              <a:t></a:t>
            </a:r>
            <a:r>
              <a:rPr sz="1450" i="1" spc="-25" dirty="0">
                <a:latin typeface="Times New Roman"/>
                <a:cs typeface="Times New Roman"/>
              </a:rPr>
              <a:t>z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95146" y="2144435"/>
            <a:ext cx="17907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Times New Roman"/>
                <a:cs typeface="Times New Roman"/>
              </a:rPr>
              <a:t>db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08502" y="2818043"/>
            <a:ext cx="20383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Times New Roman"/>
                <a:cs typeface="Times New Roman"/>
              </a:rPr>
              <a:t>dw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44827" y="2558078"/>
            <a:ext cx="1972310" cy="659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90"/>
              </a:spcBef>
            </a:pP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y</a:t>
            </a:r>
            <a:r>
              <a:rPr sz="1850" spc="-25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300" dirty="0">
                <a:latin typeface="Symbol"/>
                <a:cs typeface="Symbol"/>
              </a:rPr>
              <a:t>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Symbol"/>
                <a:cs typeface="Symbol"/>
              </a:rPr>
              <a:t></a:t>
            </a:r>
            <a:r>
              <a:rPr sz="1300" spc="-145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y</a:t>
            </a:r>
            <a:r>
              <a:rPr sz="1300" i="1" spc="-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log(</a:t>
            </a:r>
            <a:r>
              <a:rPr sz="1300" i="1" dirty="0">
                <a:latin typeface="Times New Roman"/>
                <a:cs typeface="Times New Roman"/>
              </a:rPr>
              <a:t>a</a:t>
            </a:r>
            <a:r>
              <a:rPr sz="1300" dirty="0">
                <a:latin typeface="Times New Roman"/>
                <a:cs typeface="Times New Roman"/>
              </a:rPr>
              <a:t>)</a:t>
            </a:r>
            <a:r>
              <a:rPr sz="1300" spc="-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Symbol"/>
                <a:cs typeface="Symbol"/>
              </a:rPr>
              <a:t></a:t>
            </a:r>
            <a:r>
              <a:rPr sz="1300" spc="-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(1</a:t>
            </a:r>
            <a:r>
              <a:rPr sz="1300" dirty="0">
                <a:latin typeface="Symbol"/>
                <a:cs typeface="Symbol"/>
              </a:rPr>
              <a:t>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y</a:t>
            </a:r>
            <a:r>
              <a:rPr sz="1300" dirty="0">
                <a:latin typeface="Times New Roman"/>
                <a:cs typeface="Times New Roman"/>
              </a:rPr>
              <a:t>)</a:t>
            </a:r>
            <a:r>
              <a:rPr sz="1300" spc="-16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log(1</a:t>
            </a:r>
            <a:r>
              <a:rPr sz="1300" spc="-10" dirty="0">
                <a:latin typeface="Symbol"/>
                <a:cs typeface="Symbol"/>
              </a:rPr>
              <a:t></a:t>
            </a:r>
            <a:r>
              <a:rPr sz="1300" spc="-85" dirty="0">
                <a:latin typeface="Times New Roman"/>
                <a:cs typeface="Times New Roman"/>
              </a:rPr>
              <a:t> </a:t>
            </a:r>
            <a:r>
              <a:rPr sz="1300" i="1" spc="-25" dirty="0">
                <a:latin typeface="Times New Roman"/>
                <a:cs typeface="Times New Roman"/>
              </a:rPr>
              <a:t>a</a:t>
            </a:r>
            <a:r>
              <a:rPr sz="1300" spc="-25" dirty="0">
                <a:latin typeface="Times New Roman"/>
                <a:cs typeface="Times New Roman"/>
              </a:rPr>
              <a:t>)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835054" y="5699777"/>
            <a:ext cx="858519" cy="0"/>
          </a:xfrm>
          <a:custGeom>
            <a:avLst/>
            <a:gdLst/>
            <a:ahLst/>
            <a:cxnLst/>
            <a:rect l="l" t="t" r="r" b="b"/>
            <a:pathLst>
              <a:path w="858519">
                <a:moveTo>
                  <a:pt x="0" y="0"/>
                </a:moveTo>
                <a:lnTo>
                  <a:pt x="222366" y="0"/>
                </a:lnTo>
              </a:path>
              <a:path w="858519">
                <a:moveTo>
                  <a:pt x="416230" y="0"/>
                </a:moveTo>
                <a:lnTo>
                  <a:pt x="638596" y="0"/>
                </a:lnTo>
              </a:path>
              <a:path w="858519">
                <a:moveTo>
                  <a:pt x="672792" y="0"/>
                </a:moveTo>
                <a:lnTo>
                  <a:pt x="858107" y="0"/>
                </a:lnTo>
              </a:path>
            </a:pathLst>
          </a:custGeom>
          <a:ln w="90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87603" y="5528570"/>
            <a:ext cx="12033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350" indent="-2222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60350" algn="l"/>
              </a:tabLst>
            </a:pPr>
            <a:r>
              <a:rPr sz="2400" i="1" baseline="1736" dirty="0">
                <a:latin typeface="Times New Roman"/>
                <a:cs typeface="Times New Roman"/>
              </a:rPr>
              <a:t>dw</a:t>
            </a:r>
            <a:r>
              <a:rPr sz="2400" baseline="1736" dirty="0">
                <a:latin typeface="Arial MT"/>
                <a:cs typeface="Arial MT"/>
              </a:rPr>
              <a:t>:</a:t>
            </a:r>
            <a:r>
              <a:rPr sz="2400" spc="427" baseline="1736" dirty="0">
                <a:latin typeface="Arial MT"/>
                <a:cs typeface="Arial MT"/>
              </a:rPr>
              <a:t> </a:t>
            </a:r>
            <a:r>
              <a:rPr sz="1450" i="1" spc="-10" dirty="0">
                <a:latin typeface="Times New Roman"/>
                <a:cs typeface="Times New Roman"/>
              </a:rPr>
              <a:t>dw</a:t>
            </a:r>
            <a:r>
              <a:rPr sz="1450" i="1" spc="-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Symbol"/>
                <a:cs typeface="Symbol"/>
              </a:rPr>
              <a:t></a:t>
            </a:r>
            <a:r>
              <a:rPr sz="1450" spc="195" dirty="0">
                <a:latin typeface="Times New Roman"/>
                <a:cs typeface="Times New Roman"/>
              </a:rPr>
              <a:t> </a:t>
            </a:r>
            <a:r>
              <a:rPr sz="2175" spc="-75" baseline="34482" dirty="0">
                <a:latin typeface="Symbol"/>
                <a:cs typeface="Symbol"/>
              </a:rPr>
              <a:t></a:t>
            </a:r>
            <a:endParaRPr sz="2175" baseline="34482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67784" y="5434186"/>
            <a:ext cx="577215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75" baseline="-34482" dirty="0">
                <a:latin typeface="Symbol"/>
                <a:cs typeface="Symbol"/>
              </a:rPr>
              <a:t></a:t>
            </a:r>
            <a:r>
              <a:rPr sz="2175" spc="277" baseline="-34482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Symbol"/>
                <a:cs typeface="Symbol"/>
              </a:rPr>
              <a:t></a:t>
            </a:r>
            <a:r>
              <a:rPr sz="1450" i="1" dirty="0">
                <a:latin typeface="Times New Roman"/>
                <a:cs typeface="Times New Roman"/>
              </a:rPr>
              <a:t>z</a:t>
            </a:r>
            <a:r>
              <a:rPr sz="1450" i="1" spc="21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Symbol"/>
                <a:cs typeface="Symbol"/>
              </a:rPr>
              <a:t>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30903" y="5692307"/>
            <a:ext cx="859155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28625" algn="l"/>
              </a:tabLst>
            </a:pPr>
            <a:r>
              <a:rPr sz="1450" spc="-25" dirty="0">
                <a:latin typeface="Symbol"/>
                <a:cs typeface="Symbol"/>
              </a:rPr>
              <a:t></a:t>
            </a:r>
            <a:r>
              <a:rPr sz="1450" i="1" spc="-25" dirty="0">
                <a:latin typeface="Times New Roman"/>
                <a:cs typeface="Times New Roman"/>
              </a:rPr>
              <a:t>w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dirty="0">
                <a:latin typeface="Symbol"/>
                <a:cs typeface="Symbol"/>
              </a:rPr>
              <a:t></a:t>
            </a:r>
            <a:r>
              <a:rPr sz="1450" i="1" dirty="0">
                <a:latin typeface="Times New Roman"/>
                <a:cs typeface="Times New Roman"/>
              </a:rPr>
              <a:t>w</a:t>
            </a:r>
            <a:r>
              <a:rPr sz="1450" i="1" spc="-35" dirty="0">
                <a:latin typeface="Times New Roman"/>
                <a:cs typeface="Times New Roman"/>
              </a:rPr>
              <a:t> </a:t>
            </a:r>
            <a:r>
              <a:rPr sz="1450" spc="-35" dirty="0">
                <a:latin typeface="Symbol"/>
                <a:cs typeface="Symbol"/>
              </a:rPr>
              <a:t></a:t>
            </a:r>
            <a:r>
              <a:rPr sz="1450" i="1" spc="-35" dirty="0">
                <a:latin typeface="Times New Roman"/>
                <a:cs typeface="Times New Roman"/>
              </a:rPr>
              <a:t>z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50516" y="5455924"/>
            <a:ext cx="783566" cy="279406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1781866" y="6275849"/>
            <a:ext cx="807085" cy="0"/>
          </a:xfrm>
          <a:custGeom>
            <a:avLst/>
            <a:gdLst/>
            <a:ahLst/>
            <a:cxnLst/>
            <a:rect l="l" t="t" r="r" b="b"/>
            <a:pathLst>
              <a:path w="807085">
                <a:moveTo>
                  <a:pt x="0" y="0"/>
                </a:moveTo>
                <a:lnTo>
                  <a:pt x="196670" y="0"/>
                </a:lnTo>
              </a:path>
              <a:path w="807085">
                <a:moveTo>
                  <a:pt x="390475" y="0"/>
                </a:moveTo>
                <a:lnTo>
                  <a:pt x="587146" y="0"/>
                </a:lnTo>
              </a:path>
              <a:path w="807085">
                <a:moveTo>
                  <a:pt x="621336" y="0"/>
                </a:moveTo>
                <a:lnTo>
                  <a:pt x="806594" y="0"/>
                </a:lnTo>
              </a:path>
            </a:pathLst>
          </a:custGeom>
          <a:ln w="90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87603" y="6107379"/>
            <a:ext cx="113728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0350" indent="-22225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60350" algn="l"/>
              </a:tabLst>
            </a:pPr>
            <a:r>
              <a:rPr sz="1600" i="1" dirty="0">
                <a:latin typeface="Times New Roman"/>
                <a:cs typeface="Times New Roman"/>
              </a:rPr>
              <a:t>db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330" dirty="0">
                <a:latin typeface="Arial MT"/>
                <a:cs typeface="Arial MT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db</a:t>
            </a:r>
            <a:r>
              <a:rPr sz="1450" i="1" spc="-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Symbol"/>
                <a:cs typeface="Symbol"/>
              </a:rPr>
              <a:t>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2175" spc="-75" baseline="36398" dirty="0">
                <a:latin typeface="Symbol"/>
                <a:cs typeface="Symbol"/>
              </a:rPr>
              <a:t></a:t>
            </a:r>
            <a:endParaRPr sz="2175" baseline="36398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988884" y="6010258"/>
            <a:ext cx="55118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75" baseline="-34482" dirty="0">
                <a:latin typeface="Symbol"/>
                <a:cs typeface="Symbol"/>
              </a:rPr>
              <a:t></a:t>
            </a:r>
            <a:r>
              <a:rPr sz="2175" spc="127" baseline="-34482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Symbol"/>
                <a:cs typeface="Symbol"/>
              </a:rPr>
              <a:t></a:t>
            </a:r>
            <a:r>
              <a:rPr sz="1450" i="1" dirty="0">
                <a:latin typeface="Times New Roman"/>
                <a:cs typeface="Times New Roman"/>
              </a:rPr>
              <a:t>z</a:t>
            </a:r>
            <a:r>
              <a:rPr sz="1450" i="1" spc="114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Symbol"/>
                <a:cs typeface="Symbol"/>
              </a:rPr>
              <a:t>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77714" y="6268379"/>
            <a:ext cx="80772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2590" algn="l"/>
              </a:tabLst>
            </a:pPr>
            <a:r>
              <a:rPr sz="1450" spc="-25" dirty="0">
                <a:latin typeface="Symbol"/>
                <a:cs typeface="Symbol"/>
              </a:rPr>
              <a:t></a:t>
            </a:r>
            <a:r>
              <a:rPr sz="1450" i="1" spc="-25" dirty="0">
                <a:latin typeface="Times New Roman"/>
                <a:cs typeface="Times New Roman"/>
              </a:rPr>
              <a:t>b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dirty="0">
                <a:latin typeface="Symbol"/>
                <a:cs typeface="Symbol"/>
              </a:rPr>
              <a:t></a:t>
            </a:r>
            <a:r>
              <a:rPr sz="1450" i="1" dirty="0">
                <a:latin typeface="Times New Roman"/>
                <a:cs typeface="Times New Roman"/>
              </a:rPr>
              <a:t>b</a:t>
            </a:r>
            <a:r>
              <a:rPr sz="1450" i="1" spc="10" dirty="0">
                <a:latin typeface="Times New Roman"/>
                <a:cs typeface="Times New Roman"/>
              </a:rPr>
              <a:t> </a:t>
            </a:r>
            <a:r>
              <a:rPr sz="1450" spc="-35" dirty="0">
                <a:latin typeface="Symbol"/>
                <a:cs typeface="Symbol"/>
              </a:rPr>
              <a:t></a:t>
            </a:r>
            <a:r>
              <a:rPr sz="1450" i="1" spc="-35" dirty="0">
                <a:latin typeface="Times New Roman"/>
                <a:cs typeface="Times New Roman"/>
              </a:rPr>
              <a:t>z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84466" y="6031996"/>
            <a:ext cx="745924" cy="279406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3227920" y="5126753"/>
            <a:ext cx="813435" cy="0"/>
          </a:xfrm>
          <a:custGeom>
            <a:avLst/>
            <a:gdLst/>
            <a:ahLst/>
            <a:cxnLst/>
            <a:rect l="l" t="t" r="r" b="b"/>
            <a:pathLst>
              <a:path w="813435">
                <a:moveTo>
                  <a:pt x="0" y="0"/>
                </a:moveTo>
                <a:lnTo>
                  <a:pt x="185393" y="0"/>
                </a:lnTo>
              </a:path>
              <a:path w="813435">
                <a:moveTo>
                  <a:pt x="379351" y="0"/>
                </a:moveTo>
                <a:lnTo>
                  <a:pt x="579006" y="0"/>
                </a:lnTo>
              </a:path>
              <a:path w="813435">
                <a:moveTo>
                  <a:pt x="613255" y="0"/>
                </a:moveTo>
                <a:lnTo>
                  <a:pt x="812900" y="0"/>
                </a:lnTo>
              </a:path>
            </a:pathLst>
          </a:custGeom>
          <a:ln w="90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833263" y="4976414"/>
            <a:ext cx="53213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50" i="1" dirty="0">
                <a:latin typeface="Times New Roman"/>
                <a:cs typeface="Times New Roman"/>
              </a:rPr>
              <a:t>dz </a:t>
            </a:r>
            <a:r>
              <a:rPr sz="1450" dirty="0">
                <a:latin typeface="Symbol"/>
                <a:cs typeface="Symbol"/>
              </a:rPr>
              <a:t>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2175" spc="-75" baseline="34482" dirty="0">
                <a:latin typeface="Symbol"/>
                <a:cs typeface="Symbol"/>
              </a:rPr>
              <a:t></a:t>
            </a:r>
            <a:endParaRPr sz="2175" baseline="34482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423551" y="4861162"/>
            <a:ext cx="561975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75" baseline="-34482" dirty="0">
                <a:latin typeface="Symbol"/>
                <a:cs typeface="Symbol"/>
              </a:rPr>
              <a:t></a:t>
            </a:r>
            <a:r>
              <a:rPr sz="2175" spc="44" baseline="-34482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Symbol"/>
                <a:cs typeface="Symbol"/>
              </a:rPr>
              <a:t></a:t>
            </a:r>
            <a:r>
              <a:rPr sz="1450" i="1" dirty="0">
                <a:latin typeface="Times New Roman"/>
                <a:cs typeface="Times New Roman"/>
              </a:rPr>
              <a:t>a</a:t>
            </a:r>
            <a:r>
              <a:rPr sz="1450" i="1" spc="9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Symbol"/>
                <a:cs typeface="Symbol"/>
              </a:rPr>
              <a:t>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076216" y="4976414"/>
            <a:ext cx="523875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dirty="0">
                <a:latin typeface="Symbol"/>
                <a:cs typeface="Symbol"/>
              </a:rPr>
              <a:t></a:t>
            </a:r>
            <a:r>
              <a:rPr sz="1450" spc="-50" dirty="0">
                <a:latin typeface="Times New Roman"/>
                <a:cs typeface="Times New Roman"/>
              </a:rPr>
              <a:t> </a:t>
            </a:r>
            <a:r>
              <a:rPr sz="1450" i="1" spc="-10" dirty="0">
                <a:latin typeface="Times New Roman"/>
                <a:cs typeface="Times New Roman"/>
              </a:rPr>
              <a:t>a</a:t>
            </a:r>
            <a:r>
              <a:rPr sz="1450" i="1" spc="-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Symbol"/>
                <a:cs typeface="Symbol"/>
              </a:rPr>
              <a:t>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i="1" spc="-50" dirty="0">
                <a:latin typeface="Times New Roman"/>
                <a:cs typeface="Times New Roman"/>
              </a:rPr>
              <a:t>y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225190" y="5119283"/>
            <a:ext cx="817244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98780" algn="l"/>
              </a:tabLst>
            </a:pPr>
            <a:r>
              <a:rPr sz="1450" spc="-25" dirty="0">
                <a:latin typeface="Symbol"/>
                <a:cs typeface="Symbol"/>
              </a:rPr>
              <a:t></a:t>
            </a:r>
            <a:r>
              <a:rPr sz="1450" i="1" spc="-25" dirty="0">
                <a:latin typeface="Times New Roman"/>
                <a:cs typeface="Times New Roman"/>
              </a:rPr>
              <a:t>z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dirty="0">
                <a:latin typeface="Symbol"/>
                <a:cs typeface="Symbol"/>
              </a:rPr>
              <a:t></a:t>
            </a:r>
            <a:r>
              <a:rPr sz="1450" i="1" dirty="0">
                <a:latin typeface="Times New Roman"/>
                <a:cs typeface="Times New Roman"/>
              </a:rPr>
              <a:t>z</a:t>
            </a:r>
            <a:r>
              <a:rPr sz="1450" i="1" spc="12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Symbol"/>
                <a:cs typeface="Symbol"/>
              </a:rPr>
              <a:t></a:t>
            </a:r>
            <a:r>
              <a:rPr sz="1450" i="1" spc="-25" dirty="0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50" name="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24885" y="4882900"/>
            <a:ext cx="1298964" cy="279406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3361634" y="5558544"/>
            <a:ext cx="729615" cy="245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dirty="0">
                <a:latin typeface="Times New Roman"/>
                <a:cs typeface="Times New Roman"/>
              </a:rPr>
              <a:t>dw</a:t>
            </a:r>
            <a:r>
              <a:rPr sz="1450" i="1" spc="-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Symbol"/>
                <a:cs typeface="Symbol"/>
              </a:rPr>
              <a:t></a:t>
            </a:r>
            <a:r>
              <a:rPr sz="1450" spc="-4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x</a:t>
            </a:r>
            <a:r>
              <a:rPr sz="1450" b="1" spc="50" dirty="0">
                <a:latin typeface="Times New Roman"/>
                <a:cs typeface="Times New Roman"/>
              </a:rPr>
              <a:t> </a:t>
            </a:r>
            <a:r>
              <a:rPr sz="1450" i="1" spc="-25" dirty="0">
                <a:latin typeface="Times New Roman"/>
                <a:cs typeface="Times New Roman"/>
              </a:rPr>
              <a:t>dz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251901" y="6128520"/>
            <a:ext cx="557530" cy="245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dirty="0">
                <a:latin typeface="Times New Roman"/>
                <a:cs typeface="Times New Roman"/>
              </a:rPr>
              <a:t>db</a:t>
            </a:r>
            <a:r>
              <a:rPr sz="1450" i="1" spc="-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Symbol"/>
                <a:cs typeface="Symbol"/>
              </a:rPr>
              <a:t></a:t>
            </a:r>
            <a:r>
              <a:rPr sz="1450" spc="-45" dirty="0">
                <a:latin typeface="Times New Roman"/>
                <a:cs typeface="Times New Roman"/>
              </a:rPr>
              <a:t> </a:t>
            </a:r>
            <a:r>
              <a:rPr sz="1450" i="1" spc="-25" dirty="0">
                <a:latin typeface="Times New Roman"/>
                <a:cs typeface="Times New Roman"/>
              </a:rPr>
              <a:t>dz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53" name="object 5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45332" y="3017526"/>
            <a:ext cx="667912" cy="222497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5021326" y="2304669"/>
            <a:ext cx="86169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Sigmoidea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942636" y="5597340"/>
            <a:ext cx="216535" cy="230504"/>
            <a:chOff x="2942636" y="5597340"/>
            <a:chExt cx="216535" cy="230504"/>
          </a:xfrm>
        </p:grpSpPr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42636" y="5597340"/>
              <a:ext cx="216141" cy="22999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79419" y="5612892"/>
              <a:ext cx="146304" cy="16154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74847" y="5608320"/>
              <a:ext cx="155448" cy="170688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2799460" y="6161220"/>
            <a:ext cx="213360" cy="230504"/>
            <a:chOff x="2799460" y="6161220"/>
            <a:chExt cx="213360" cy="230504"/>
          </a:xfrm>
        </p:grpSpPr>
        <p:pic>
          <p:nvPicPr>
            <p:cNvPr id="60" name="object 6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99460" y="6161220"/>
              <a:ext cx="212894" cy="22999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36163" y="6176772"/>
              <a:ext cx="143256" cy="16154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31591" y="6172200"/>
              <a:ext cx="152400" cy="170687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2491532" y="5024304"/>
            <a:ext cx="216535" cy="230504"/>
            <a:chOff x="2491532" y="5024304"/>
            <a:chExt cx="216535" cy="230504"/>
          </a:xfrm>
        </p:grpSpPr>
        <p:pic>
          <p:nvPicPr>
            <p:cNvPr id="64" name="object 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91532" y="5024304"/>
              <a:ext cx="216141" cy="22999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28315" y="5039868"/>
              <a:ext cx="146303" cy="16154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23743" y="5035296"/>
              <a:ext cx="155448" cy="170688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4759244" y="5024304"/>
            <a:ext cx="216535" cy="230504"/>
            <a:chOff x="4759244" y="5024304"/>
            <a:chExt cx="216535" cy="230504"/>
          </a:xfrm>
        </p:grpSpPr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59244" y="5024304"/>
              <a:ext cx="216141" cy="229997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96027" y="5039868"/>
              <a:ext cx="146304" cy="161544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91455" y="5035296"/>
              <a:ext cx="155448" cy="170688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194475" y="4980635"/>
            <a:ext cx="68262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i="1" dirty="0">
                <a:latin typeface="Times New Roman"/>
                <a:cs typeface="Times New Roman"/>
              </a:rPr>
              <a:t>dz</a:t>
            </a:r>
            <a:r>
              <a:rPr sz="1300" i="1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Symbol"/>
                <a:cs typeface="Symbol"/>
              </a:rPr>
              <a:t>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a</a:t>
            </a:r>
            <a:r>
              <a:rPr sz="1300" i="1" spc="-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Symbol"/>
                <a:cs typeface="Symbol"/>
              </a:rPr>
              <a:t>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i="1" spc="-50" dirty="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113020" y="4951476"/>
            <a:ext cx="859790" cy="338455"/>
          </a:xfrm>
          <a:custGeom>
            <a:avLst/>
            <a:gdLst/>
            <a:ahLst/>
            <a:cxnLst/>
            <a:rect l="l" t="t" r="r" b="b"/>
            <a:pathLst>
              <a:path w="859789" h="338454">
                <a:moveTo>
                  <a:pt x="0" y="56387"/>
                </a:moveTo>
                <a:lnTo>
                  <a:pt x="4435" y="34450"/>
                </a:lnTo>
                <a:lnTo>
                  <a:pt x="16525" y="16525"/>
                </a:lnTo>
                <a:lnTo>
                  <a:pt x="34450" y="4435"/>
                </a:lnTo>
                <a:lnTo>
                  <a:pt x="56387" y="0"/>
                </a:lnTo>
                <a:lnTo>
                  <a:pt x="803147" y="0"/>
                </a:lnTo>
                <a:lnTo>
                  <a:pt x="825085" y="4435"/>
                </a:lnTo>
                <a:lnTo>
                  <a:pt x="843010" y="16525"/>
                </a:lnTo>
                <a:lnTo>
                  <a:pt x="855100" y="34450"/>
                </a:lnTo>
                <a:lnTo>
                  <a:pt x="859535" y="56387"/>
                </a:lnTo>
                <a:lnTo>
                  <a:pt x="859535" y="281940"/>
                </a:lnTo>
                <a:lnTo>
                  <a:pt x="855100" y="303877"/>
                </a:lnTo>
                <a:lnTo>
                  <a:pt x="843010" y="321802"/>
                </a:lnTo>
                <a:lnTo>
                  <a:pt x="825085" y="333892"/>
                </a:lnTo>
                <a:lnTo>
                  <a:pt x="803147" y="338328"/>
                </a:lnTo>
                <a:lnTo>
                  <a:pt x="56387" y="338328"/>
                </a:lnTo>
                <a:lnTo>
                  <a:pt x="34450" y="333892"/>
                </a:lnTo>
                <a:lnTo>
                  <a:pt x="16525" y="321802"/>
                </a:lnTo>
                <a:lnTo>
                  <a:pt x="4435" y="303877"/>
                </a:lnTo>
                <a:lnTo>
                  <a:pt x="0" y="281940"/>
                </a:lnTo>
                <a:lnTo>
                  <a:pt x="0" y="56387"/>
                </a:lnTo>
                <a:close/>
              </a:path>
            </a:pathLst>
          </a:custGeom>
          <a:ln w="9144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317747" y="5539740"/>
            <a:ext cx="822960" cy="338455"/>
          </a:xfrm>
          <a:custGeom>
            <a:avLst/>
            <a:gdLst/>
            <a:ahLst/>
            <a:cxnLst/>
            <a:rect l="l" t="t" r="r" b="b"/>
            <a:pathLst>
              <a:path w="822960" h="338454">
                <a:moveTo>
                  <a:pt x="0" y="56388"/>
                </a:moveTo>
                <a:lnTo>
                  <a:pt x="4435" y="34450"/>
                </a:lnTo>
                <a:lnTo>
                  <a:pt x="16525" y="16525"/>
                </a:lnTo>
                <a:lnTo>
                  <a:pt x="34450" y="4435"/>
                </a:lnTo>
                <a:lnTo>
                  <a:pt x="56387" y="0"/>
                </a:lnTo>
                <a:lnTo>
                  <a:pt x="766572" y="0"/>
                </a:lnTo>
                <a:lnTo>
                  <a:pt x="788509" y="4435"/>
                </a:lnTo>
                <a:lnTo>
                  <a:pt x="806434" y="16525"/>
                </a:lnTo>
                <a:lnTo>
                  <a:pt x="818524" y="34450"/>
                </a:lnTo>
                <a:lnTo>
                  <a:pt x="822960" y="56388"/>
                </a:lnTo>
                <a:lnTo>
                  <a:pt x="822960" y="281940"/>
                </a:lnTo>
                <a:lnTo>
                  <a:pt x="818524" y="303887"/>
                </a:lnTo>
                <a:lnTo>
                  <a:pt x="806434" y="321811"/>
                </a:lnTo>
                <a:lnTo>
                  <a:pt x="788509" y="333896"/>
                </a:lnTo>
                <a:lnTo>
                  <a:pt x="766572" y="338328"/>
                </a:lnTo>
                <a:lnTo>
                  <a:pt x="56387" y="338328"/>
                </a:lnTo>
                <a:lnTo>
                  <a:pt x="34450" y="333896"/>
                </a:lnTo>
                <a:lnTo>
                  <a:pt x="16525" y="321811"/>
                </a:lnTo>
                <a:lnTo>
                  <a:pt x="4435" y="303887"/>
                </a:lnTo>
                <a:lnTo>
                  <a:pt x="0" y="281940"/>
                </a:lnTo>
                <a:lnTo>
                  <a:pt x="0" y="56388"/>
                </a:lnTo>
                <a:close/>
              </a:path>
            </a:pathLst>
          </a:custGeom>
          <a:ln w="9144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125723" y="6097523"/>
            <a:ext cx="820419" cy="335280"/>
          </a:xfrm>
          <a:custGeom>
            <a:avLst/>
            <a:gdLst/>
            <a:ahLst/>
            <a:cxnLst/>
            <a:rect l="l" t="t" r="r" b="b"/>
            <a:pathLst>
              <a:path w="820420" h="335279">
                <a:moveTo>
                  <a:pt x="0" y="55879"/>
                </a:moveTo>
                <a:lnTo>
                  <a:pt x="4391" y="34129"/>
                </a:lnTo>
                <a:lnTo>
                  <a:pt x="16367" y="16367"/>
                </a:lnTo>
                <a:lnTo>
                  <a:pt x="34129" y="4391"/>
                </a:lnTo>
                <a:lnTo>
                  <a:pt x="55880" y="0"/>
                </a:lnTo>
                <a:lnTo>
                  <a:pt x="764031" y="0"/>
                </a:lnTo>
                <a:lnTo>
                  <a:pt x="785782" y="4391"/>
                </a:lnTo>
                <a:lnTo>
                  <a:pt x="803544" y="16367"/>
                </a:lnTo>
                <a:lnTo>
                  <a:pt x="815520" y="34129"/>
                </a:lnTo>
                <a:lnTo>
                  <a:pt x="819912" y="55879"/>
                </a:lnTo>
                <a:lnTo>
                  <a:pt x="819912" y="279399"/>
                </a:lnTo>
                <a:lnTo>
                  <a:pt x="815520" y="301150"/>
                </a:lnTo>
                <a:lnTo>
                  <a:pt x="803544" y="318912"/>
                </a:lnTo>
                <a:lnTo>
                  <a:pt x="785782" y="330888"/>
                </a:lnTo>
                <a:lnTo>
                  <a:pt x="764031" y="335280"/>
                </a:lnTo>
                <a:lnTo>
                  <a:pt x="55880" y="335280"/>
                </a:lnTo>
                <a:lnTo>
                  <a:pt x="34129" y="330888"/>
                </a:lnTo>
                <a:lnTo>
                  <a:pt x="16367" y="318912"/>
                </a:lnTo>
                <a:lnTo>
                  <a:pt x="4391" y="301150"/>
                </a:lnTo>
                <a:lnTo>
                  <a:pt x="0" y="279399"/>
                </a:lnTo>
                <a:lnTo>
                  <a:pt x="0" y="55879"/>
                </a:lnTo>
                <a:close/>
              </a:path>
            </a:pathLst>
          </a:custGeom>
          <a:ln w="9144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pic>
        <p:nvPicPr>
          <p:cNvPr id="76" name="Picture 4">
            <a:extLst>
              <a:ext uri="{FF2B5EF4-FFF2-40B4-BE49-F238E27FC236}">
                <a16:creationId xmlns:a16="http://schemas.microsoft.com/office/drawing/2014/main" id="{0EEFA812-1F82-9801-819F-8E45E7CF1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6" descr="Ingeniería de Sistemas - UNCP">
            <a:extLst>
              <a:ext uri="{FF2B5EF4-FFF2-40B4-BE49-F238E27FC236}">
                <a16:creationId xmlns:a16="http://schemas.microsoft.com/office/drawing/2014/main" id="{F227D969-40F5-0DCB-DC3A-CC39901C0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5029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Backpropagation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1512569"/>
            <a:ext cx="129413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90"/>
              </a:spcBef>
              <a:buChar char="•"/>
              <a:tabLst>
                <a:tab pos="205740" algn="l"/>
              </a:tabLst>
            </a:pPr>
            <a:r>
              <a:rPr sz="2000" spc="-10" dirty="0">
                <a:latin typeface="Arial MT"/>
                <a:cs typeface="Arial MT"/>
              </a:rPr>
              <a:t>Esquema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10890" y="936751"/>
            <a:ext cx="252031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Cuando</a:t>
            </a:r>
            <a:r>
              <a:rPr sz="2000" b="1" spc="-2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hay</a:t>
            </a:r>
            <a:r>
              <a:rPr sz="2000" b="1" spc="-2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2</a:t>
            </a:r>
            <a:r>
              <a:rPr sz="2000" b="1" spc="-4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2092FA"/>
                </a:solidFill>
                <a:latin typeface="Arial"/>
                <a:cs typeface="Arial"/>
              </a:rPr>
              <a:t>Capas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24852" y="2359660"/>
            <a:ext cx="7759700" cy="798830"/>
            <a:chOff x="924852" y="2359660"/>
            <a:chExt cx="7759700" cy="7988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0349" y="2855223"/>
              <a:ext cx="1051904" cy="2367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6203" y="2860390"/>
              <a:ext cx="1577412" cy="20242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2362" y="2864898"/>
              <a:ext cx="1643266" cy="19950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2574" y="2855527"/>
              <a:ext cx="1029022" cy="2313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50263" y="2779776"/>
              <a:ext cx="7321550" cy="365760"/>
            </a:xfrm>
            <a:custGeom>
              <a:avLst/>
              <a:gdLst/>
              <a:ahLst/>
              <a:cxnLst/>
              <a:rect l="l" t="t" r="r" b="b"/>
              <a:pathLst>
                <a:path w="7321550" h="365760">
                  <a:moveTo>
                    <a:pt x="0" y="59436"/>
                  </a:moveTo>
                  <a:lnTo>
                    <a:pt x="4679" y="36325"/>
                  </a:lnTo>
                  <a:lnTo>
                    <a:pt x="17430" y="17430"/>
                  </a:lnTo>
                  <a:lnTo>
                    <a:pt x="36325" y="4679"/>
                  </a:lnTo>
                  <a:lnTo>
                    <a:pt x="59436" y="0"/>
                  </a:lnTo>
                  <a:lnTo>
                    <a:pt x="1601724" y="0"/>
                  </a:lnTo>
                  <a:lnTo>
                    <a:pt x="1624834" y="4679"/>
                  </a:lnTo>
                  <a:lnTo>
                    <a:pt x="1643729" y="17430"/>
                  </a:lnTo>
                  <a:lnTo>
                    <a:pt x="1656480" y="36325"/>
                  </a:lnTo>
                  <a:lnTo>
                    <a:pt x="1661160" y="59436"/>
                  </a:lnTo>
                  <a:lnTo>
                    <a:pt x="1661160" y="297179"/>
                  </a:lnTo>
                  <a:lnTo>
                    <a:pt x="1656480" y="320290"/>
                  </a:lnTo>
                  <a:lnTo>
                    <a:pt x="1643729" y="339185"/>
                  </a:lnTo>
                  <a:lnTo>
                    <a:pt x="1624834" y="351936"/>
                  </a:lnTo>
                  <a:lnTo>
                    <a:pt x="1601724" y="356615"/>
                  </a:lnTo>
                  <a:lnTo>
                    <a:pt x="59436" y="356615"/>
                  </a:lnTo>
                  <a:lnTo>
                    <a:pt x="36325" y="351936"/>
                  </a:lnTo>
                  <a:lnTo>
                    <a:pt x="17430" y="339185"/>
                  </a:lnTo>
                  <a:lnTo>
                    <a:pt x="4679" y="320290"/>
                  </a:lnTo>
                  <a:lnTo>
                    <a:pt x="0" y="297179"/>
                  </a:lnTo>
                  <a:lnTo>
                    <a:pt x="0" y="59436"/>
                  </a:lnTo>
                  <a:close/>
                </a:path>
                <a:path w="7321550" h="365760">
                  <a:moveTo>
                    <a:pt x="2084832" y="68579"/>
                  </a:moveTo>
                  <a:lnTo>
                    <a:pt x="2089511" y="45469"/>
                  </a:lnTo>
                  <a:lnTo>
                    <a:pt x="2102262" y="26574"/>
                  </a:lnTo>
                  <a:lnTo>
                    <a:pt x="2121157" y="13823"/>
                  </a:lnTo>
                  <a:lnTo>
                    <a:pt x="2144268" y="9144"/>
                  </a:lnTo>
                  <a:lnTo>
                    <a:pt x="3272028" y="9144"/>
                  </a:lnTo>
                  <a:lnTo>
                    <a:pt x="3295138" y="13823"/>
                  </a:lnTo>
                  <a:lnTo>
                    <a:pt x="3314033" y="26574"/>
                  </a:lnTo>
                  <a:lnTo>
                    <a:pt x="3326784" y="45469"/>
                  </a:lnTo>
                  <a:lnTo>
                    <a:pt x="3331464" y="68579"/>
                  </a:lnTo>
                  <a:lnTo>
                    <a:pt x="3331464" y="306324"/>
                  </a:lnTo>
                  <a:lnTo>
                    <a:pt x="3326784" y="329434"/>
                  </a:lnTo>
                  <a:lnTo>
                    <a:pt x="3314033" y="348329"/>
                  </a:lnTo>
                  <a:lnTo>
                    <a:pt x="3295138" y="361080"/>
                  </a:lnTo>
                  <a:lnTo>
                    <a:pt x="3272028" y="365760"/>
                  </a:lnTo>
                  <a:lnTo>
                    <a:pt x="2144268" y="365760"/>
                  </a:lnTo>
                  <a:lnTo>
                    <a:pt x="2121157" y="361080"/>
                  </a:lnTo>
                  <a:lnTo>
                    <a:pt x="2102262" y="348329"/>
                  </a:lnTo>
                  <a:lnTo>
                    <a:pt x="2089511" y="329434"/>
                  </a:lnTo>
                  <a:lnTo>
                    <a:pt x="2084832" y="306324"/>
                  </a:lnTo>
                  <a:lnTo>
                    <a:pt x="2084832" y="68579"/>
                  </a:lnTo>
                  <a:close/>
                </a:path>
                <a:path w="7321550" h="365760">
                  <a:moveTo>
                    <a:pt x="3797808" y="59436"/>
                  </a:moveTo>
                  <a:lnTo>
                    <a:pt x="3802487" y="36325"/>
                  </a:lnTo>
                  <a:lnTo>
                    <a:pt x="3815238" y="17430"/>
                  </a:lnTo>
                  <a:lnTo>
                    <a:pt x="3834133" y="4679"/>
                  </a:lnTo>
                  <a:lnTo>
                    <a:pt x="3857244" y="0"/>
                  </a:lnTo>
                  <a:lnTo>
                    <a:pt x="5585460" y="0"/>
                  </a:lnTo>
                  <a:lnTo>
                    <a:pt x="5608570" y="4679"/>
                  </a:lnTo>
                  <a:lnTo>
                    <a:pt x="5627465" y="17430"/>
                  </a:lnTo>
                  <a:lnTo>
                    <a:pt x="5640216" y="36325"/>
                  </a:lnTo>
                  <a:lnTo>
                    <a:pt x="5644895" y="59436"/>
                  </a:lnTo>
                  <a:lnTo>
                    <a:pt x="5644895" y="297179"/>
                  </a:lnTo>
                  <a:lnTo>
                    <a:pt x="5640216" y="320290"/>
                  </a:lnTo>
                  <a:lnTo>
                    <a:pt x="5627465" y="339185"/>
                  </a:lnTo>
                  <a:lnTo>
                    <a:pt x="5608570" y="351936"/>
                  </a:lnTo>
                  <a:lnTo>
                    <a:pt x="5585460" y="356615"/>
                  </a:lnTo>
                  <a:lnTo>
                    <a:pt x="3857244" y="356615"/>
                  </a:lnTo>
                  <a:lnTo>
                    <a:pt x="3834133" y="351936"/>
                  </a:lnTo>
                  <a:lnTo>
                    <a:pt x="3815238" y="339185"/>
                  </a:lnTo>
                  <a:lnTo>
                    <a:pt x="3802487" y="320290"/>
                  </a:lnTo>
                  <a:lnTo>
                    <a:pt x="3797808" y="297179"/>
                  </a:lnTo>
                  <a:lnTo>
                    <a:pt x="3797808" y="59436"/>
                  </a:lnTo>
                  <a:close/>
                </a:path>
                <a:path w="7321550" h="365760">
                  <a:moveTo>
                    <a:pt x="6111240" y="59436"/>
                  </a:moveTo>
                  <a:lnTo>
                    <a:pt x="6115919" y="36325"/>
                  </a:lnTo>
                  <a:lnTo>
                    <a:pt x="6128670" y="17430"/>
                  </a:lnTo>
                  <a:lnTo>
                    <a:pt x="6147565" y="4679"/>
                  </a:lnTo>
                  <a:lnTo>
                    <a:pt x="6170676" y="0"/>
                  </a:lnTo>
                  <a:lnTo>
                    <a:pt x="7261859" y="0"/>
                  </a:lnTo>
                  <a:lnTo>
                    <a:pt x="7284970" y="4679"/>
                  </a:lnTo>
                  <a:lnTo>
                    <a:pt x="7303865" y="17430"/>
                  </a:lnTo>
                  <a:lnTo>
                    <a:pt x="7316616" y="36325"/>
                  </a:lnTo>
                  <a:lnTo>
                    <a:pt x="7321296" y="59436"/>
                  </a:lnTo>
                  <a:lnTo>
                    <a:pt x="7321296" y="297179"/>
                  </a:lnTo>
                  <a:lnTo>
                    <a:pt x="7316616" y="320290"/>
                  </a:lnTo>
                  <a:lnTo>
                    <a:pt x="7303865" y="339185"/>
                  </a:lnTo>
                  <a:lnTo>
                    <a:pt x="7284970" y="351936"/>
                  </a:lnTo>
                  <a:lnTo>
                    <a:pt x="7261859" y="356615"/>
                  </a:lnTo>
                  <a:lnTo>
                    <a:pt x="6170676" y="356615"/>
                  </a:lnTo>
                  <a:lnTo>
                    <a:pt x="6147565" y="351936"/>
                  </a:lnTo>
                  <a:lnTo>
                    <a:pt x="6128670" y="339185"/>
                  </a:lnTo>
                  <a:lnTo>
                    <a:pt x="6115919" y="320290"/>
                  </a:lnTo>
                  <a:lnTo>
                    <a:pt x="6111240" y="297179"/>
                  </a:lnTo>
                  <a:lnTo>
                    <a:pt x="6111240" y="59436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4852" y="2359659"/>
              <a:ext cx="6545580" cy="646430"/>
            </a:xfrm>
            <a:custGeom>
              <a:avLst/>
              <a:gdLst/>
              <a:ahLst/>
              <a:cxnLst/>
              <a:rect l="l" t="t" r="r" b="b"/>
              <a:pathLst>
                <a:path w="6545580" h="646430">
                  <a:moveTo>
                    <a:pt x="339204" y="604329"/>
                  </a:moveTo>
                  <a:lnTo>
                    <a:pt x="338759" y="591642"/>
                  </a:lnTo>
                  <a:lnTo>
                    <a:pt x="0" y="603504"/>
                  </a:lnTo>
                  <a:lnTo>
                    <a:pt x="431" y="616204"/>
                  </a:lnTo>
                  <a:lnTo>
                    <a:pt x="339204" y="604329"/>
                  </a:lnTo>
                  <a:close/>
                </a:path>
                <a:path w="6545580" h="646430">
                  <a:moveTo>
                    <a:pt x="415124" y="595376"/>
                  </a:moveTo>
                  <a:lnTo>
                    <a:pt x="405955" y="591185"/>
                  </a:lnTo>
                  <a:lnTo>
                    <a:pt x="337654" y="559943"/>
                  </a:lnTo>
                  <a:lnTo>
                    <a:pt x="338747" y="591185"/>
                  </a:lnTo>
                  <a:lnTo>
                    <a:pt x="338759" y="591642"/>
                  </a:lnTo>
                  <a:lnTo>
                    <a:pt x="339178" y="603504"/>
                  </a:lnTo>
                  <a:lnTo>
                    <a:pt x="339204" y="604329"/>
                  </a:lnTo>
                  <a:lnTo>
                    <a:pt x="340321" y="636143"/>
                  </a:lnTo>
                  <a:lnTo>
                    <a:pt x="415124" y="595376"/>
                  </a:lnTo>
                  <a:close/>
                </a:path>
                <a:path w="6545580" h="646430">
                  <a:moveTo>
                    <a:pt x="2501112" y="614426"/>
                  </a:moveTo>
                  <a:lnTo>
                    <a:pt x="2448395" y="614426"/>
                  </a:lnTo>
                  <a:lnTo>
                    <a:pt x="2435758" y="614426"/>
                  </a:lnTo>
                  <a:lnTo>
                    <a:pt x="2435187" y="645922"/>
                  </a:lnTo>
                  <a:lnTo>
                    <a:pt x="2501112" y="614426"/>
                  </a:lnTo>
                  <a:close/>
                </a:path>
                <a:path w="6545580" h="646430">
                  <a:moveTo>
                    <a:pt x="2512022" y="609219"/>
                  </a:moveTo>
                  <a:lnTo>
                    <a:pt x="2436584" y="569722"/>
                  </a:lnTo>
                  <a:lnTo>
                    <a:pt x="2436114" y="595122"/>
                  </a:lnTo>
                  <a:lnTo>
                    <a:pt x="2435999" y="601497"/>
                  </a:lnTo>
                  <a:lnTo>
                    <a:pt x="2088222" y="595122"/>
                  </a:lnTo>
                  <a:lnTo>
                    <a:pt x="2088083" y="601497"/>
                  </a:lnTo>
                  <a:lnTo>
                    <a:pt x="2087968" y="607822"/>
                  </a:lnTo>
                  <a:lnTo>
                    <a:pt x="2435758" y="614197"/>
                  </a:lnTo>
                  <a:lnTo>
                    <a:pt x="2448395" y="614197"/>
                  </a:lnTo>
                  <a:lnTo>
                    <a:pt x="2501595" y="614197"/>
                  </a:lnTo>
                  <a:lnTo>
                    <a:pt x="2512022" y="609219"/>
                  </a:lnTo>
                  <a:close/>
                </a:path>
                <a:path w="6545580" h="646430">
                  <a:moveTo>
                    <a:pt x="4223474" y="601472"/>
                  </a:moveTo>
                  <a:lnTo>
                    <a:pt x="4212361" y="596138"/>
                  </a:lnTo>
                  <a:lnTo>
                    <a:pt x="4146766" y="564642"/>
                  </a:lnTo>
                  <a:lnTo>
                    <a:pt x="4147286" y="596138"/>
                  </a:lnTo>
                  <a:lnTo>
                    <a:pt x="4147286" y="596353"/>
                  </a:lnTo>
                  <a:lnTo>
                    <a:pt x="3758273" y="602869"/>
                  </a:lnTo>
                  <a:lnTo>
                    <a:pt x="3758527" y="615569"/>
                  </a:lnTo>
                  <a:lnTo>
                    <a:pt x="4147502" y="609053"/>
                  </a:lnTo>
                  <a:lnTo>
                    <a:pt x="4148036" y="640842"/>
                  </a:lnTo>
                  <a:lnTo>
                    <a:pt x="4223474" y="601472"/>
                  </a:lnTo>
                  <a:close/>
                </a:path>
                <a:path w="6545580" h="646430">
                  <a:moveTo>
                    <a:pt x="4374096" y="406781"/>
                  </a:moveTo>
                  <a:lnTo>
                    <a:pt x="4363263" y="362458"/>
                  </a:lnTo>
                  <a:lnTo>
                    <a:pt x="4353903" y="324104"/>
                  </a:lnTo>
                  <a:lnTo>
                    <a:pt x="4329671" y="344639"/>
                  </a:lnTo>
                  <a:lnTo>
                    <a:pt x="4037546" y="0"/>
                  </a:lnTo>
                  <a:lnTo>
                    <a:pt x="4027894" y="8128"/>
                  </a:lnTo>
                  <a:lnTo>
                    <a:pt x="4320044" y="352793"/>
                  </a:lnTo>
                  <a:lnTo>
                    <a:pt x="4295737" y="373380"/>
                  </a:lnTo>
                  <a:lnTo>
                    <a:pt x="4374096" y="406781"/>
                  </a:lnTo>
                  <a:close/>
                </a:path>
                <a:path w="6545580" h="646430">
                  <a:moveTo>
                    <a:pt x="4658830" y="387985"/>
                  </a:moveTo>
                  <a:lnTo>
                    <a:pt x="4649140" y="342265"/>
                  </a:lnTo>
                  <a:lnTo>
                    <a:pt x="4641177" y="304673"/>
                  </a:lnTo>
                  <a:lnTo>
                    <a:pt x="4616323" y="324396"/>
                  </a:lnTo>
                  <a:lnTo>
                    <a:pt x="4385145" y="33655"/>
                  </a:lnTo>
                  <a:lnTo>
                    <a:pt x="4375239" y="41529"/>
                  </a:lnTo>
                  <a:lnTo>
                    <a:pt x="4606341" y="332320"/>
                  </a:lnTo>
                  <a:lnTo>
                    <a:pt x="4581487" y="352044"/>
                  </a:lnTo>
                  <a:lnTo>
                    <a:pt x="4658830" y="387985"/>
                  </a:lnTo>
                  <a:close/>
                </a:path>
                <a:path w="6545580" h="646430">
                  <a:moveTo>
                    <a:pt x="6545161" y="601472"/>
                  </a:moveTo>
                  <a:lnTo>
                    <a:pt x="6532461" y="595122"/>
                  </a:lnTo>
                  <a:lnTo>
                    <a:pt x="6468961" y="563372"/>
                  </a:lnTo>
                  <a:lnTo>
                    <a:pt x="6468961" y="595122"/>
                  </a:lnTo>
                  <a:lnTo>
                    <a:pt x="6093168" y="595122"/>
                  </a:lnTo>
                  <a:lnTo>
                    <a:pt x="6093168" y="607822"/>
                  </a:lnTo>
                  <a:lnTo>
                    <a:pt x="6468961" y="607822"/>
                  </a:lnTo>
                  <a:lnTo>
                    <a:pt x="6468961" y="639572"/>
                  </a:lnTo>
                  <a:lnTo>
                    <a:pt x="6532461" y="607822"/>
                  </a:lnTo>
                  <a:lnTo>
                    <a:pt x="6545161" y="601472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96612" y="2363723"/>
              <a:ext cx="774700" cy="391160"/>
            </a:xfrm>
            <a:custGeom>
              <a:avLst/>
              <a:gdLst/>
              <a:ahLst/>
              <a:cxnLst/>
              <a:rect l="l" t="t" r="r" b="b"/>
              <a:pathLst>
                <a:path w="774700" h="391160">
                  <a:moveTo>
                    <a:pt x="294640" y="382397"/>
                  </a:moveTo>
                  <a:lnTo>
                    <a:pt x="54902" y="108064"/>
                  </a:lnTo>
                  <a:lnTo>
                    <a:pt x="65786" y="98552"/>
                  </a:lnTo>
                  <a:lnTo>
                    <a:pt x="78867" y="87122"/>
                  </a:lnTo>
                  <a:lnTo>
                    <a:pt x="0" y="54864"/>
                  </a:lnTo>
                  <a:lnTo>
                    <a:pt x="21463" y="137287"/>
                  </a:lnTo>
                  <a:lnTo>
                    <a:pt x="45339" y="116420"/>
                  </a:lnTo>
                  <a:lnTo>
                    <a:pt x="285115" y="390779"/>
                  </a:lnTo>
                  <a:lnTo>
                    <a:pt x="294640" y="382397"/>
                  </a:lnTo>
                  <a:close/>
                </a:path>
                <a:path w="774700" h="391160">
                  <a:moveTo>
                    <a:pt x="774319" y="348869"/>
                  </a:moveTo>
                  <a:lnTo>
                    <a:pt x="567575" y="58381"/>
                  </a:lnTo>
                  <a:lnTo>
                    <a:pt x="582117" y="48006"/>
                  </a:lnTo>
                  <a:lnTo>
                    <a:pt x="593344" y="40005"/>
                  </a:lnTo>
                  <a:lnTo>
                    <a:pt x="518160" y="0"/>
                  </a:lnTo>
                  <a:lnTo>
                    <a:pt x="531368" y="84201"/>
                  </a:lnTo>
                  <a:lnTo>
                    <a:pt x="557187" y="65786"/>
                  </a:lnTo>
                  <a:lnTo>
                    <a:pt x="764032" y="356235"/>
                  </a:lnTo>
                  <a:lnTo>
                    <a:pt x="774319" y="34886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70026" y="2805506"/>
            <a:ext cx="104139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50" dirty="0">
                <a:latin typeface="Times New Roman"/>
                <a:cs typeface="Times New Roman"/>
              </a:rPr>
              <a:t>x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50484" y="2061210"/>
            <a:ext cx="3048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00" i="1" spc="-30" baseline="-17857" dirty="0">
                <a:latin typeface="Times New Roman"/>
                <a:cs typeface="Times New Roman"/>
              </a:rPr>
              <a:t>b</a:t>
            </a:r>
            <a:r>
              <a:rPr sz="900" spc="-20" dirty="0">
                <a:latin typeface="Times New Roman"/>
                <a:cs typeface="Times New Roman"/>
              </a:rPr>
              <a:t>[2]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58208" y="3543561"/>
            <a:ext cx="293370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77" y="0"/>
                </a:lnTo>
              </a:path>
            </a:pathLst>
          </a:custGeom>
          <a:ln w="7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681189" y="3348129"/>
            <a:ext cx="4775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baseline="-25462" dirty="0">
                <a:latin typeface="Times New Roman"/>
                <a:cs typeface="Times New Roman"/>
              </a:rPr>
              <a:t>da</a:t>
            </a:r>
            <a:r>
              <a:rPr sz="700" dirty="0">
                <a:latin typeface="Times New Roman"/>
                <a:cs typeface="Times New Roman"/>
              </a:rPr>
              <a:t>[2]</a:t>
            </a:r>
            <a:r>
              <a:rPr sz="700" spc="270" dirty="0">
                <a:latin typeface="Times New Roman"/>
                <a:cs typeface="Times New Roman"/>
              </a:rPr>
              <a:t> </a:t>
            </a:r>
            <a:r>
              <a:rPr sz="1800" spc="-75" baseline="-25462" dirty="0">
                <a:latin typeface="Symbol"/>
                <a:cs typeface="Symbol"/>
              </a:rPr>
              <a:t></a:t>
            </a:r>
            <a:endParaRPr sz="1800" baseline="-25462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27265" y="3320393"/>
            <a:ext cx="343535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">
              <a:lnSpc>
                <a:spcPts val="1295"/>
              </a:lnSpc>
              <a:spcBef>
                <a:spcPts val="100"/>
              </a:spcBef>
            </a:pPr>
            <a:r>
              <a:rPr sz="1200" spc="-50" dirty="0">
                <a:latin typeface="Symbol"/>
                <a:cs typeface="Symbol"/>
              </a:rPr>
              <a:t></a:t>
            </a:r>
            <a:endParaRPr sz="1200">
              <a:latin typeface="Symbol"/>
              <a:cs typeface="Symbol"/>
            </a:endParaRPr>
          </a:p>
          <a:p>
            <a:pPr marL="38100">
              <a:lnSpc>
                <a:spcPts val="1295"/>
              </a:lnSpc>
            </a:pPr>
            <a:r>
              <a:rPr sz="1800" spc="-15" baseline="-25462" dirty="0">
                <a:latin typeface="Symbol"/>
                <a:cs typeface="Symbol"/>
              </a:rPr>
              <a:t></a:t>
            </a:r>
            <a:r>
              <a:rPr sz="1800" i="1" spc="-15" baseline="-25462" dirty="0">
                <a:latin typeface="Times New Roman"/>
                <a:cs typeface="Times New Roman"/>
              </a:rPr>
              <a:t>a</a:t>
            </a:r>
            <a:r>
              <a:rPr sz="700" spc="-10" dirty="0">
                <a:latin typeface="Times New Roman"/>
                <a:cs typeface="Times New Roman"/>
              </a:rPr>
              <a:t>[2]</a:t>
            </a:r>
            <a:endParaRPr sz="7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08233" y="3340614"/>
            <a:ext cx="177399" cy="232537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5606327" y="3557754"/>
            <a:ext cx="1055370" cy="0"/>
          </a:xfrm>
          <a:custGeom>
            <a:avLst/>
            <a:gdLst/>
            <a:ahLst/>
            <a:cxnLst/>
            <a:rect l="l" t="t" r="r" b="b"/>
            <a:pathLst>
              <a:path w="1055370">
                <a:moveTo>
                  <a:pt x="0" y="0"/>
                </a:moveTo>
                <a:lnTo>
                  <a:pt x="278581" y="0"/>
                </a:lnTo>
              </a:path>
              <a:path w="1055370">
                <a:moveTo>
                  <a:pt x="440703" y="0"/>
                </a:moveTo>
                <a:lnTo>
                  <a:pt x="733606" y="0"/>
                </a:lnTo>
              </a:path>
              <a:path w="1055370">
                <a:moveTo>
                  <a:pt x="762207" y="0"/>
                </a:moveTo>
                <a:lnTo>
                  <a:pt x="1055103" y="0"/>
                </a:lnTo>
              </a:path>
            </a:pathLst>
          </a:custGeom>
          <a:ln w="7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016007" y="3265160"/>
            <a:ext cx="34353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spc="-15" baseline="-25462" dirty="0">
                <a:latin typeface="Symbol"/>
                <a:cs typeface="Symbol"/>
              </a:rPr>
              <a:t></a:t>
            </a:r>
            <a:r>
              <a:rPr sz="1800" i="1" spc="-15" baseline="-25462" dirty="0">
                <a:latin typeface="Times New Roman"/>
                <a:cs typeface="Times New Roman"/>
              </a:rPr>
              <a:t>a</a:t>
            </a:r>
            <a:r>
              <a:rPr sz="700" spc="-10" dirty="0">
                <a:latin typeface="Times New Roman"/>
                <a:cs typeface="Times New Roman"/>
              </a:rPr>
              <a:t>[2]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31465" y="3333631"/>
            <a:ext cx="10160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latin typeface="Symbol"/>
                <a:cs typeface="Symbol"/>
              </a:rPr>
              <a:t>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12737" y="3429983"/>
            <a:ext cx="10985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62678" y="3333631"/>
            <a:ext cx="1130300" cy="35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760">
              <a:lnSpc>
                <a:spcPts val="1300"/>
              </a:lnSpc>
              <a:spcBef>
                <a:spcPts val="105"/>
              </a:spcBef>
            </a:pPr>
            <a:r>
              <a:rPr sz="1200" spc="-50" dirty="0">
                <a:latin typeface="Symbol"/>
                <a:cs typeface="Symbol"/>
              </a:rPr>
              <a:t></a:t>
            </a:r>
            <a:endParaRPr sz="1200">
              <a:latin typeface="Symbol"/>
              <a:cs typeface="Symbol"/>
            </a:endParaRPr>
          </a:p>
          <a:p>
            <a:pPr marL="50800">
              <a:lnSpc>
                <a:spcPts val="1300"/>
              </a:lnSpc>
              <a:tabLst>
                <a:tab pos="497840" algn="l"/>
              </a:tabLst>
            </a:pPr>
            <a:r>
              <a:rPr sz="1800" spc="-15" baseline="-25462" dirty="0">
                <a:latin typeface="Symbol"/>
                <a:cs typeface="Symbol"/>
              </a:rPr>
              <a:t></a:t>
            </a:r>
            <a:r>
              <a:rPr sz="1800" i="1" spc="-15" baseline="-25462" dirty="0">
                <a:latin typeface="Times New Roman"/>
                <a:cs typeface="Times New Roman"/>
              </a:rPr>
              <a:t>z</a:t>
            </a:r>
            <a:r>
              <a:rPr sz="700" spc="-10" dirty="0">
                <a:latin typeface="Times New Roman"/>
                <a:cs typeface="Times New Roman"/>
              </a:rPr>
              <a:t>[2]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1800" baseline="-25462" dirty="0">
                <a:latin typeface="Symbol"/>
                <a:cs typeface="Symbol"/>
              </a:rPr>
              <a:t></a:t>
            </a:r>
            <a:r>
              <a:rPr sz="1800" i="1" baseline="-25462" dirty="0">
                <a:latin typeface="Times New Roman"/>
                <a:cs typeface="Times New Roman"/>
              </a:rPr>
              <a:t>z</a:t>
            </a:r>
            <a:r>
              <a:rPr sz="700" dirty="0">
                <a:latin typeface="Times New Roman"/>
                <a:cs typeface="Times New Roman"/>
              </a:rPr>
              <a:t>[2]</a:t>
            </a:r>
            <a:r>
              <a:rPr sz="700" spc="405" dirty="0">
                <a:latin typeface="Times New Roman"/>
                <a:cs typeface="Times New Roman"/>
              </a:rPr>
              <a:t> </a:t>
            </a:r>
            <a:r>
              <a:rPr sz="1800" spc="-15" baseline="-25462" dirty="0">
                <a:latin typeface="Symbol"/>
                <a:cs typeface="Symbol"/>
              </a:rPr>
              <a:t></a:t>
            </a:r>
            <a:r>
              <a:rPr sz="1800" i="1" spc="-15" baseline="-25462" dirty="0">
                <a:latin typeface="Times New Roman"/>
                <a:cs typeface="Times New Roman"/>
              </a:rPr>
              <a:t>a</a:t>
            </a:r>
            <a:r>
              <a:rPr sz="700" spc="-10" dirty="0">
                <a:latin typeface="Times New Roman"/>
                <a:cs typeface="Times New Roman"/>
              </a:rPr>
              <a:t>[2]</a:t>
            </a:r>
            <a:endParaRPr sz="70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48992" y="3328413"/>
            <a:ext cx="938316" cy="259093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1601216" y="3557754"/>
            <a:ext cx="1005205" cy="0"/>
          </a:xfrm>
          <a:custGeom>
            <a:avLst/>
            <a:gdLst/>
            <a:ahLst/>
            <a:cxnLst/>
            <a:rect l="l" t="t" r="r" b="b"/>
            <a:pathLst>
              <a:path w="1005205">
                <a:moveTo>
                  <a:pt x="0" y="0"/>
                </a:moveTo>
                <a:lnTo>
                  <a:pt x="261993" y="0"/>
                </a:lnTo>
              </a:path>
              <a:path w="1005205">
                <a:moveTo>
                  <a:pt x="423942" y="0"/>
                </a:moveTo>
                <a:lnTo>
                  <a:pt x="700211" y="0"/>
                </a:lnTo>
              </a:path>
              <a:path w="1005205">
                <a:moveTo>
                  <a:pt x="728791" y="0"/>
                </a:moveTo>
                <a:lnTo>
                  <a:pt x="1005061" y="0"/>
                </a:lnTo>
              </a:path>
            </a:pathLst>
          </a:custGeom>
          <a:ln w="7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649260" y="3333631"/>
            <a:ext cx="10096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latin typeface="Symbol"/>
                <a:cs typeface="Symbol"/>
              </a:rPr>
              <a:t>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94072" y="3265160"/>
            <a:ext cx="3270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spc="-15" baseline="-25462" dirty="0">
                <a:latin typeface="Symbol"/>
                <a:cs typeface="Symbol"/>
              </a:rPr>
              <a:t></a:t>
            </a:r>
            <a:r>
              <a:rPr sz="1800" i="1" spc="-15" baseline="-25462" dirty="0">
                <a:latin typeface="Times New Roman"/>
                <a:cs typeface="Times New Roman"/>
              </a:rPr>
              <a:t>a</a:t>
            </a:r>
            <a:r>
              <a:rPr sz="700" spc="-10" dirty="0">
                <a:latin typeface="Times New Roman"/>
                <a:cs typeface="Times New Roman"/>
              </a:rPr>
              <a:t>[1]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84949" y="3333631"/>
            <a:ext cx="10096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latin typeface="Symbol"/>
                <a:cs typeface="Symbol"/>
              </a:rPr>
              <a:t>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90998" y="3429983"/>
            <a:ext cx="10922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70275" y="3480950"/>
            <a:ext cx="105600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68630" algn="l"/>
              </a:tabLst>
            </a:pPr>
            <a:r>
              <a:rPr sz="1800" spc="-15" baseline="-25462" dirty="0">
                <a:latin typeface="Symbol"/>
                <a:cs typeface="Symbol"/>
              </a:rPr>
              <a:t></a:t>
            </a:r>
            <a:r>
              <a:rPr sz="1800" i="1" spc="-15" baseline="-25462" dirty="0">
                <a:latin typeface="Times New Roman"/>
                <a:cs typeface="Times New Roman"/>
              </a:rPr>
              <a:t>z</a:t>
            </a:r>
            <a:r>
              <a:rPr sz="700" spc="-10" dirty="0">
                <a:latin typeface="Times New Roman"/>
                <a:cs typeface="Times New Roman"/>
              </a:rPr>
              <a:t>[1]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1800" baseline="-25462" dirty="0">
                <a:latin typeface="Symbol"/>
                <a:cs typeface="Symbol"/>
              </a:rPr>
              <a:t></a:t>
            </a:r>
            <a:r>
              <a:rPr sz="1800" i="1" baseline="-25462" dirty="0">
                <a:latin typeface="Times New Roman"/>
                <a:cs typeface="Times New Roman"/>
              </a:rPr>
              <a:t>z</a:t>
            </a:r>
            <a:r>
              <a:rPr sz="700" dirty="0">
                <a:latin typeface="Times New Roman"/>
                <a:cs typeface="Times New Roman"/>
              </a:rPr>
              <a:t>[1]</a:t>
            </a:r>
            <a:r>
              <a:rPr sz="700" spc="275" dirty="0">
                <a:latin typeface="Times New Roman"/>
                <a:cs typeface="Times New Roman"/>
              </a:rPr>
              <a:t> </a:t>
            </a:r>
            <a:r>
              <a:rPr sz="1800" spc="-30" baseline="-25462" dirty="0">
                <a:latin typeface="Symbol"/>
                <a:cs typeface="Symbol"/>
              </a:rPr>
              <a:t></a:t>
            </a:r>
            <a:r>
              <a:rPr sz="1800" i="1" spc="-30" baseline="-25462" dirty="0">
                <a:latin typeface="Times New Roman"/>
                <a:cs typeface="Times New Roman"/>
              </a:rPr>
              <a:t>a</a:t>
            </a:r>
            <a:r>
              <a:rPr sz="700" spc="-20" dirty="0">
                <a:latin typeface="Times New Roman"/>
                <a:cs typeface="Times New Roman"/>
              </a:rPr>
              <a:t>[1]</a:t>
            </a:r>
            <a:endParaRPr sz="700">
              <a:latin typeface="Times New Roman"/>
              <a:cs typeface="Times New Roman"/>
            </a:endParaRPr>
          </a:p>
        </p:txBody>
      </p:sp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35791" y="3328413"/>
            <a:ext cx="906858" cy="259093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3497124" y="3549855"/>
            <a:ext cx="1250950" cy="0"/>
          </a:xfrm>
          <a:custGeom>
            <a:avLst/>
            <a:gdLst/>
            <a:ahLst/>
            <a:cxnLst/>
            <a:rect l="l" t="t" r="r" b="b"/>
            <a:pathLst>
              <a:path w="1250950">
                <a:moveTo>
                  <a:pt x="0" y="0"/>
                </a:moveTo>
                <a:lnTo>
                  <a:pt x="276763" y="0"/>
                </a:lnTo>
              </a:path>
              <a:path w="1250950">
                <a:moveTo>
                  <a:pt x="513754" y="0"/>
                </a:moveTo>
                <a:lnTo>
                  <a:pt x="792492" y="0"/>
                </a:lnTo>
              </a:path>
              <a:path w="1250950">
                <a:moveTo>
                  <a:pt x="971831" y="0"/>
                </a:moveTo>
                <a:lnTo>
                  <a:pt x="1250593" y="0"/>
                </a:lnTo>
              </a:path>
            </a:pathLst>
          </a:custGeom>
          <a:ln w="75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527024" y="3326044"/>
            <a:ext cx="113728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01320" algn="l"/>
              </a:tabLst>
            </a:pPr>
            <a:r>
              <a:rPr sz="1200" spc="-50" dirty="0">
                <a:latin typeface="Symbol"/>
                <a:cs typeface="Symbol"/>
              </a:rPr>
              <a:t>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baseline="2314" dirty="0">
                <a:latin typeface="Symbol"/>
                <a:cs typeface="Symbol"/>
              </a:rPr>
              <a:t></a:t>
            </a:r>
            <a:r>
              <a:rPr sz="1800" spc="-82" baseline="23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Symbol"/>
                <a:cs typeface="Symbol"/>
              </a:rPr>
              <a:t></a:t>
            </a:r>
            <a:r>
              <a:rPr sz="1200" i="1" dirty="0">
                <a:latin typeface="Times New Roman"/>
                <a:cs typeface="Times New Roman"/>
              </a:rPr>
              <a:t>z</a:t>
            </a:r>
            <a:r>
              <a:rPr sz="1050" baseline="43650" dirty="0">
                <a:latin typeface="Times New Roman"/>
                <a:cs typeface="Times New Roman"/>
              </a:rPr>
              <a:t>[2]</a:t>
            </a:r>
            <a:r>
              <a:rPr sz="1050" spc="247" baseline="43650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Symbol"/>
                <a:cs typeface="Symbol"/>
              </a:rPr>
              <a:t></a:t>
            </a:r>
            <a:r>
              <a:rPr sz="1050" i="1" baseline="67460" dirty="0">
                <a:latin typeface="Times New Roman"/>
                <a:cs typeface="Times New Roman"/>
              </a:rPr>
              <a:t>T</a:t>
            </a:r>
            <a:r>
              <a:rPr sz="1050" i="1" spc="472" baseline="67460" dirty="0">
                <a:latin typeface="Times New Roman"/>
                <a:cs typeface="Times New Roman"/>
              </a:rPr>
              <a:t>  </a:t>
            </a:r>
            <a:r>
              <a:rPr sz="1200" spc="-50" dirty="0">
                <a:latin typeface="Symbol"/>
                <a:cs typeface="Symbol"/>
              </a:rPr>
              <a:t>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76345" y="3422267"/>
            <a:ext cx="249554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Symbol"/>
                <a:cs typeface="Symbol"/>
              </a:rPr>
              <a:t>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800" spc="-75" baseline="-13888" dirty="0">
                <a:latin typeface="Symbol"/>
                <a:cs typeface="Symbol"/>
              </a:rPr>
              <a:t></a:t>
            </a:r>
            <a:endParaRPr sz="1800" baseline="-13888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99188" y="3459240"/>
            <a:ext cx="8445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latin typeface="Symbol"/>
                <a:cs typeface="Symbol"/>
              </a:rPr>
              <a:t></a:t>
            </a:r>
            <a:endParaRPr sz="1200">
              <a:latin typeface="Symbol"/>
              <a:cs typeface="Symbol"/>
            </a:endParaRPr>
          </a:p>
        </p:txBody>
      </p:sp>
      <p:pic>
        <p:nvPicPr>
          <p:cNvPr id="36" name="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39076" y="3315665"/>
            <a:ext cx="1143189" cy="263885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466179" y="3473157"/>
            <a:ext cx="1301115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tabLst>
                <a:tab pos="424180" algn="l"/>
              </a:tabLst>
            </a:pPr>
            <a:r>
              <a:rPr sz="1800" spc="-15" baseline="-25462" dirty="0">
                <a:latin typeface="Symbol"/>
                <a:cs typeface="Symbol"/>
              </a:rPr>
              <a:t></a:t>
            </a:r>
            <a:r>
              <a:rPr sz="1800" i="1" spc="-15" baseline="-25462" dirty="0">
                <a:latin typeface="Times New Roman"/>
                <a:cs typeface="Times New Roman"/>
              </a:rPr>
              <a:t>a</a:t>
            </a:r>
            <a:r>
              <a:rPr sz="700" spc="-10" dirty="0">
                <a:latin typeface="Times New Roman"/>
                <a:cs typeface="Times New Roman"/>
              </a:rPr>
              <a:t>[1]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1800" baseline="-37037" dirty="0">
                <a:latin typeface="Symbol"/>
                <a:cs typeface="Symbol"/>
              </a:rPr>
              <a:t></a:t>
            </a:r>
            <a:r>
              <a:rPr sz="1800" spc="-104" baseline="-37037" dirty="0">
                <a:latin typeface="Times New Roman"/>
                <a:cs typeface="Times New Roman"/>
              </a:rPr>
              <a:t> </a:t>
            </a:r>
            <a:r>
              <a:rPr sz="1800" baseline="-25462" dirty="0">
                <a:latin typeface="Symbol"/>
                <a:cs typeface="Symbol"/>
              </a:rPr>
              <a:t></a:t>
            </a:r>
            <a:r>
              <a:rPr sz="1800" i="1" baseline="-25462" dirty="0">
                <a:latin typeface="Times New Roman"/>
                <a:cs typeface="Times New Roman"/>
              </a:rPr>
              <a:t>a</a:t>
            </a:r>
            <a:r>
              <a:rPr sz="700" dirty="0">
                <a:latin typeface="Times New Roman"/>
                <a:cs typeface="Times New Roman"/>
              </a:rPr>
              <a:t>[1]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1800" baseline="-37037" dirty="0">
                <a:latin typeface="Symbol"/>
                <a:cs typeface="Symbol"/>
              </a:rPr>
              <a:t></a:t>
            </a:r>
            <a:r>
              <a:rPr sz="1800" spc="742" baseline="-37037" dirty="0">
                <a:latin typeface="Times New Roman"/>
                <a:cs typeface="Times New Roman"/>
              </a:rPr>
              <a:t> </a:t>
            </a:r>
            <a:r>
              <a:rPr sz="1800" spc="-30" baseline="-25462" dirty="0">
                <a:latin typeface="Symbol"/>
                <a:cs typeface="Symbol"/>
              </a:rPr>
              <a:t></a:t>
            </a:r>
            <a:r>
              <a:rPr sz="1800" i="1" spc="-30" baseline="-25462" dirty="0">
                <a:latin typeface="Times New Roman"/>
                <a:cs typeface="Times New Roman"/>
              </a:rPr>
              <a:t>z</a:t>
            </a:r>
            <a:r>
              <a:rPr sz="700" spc="-20" dirty="0">
                <a:latin typeface="Times New Roman"/>
                <a:cs typeface="Times New Roman"/>
              </a:rPr>
              <a:t>[2]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700">
              <a:latin typeface="Times New Roman"/>
              <a:cs typeface="Times New Roman"/>
            </a:endParaRPr>
          </a:p>
          <a:p>
            <a:pPr marL="14604" algn="ctr">
              <a:lnSpc>
                <a:spcPct val="100000"/>
              </a:lnSpc>
            </a:pPr>
            <a:r>
              <a:rPr sz="1800" i="1" spc="-15" baseline="-25462" dirty="0">
                <a:latin typeface="Times New Roman"/>
                <a:cs typeface="Times New Roman"/>
              </a:rPr>
              <a:t>da</a:t>
            </a:r>
            <a:r>
              <a:rPr sz="650" spc="-10" dirty="0">
                <a:latin typeface="Times New Roman"/>
                <a:cs typeface="Times New Roman"/>
              </a:rPr>
              <a:t>[1]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04719" y="3833354"/>
            <a:ext cx="33147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800" i="1" spc="-15" baseline="-25462" dirty="0">
                <a:latin typeface="Times New Roman"/>
                <a:cs typeface="Times New Roman"/>
              </a:rPr>
              <a:t>dz</a:t>
            </a:r>
            <a:r>
              <a:rPr sz="650" spc="-10" dirty="0">
                <a:latin typeface="Times New Roman"/>
                <a:cs typeface="Times New Roman"/>
              </a:rPr>
              <a:t>[2]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96683" y="3502152"/>
            <a:ext cx="504190" cy="76200"/>
          </a:xfrm>
          <a:custGeom>
            <a:avLst/>
            <a:gdLst/>
            <a:ahLst/>
            <a:cxnLst/>
            <a:rect l="l" t="t" r="r" b="b"/>
            <a:pathLst>
              <a:path w="50419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50419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504190" h="76200">
                <a:moveTo>
                  <a:pt x="504063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504063" y="44450"/>
                </a:lnTo>
                <a:lnTo>
                  <a:pt x="504063" y="317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844796" y="3502152"/>
            <a:ext cx="504190" cy="76200"/>
          </a:xfrm>
          <a:custGeom>
            <a:avLst/>
            <a:gdLst/>
            <a:ahLst/>
            <a:cxnLst/>
            <a:rect l="l" t="t" r="r" b="b"/>
            <a:pathLst>
              <a:path w="50418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504189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504189" h="76200">
                <a:moveTo>
                  <a:pt x="504063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504063" y="44450"/>
                </a:lnTo>
                <a:lnTo>
                  <a:pt x="504063" y="317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08732" y="3502152"/>
            <a:ext cx="504190" cy="76200"/>
          </a:xfrm>
          <a:custGeom>
            <a:avLst/>
            <a:gdLst/>
            <a:ahLst/>
            <a:cxnLst/>
            <a:rect l="l" t="t" r="r" b="b"/>
            <a:pathLst>
              <a:path w="50418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504189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504189" h="76200">
                <a:moveTo>
                  <a:pt x="504063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504063" y="44450"/>
                </a:lnTo>
                <a:lnTo>
                  <a:pt x="504063" y="317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953764" y="3833354"/>
            <a:ext cx="31369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800" i="1" spc="-15" baseline="-25462" dirty="0">
                <a:latin typeface="Times New Roman"/>
                <a:cs typeface="Times New Roman"/>
              </a:rPr>
              <a:t>dz</a:t>
            </a:r>
            <a:r>
              <a:rPr sz="650" spc="-10" dirty="0">
                <a:latin typeface="Times New Roman"/>
                <a:cs typeface="Times New Roman"/>
              </a:rPr>
              <a:t>[1]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572767" y="3779520"/>
            <a:ext cx="1069975" cy="82550"/>
          </a:xfrm>
          <a:custGeom>
            <a:avLst/>
            <a:gdLst/>
            <a:ahLst/>
            <a:cxnLst/>
            <a:rect l="l" t="t" r="r" b="b"/>
            <a:pathLst>
              <a:path w="1069975" h="82550">
                <a:moveTo>
                  <a:pt x="1069848" y="0"/>
                </a:moveTo>
                <a:lnTo>
                  <a:pt x="1063206" y="16019"/>
                </a:lnTo>
                <a:lnTo>
                  <a:pt x="1045098" y="29098"/>
                </a:lnTo>
                <a:lnTo>
                  <a:pt x="1018252" y="37915"/>
                </a:lnTo>
                <a:lnTo>
                  <a:pt x="985393" y="41147"/>
                </a:lnTo>
                <a:lnTo>
                  <a:pt x="619379" y="41147"/>
                </a:lnTo>
                <a:lnTo>
                  <a:pt x="586519" y="44380"/>
                </a:lnTo>
                <a:lnTo>
                  <a:pt x="559673" y="53197"/>
                </a:lnTo>
                <a:lnTo>
                  <a:pt x="541565" y="66276"/>
                </a:lnTo>
                <a:lnTo>
                  <a:pt x="534924" y="82295"/>
                </a:lnTo>
                <a:lnTo>
                  <a:pt x="528282" y="66276"/>
                </a:lnTo>
                <a:lnTo>
                  <a:pt x="510174" y="53197"/>
                </a:lnTo>
                <a:lnTo>
                  <a:pt x="483328" y="44380"/>
                </a:lnTo>
                <a:lnTo>
                  <a:pt x="450469" y="41147"/>
                </a:lnTo>
                <a:lnTo>
                  <a:pt x="84455" y="41147"/>
                </a:lnTo>
                <a:lnTo>
                  <a:pt x="51595" y="37915"/>
                </a:lnTo>
                <a:lnTo>
                  <a:pt x="24749" y="29098"/>
                </a:lnTo>
                <a:lnTo>
                  <a:pt x="6641" y="16019"/>
                </a:lnTo>
                <a:lnTo>
                  <a:pt x="0" y="0"/>
                </a:lnTo>
              </a:path>
            </a:pathLst>
          </a:custGeom>
          <a:ln w="609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474720" y="3779520"/>
            <a:ext cx="1274445" cy="82550"/>
          </a:xfrm>
          <a:custGeom>
            <a:avLst/>
            <a:gdLst/>
            <a:ahLst/>
            <a:cxnLst/>
            <a:rect l="l" t="t" r="r" b="b"/>
            <a:pathLst>
              <a:path w="1274445" h="82550">
                <a:moveTo>
                  <a:pt x="1274064" y="0"/>
                </a:moveTo>
                <a:lnTo>
                  <a:pt x="1267422" y="16019"/>
                </a:lnTo>
                <a:lnTo>
                  <a:pt x="1249314" y="29098"/>
                </a:lnTo>
                <a:lnTo>
                  <a:pt x="1222468" y="37915"/>
                </a:lnTo>
                <a:lnTo>
                  <a:pt x="1189608" y="41147"/>
                </a:lnTo>
                <a:lnTo>
                  <a:pt x="721487" y="41147"/>
                </a:lnTo>
                <a:lnTo>
                  <a:pt x="688627" y="44380"/>
                </a:lnTo>
                <a:lnTo>
                  <a:pt x="661781" y="53197"/>
                </a:lnTo>
                <a:lnTo>
                  <a:pt x="643673" y="66276"/>
                </a:lnTo>
                <a:lnTo>
                  <a:pt x="637031" y="82295"/>
                </a:lnTo>
                <a:lnTo>
                  <a:pt x="630390" y="66276"/>
                </a:lnTo>
                <a:lnTo>
                  <a:pt x="612282" y="53197"/>
                </a:lnTo>
                <a:lnTo>
                  <a:pt x="585436" y="44380"/>
                </a:lnTo>
                <a:lnTo>
                  <a:pt x="552576" y="41147"/>
                </a:lnTo>
                <a:lnTo>
                  <a:pt x="84454" y="41147"/>
                </a:lnTo>
                <a:lnTo>
                  <a:pt x="51595" y="37915"/>
                </a:lnTo>
                <a:lnTo>
                  <a:pt x="24749" y="29098"/>
                </a:lnTo>
                <a:lnTo>
                  <a:pt x="6641" y="16019"/>
                </a:lnTo>
                <a:lnTo>
                  <a:pt x="0" y="0"/>
                </a:lnTo>
              </a:path>
            </a:pathLst>
          </a:custGeom>
          <a:ln w="609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580888" y="3779520"/>
            <a:ext cx="1106805" cy="82550"/>
          </a:xfrm>
          <a:custGeom>
            <a:avLst/>
            <a:gdLst/>
            <a:ahLst/>
            <a:cxnLst/>
            <a:rect l="l" t="t" r="r" b="b"/>
            <a:pathLst>
              <a:path w="1106804" h="82550">
                <a:moveTo>
                  <a:pt x="1106423" y="0"/>
                </a:moveTo>
                <a:lnTo>
                  <a:pt x="1099782" y="16019"/>
                </a:lnTo>
                <a:lnTo>
                  <a:pt x="1081674" y="29098"/>
                </a:lnTo>
                <a:lnTo>
                  <a:pt x="1054828" y="37915"/>
                </a:lnTo>
                <a:lnTo>
                  <a:pt x="1021968" y="41147"/>
                </a:lnTo>
                <a:lnTo>
                  <a:pt x="637666" y="41147"/>
                </a:lnTo>
                <a:lnTo>
                  <a:pt x="604807" y="44380"/>
                </a:lnTo>
                <a:lnTo>
                  <a:pt x="577961" y="53197"/>
                </a:lnTo>
                <a:lnTo>
                  <a:pt x="559853" y="66276"/>
                </a:lnTo>
                <a:lnTo>
                  <a:pt x="553212" y="82295"/>
                </a:lnTo>
                <a:lnTo>
                  <a:pt x="546570" y="66276"/>
                </a:lnTo>
                <a:lnTo>
                  <a:pt x="528462" y="53197"/>
                </a:lnTo>
                <a:lnTo>
                  <a:pt x="501616" y="44380"/>
                </a:lnTo>
                <a:lnTo>
                  <a:pt x="468757" y="41147"/>
                </a:lnTo>
                <a:lnTo>
                  <a:pt x="84454" y="41147"/>
                </a:lnTo>
                <a:lnTo>
                  <a:pt x="51595" y="37915"/>
                </a:lnTo>
                <a:lnTo>
                  <a:pt x="24749" y="29098"/>
                </a:lnTo>
                <a:lnTo>
                  <a:pt x="6641" y="16019"/>
                </a:lnTo>
                <a:lnTo>
                  <a:pt x="0" y="0"/>
                </a:lnTo>
              </a:path>
            </a:pathLst>
          </a:custGeom>
          <a:ln w="609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532230" y="2294113"/>
            <a:ext cx="342265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800" i="1" spc="-15" baseline="-25462" dirty="0">
                <a:latin typeface="Times New Roman"/>
                <a:cs typeface="Times New Roman"/>
              </a:rPr>
              <a:t>db</a:t>
            </a:r>
            <a:r>
              <a:rPr sz="650" spc="-10" dirty="0">
                <a:latin typeface="Times New Roman"/>
                <a:cs typeface="Times New Roman"/>
              </a:rPr>
              <a:t>[2]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654443" y="2088261"/>
            <a:ext cx="434340" cy="5746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90"/>
              </a:spcBef>
            </a:pPr>
            <a:r>
              <a:rPr sz="2100" i="1" spc="-30" baseline="-17857" dirty="0">
                <a:latin typeface="Times New Roman"/>
                <a:cs typeface="Times New Roman"/>
              </a:rPr>
              <a:t>W</a:t>
            </a:r>
            <a:r>
              <a:rPr sz="900" spc="-20" dirty="0">
                <a:latin typeface="Times New Roman"/>
                <a:cs typeface="Times New Roman"/>
              </a:rPr>
              <a:t>[2]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800" i="1" spc="-15" baseline="-25462" dirty="0">
                <a:latin typeface="Times New Roman"/>
                <a:cs typeface="Times New Roman"/>
              </a:rPr>
              <a:t>dW</a:t>
            </a:r>
            <a:r>
              <a:rPr sz="1800" i="1" spc="-202" baseline="-25462" dirty="0">
                <a:latin typeface="Times New Roman"/>
                <a:cs typeface="Times New Roman"/>
              </a:rPr>
              <a:t> </a:t>
            </a:r>
            <a:r>
              <a:rPr sz="650" spc="25" dirty="0">
                <a:latin typeface="Times New Roman"/>
                <a:cs typeface="Times New Roman"/>
              </a:rPr>
              <a:t>[2]</a:t>
            </a:r>
            <a:endParaRPr sz="65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132332" y="2387092"/>
            <a:ext cx="774700" cy="407034"/>
            <a:chOff x="1132332" y="2387092"/>
            <a:chExt cx="774700" cy="407034"/>
          </a:xfrm>
        </p:grpSpPr>
        <p:sp>
          <p:nvSpPr>
            <p:cNvPr id="49" name="object 49"/>
            <p:cNvSpPr/>
            <p:nvPr/>
          </p:nvSpPr>
          <p:spPr>
            <a:xfrm>
              <a:off x="1191501" y="2387091"/>
              <a:ext cx="628015" cy="407034"/>
            </a:xfrm>
            <a:custGeom>
              <a:avLst/>
              <a:gdLst/>
              <a:ahLst/>
              <a:cxnLst/>
              <a:rect l="l" t="t" r="r" b="b"/>
              <a:pathLst>
                <a:path w="628014" h="407035">
                  <a:moveTo>
                    <a:pt x="346214" y="406781"/>
                  </a:moveTo>
                  <a:lnTo>
                    <a:pt x="335381" y="362458"/>
                  </a:lnTo>
                  <a:lnTo>
                    <a:pt x="326021" y="324104"/>
                  </a:lnTo>
                  <a:lnTo>
                    <a:pt x="301790" y="344639"/>
                  </a:lnTo>
                  <a:lnTo>
                    <a:pt x="9677" y="0"/>
                  </a:lnTo>
                  <a:lnTo>
                    <a:pt x="0" y="8128"/>
                  </a:lnTo>
                  <a:lnTo>
                    <a:pt x="292163" y="352793"/>
                  </a:lnTo>
                  <a:lnTo>
                    <a:pt x="267855" y="373380"/>
                  </a:lnTo>
                  <a:lnTo>
                    <a:pt x="346214" y="406781"/>
                  </a:lnTo>
                  <a:close/>
                </a:path>
                <a:path w="628014" h="407035">
                  <a:moveTo>
                    <a:pt x="627900" y="387985"/>
                  </a:moveTo>
                  <a:lnTo>
                    <a:pt x="618210" y="342265"/>
                  </a:lnTo>
                  <a:lnTo>
                    <a:pt x="610247" y="304673"/>
                  </a:lnTo>
                  <a:lnTo>
                    <a:pt x="585393" y="324396"/>
                  </a:lnTo>
                  <a:lnTo>
                    <a:pt x="354215" y="33655"/>
                  </a:lnTo>
                  <a:lnTo>
                    <a:pt x="344309" y="41529"/>
                  </a:lnTo>
                  <a:lnTo>
                    <a:pt x="575411" y="332320"/>
                  </a:lnTo>
                  <a:lnTo>
                    <a:pt x="550557" y="352044"/>
                  </a:lnTo>
                  <a:lnTo>
                    <a:pt x="627900" y="387985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32332" y="2391155"/>
              <a:ext cx="774700" cy="391160"/>
            </a:xfrm>
            <a:custGeom>
              <a:avLst/>
              <a:gdLst/>
              <a:ahLst/>
              <a:cxnLst/>
              <a:rect l="l" t="t" r="r" b="b"/>
              <a:pathLst>
                <a:path w="774700" h="391160">
                  <a:moveTo>
                    <a:pt x="294640" y="382397"/>
                  </a:moveTo>
                  <a:lnTo>
                    <a:pt x="54876" y="108064"/>
                  </a:lnTo>
                  <a:lnTo>
                    <a:pt x="65747" y="98552"/>
                  </a:lnTo>
                  <a:lnTo>
                    <a:pt x="78828" y="87122"/>
                  </a:lnTo>
                  <a:lnTo>
                    <a:pt x="0" y="54864"/>
                  </a:lnTo>
                  <a:lnTo>
                    <a:pt x="21450" y="137287"/>
                  </a:lnTo>
                  <a:lnTo>
                    <a:pt x="45364" y="116382"/>
                  </a:lnTo>
                  <a:lnTo>
                    <a:pt x="285115" y="390779"/>
                  </a:lnTo>
                  <a:lnTo>
                    <a:pt x="294640" y="382397"/>
                  </a:lnTo>
                  <a:close/>
                </a:path>
                <a:path w="774700" h="391160">
                  <a:moveTo>
                    <a:pt x="774319" y="348869"/>
                  </a:moveTo>
                  <a:lnTo>
                    <a:pt x="567575" y="58381"/>
                  </a:lnTo>
                  <a:lnTo>
                    <a:pt x="582117" y="48006"/>
                  </a:lnTo>
                  <a:lnTo>
                    <a:pt x="593344" y="40005"/>
                  </a:lnTo>
                  <a:lnTo>
                    <a:pt x="518160" y="0"/>
                  </a:lnTo>
                  <a:lnTo>
                    <a:pt x="531368" y="84201"/>
                  </a:lnTo>
                  <a:lnTo>
                    <a:pt x="557187" y="65786"/>
                  </a:lnTo>
                  <a:lnTo>
                    <a:pt x="764032" y="356235"/>
                  </a:lnTo>
                  <a:lnTo>
                    <a:pt x="774319" y="34886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386205" y="2088895"/>
            <a:ext cx="3048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00" i="1" spc="-30" baseline="-17857" dirty="0">
                <a:latin typeface="Times New Roman"/>
                <a:cs typeface="Times New Roman"/>
              </a:rPr>
              <a:t>b</a:t>
            </a:r>
            <a:r>
              <a:rPr sz="900" spc="-20" dirty="0">
                <a:latin typeface="Times New Roman"/>
                <a:cs typeface="Times New Roman"/>
              </a:rPr>
              <a:t>[1]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52" name="object 52"/>
          <p:cNvSpPr txBox="1"/>
          <p:nvPr/>
        </p:nvSpPr>
        <p:spPr>
          <a:xfrm>
            <a:off x="1783273" y="2317662"/>
            <a:ext cx="327660" cy="210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i="1" spc="-15" baseline="-25462" dirty="0">
                <a:latin typeface="Times New Roman"/>
                <a:cs typeface="Times New Roman"/>
              </a:rPr>
              <a:t>db</a:t>
            </a:r>
            <a:r>
              <a:rPr sz="700" spc="-10" dirty="0">
                <a:latin typeface="Times New Roman"/>
                <a:cs typeface="Times New Roman"/>
              </a:rPr>
              <a:t>[1]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99353" y="2115693"/>
            <a:ext cx="425450" cy="573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0"/>
              </a:spcBef>
            </a:pPr>
            <a:r>
              <a:rPr sz="2100" i="1" spc="-30" baseline="-17857" dirty="0">
                <a:latin typeface="Times New Roman"/>
                <a:cs typeface="Times New Roman"/>
              </a:rPr>
              <a:t>W</a:t>
            </a:r>
            <a:r>
              <a:rPr sz="900" spc="-20" dirty="0">
                <a:latin typeface="Times New Roman"/>
                <a:cs typeface="Times New Roman"/>
              </a:rPr>
              <a:t>[1]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800" i="1" spc="-15" baseline="-25462" dirty="0">
                <a:latin typeface="Times New Roman"/>
                <a:cs typeface="Times New Roman"/>
              </a:rPr>
              <a:t>dW</a:t>
            </a:r>
            <a:r>
              <a:rPr sz="1800" i="1" spc="-202" baseline="-25462" dirty="0"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[1]</a:t>
            </a:r>
            <a:endParaRPr sz="700">
              <a:latin typeface="Times New Roman"/>
              <a:cs typeface="Times New Roman"/>
            </a:endParaRPr>
          </a:p>
        </p:txBody>
      </p:sp>
      <p:pic>
        <p:nvPicPr>
          <p:cNvPr id="55" name="Picture 4">
            <a:extLst>
              <a:ext uri="{FF2B5EF4-FFF2-40B4-BE49-F238E27FC236}">
                <a16:creationId xmlns:a16="http://schemas.microsoft.com/office/drawing/2014/main" id="{14CB810E-EB7E-BDF5-6009-3542E45CB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6" descr="Ingeniería de Sistemas - UNCP">
            <a:extLst>
              <a:ext uri="{FF2B5EF4-FFF2-40B4-BE49-F238E27FC236}">
                <a16:creationId xmlns:a16="http://schemas.microsoft.com/office/drawing/2014/main" id="{076BF686-D733-EACE-2F73-7B31D6668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5029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Backpropagation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99694" y="936751"/>
            <a:ext cx="5429250" cy="1564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41955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Cuando</a:t>
            </a:r>
            <a:r>
              <a:rPr sz="2000" b="1" spc="-2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hay</a:t>
            </a:r>
            <a:r>
              <a:rPr sz="2000" b="1" spc="-3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L</a:t>
            </a:r>
            <a:r>
              <a:rPr sz="2000" b="1" spc="-8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2092FA"/>
                </a:solidFill>
                <a:latin typeface="Arial"/>
                <a:cs typeface="Arial"/>
              </a:rPr>
              <a:t>capas</a:t>
            </a:r>
            <a:endParaRPr sz="2000">
              <a:latin typeface="Arial"/>
              <a:cs typeface="Arial"/>
            </a:endParaRPr>
          </a:p>
          <a:p>
            <a:pPr marL="2438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43840" algn="l"/>
              </a:tabLst>
            </a:pPr>
            <a:r>
              <a:rPr sz="2000" dirty="0">
                <a:latin typeface="Arial MT"/>
                <a:cs typeface="Arial MT"/>
              </a:rPr>
              <a:t>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generalización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capas</a:t>
            </a:r>
            <a:endParaRPr sz="2000">
              <a:latin typeface="Arial MT"/>
              <a:cs typeface="Arial MT"/>
            </a:endParaRPr>
          </a:p>
          <a:p>
            <a:pPr marL="425450" lvl="1" indent="-158750">
              <a:lnSpc>
                <a:spcPct val="100000"/>
              </a:lnSpc>
              <a:spcBef>
                <a:spcPts val="440"/>
              </a:spcBef>
              <a:buChar char="-"/>
              <a:tabLst>
                <a:tab pos="425450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calcula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derivadas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derecha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izquierda</a:t>
            </a:r>
            <a:endParaRPr sz="1800">
              <a:latin typeface="Arial MT"/>
              <a:cs typeface="Arial MT"/>
            </a:endParaRPr>
          </a:p>
          <a:p>
            <a:pPr marL="424815" lvl="1" indent="-158115">
              <a:lnSpc>
                <a:spcPct val="100000"/>
              </a:lnSpc>
              <a:spcBef>
                <a:spcPts val="434"/>
              </a:spcBef>
              <a:buChar char="-"/>
              <a:tabLst>
                <a:tab pos="424815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busca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calcular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dW</a:t>
            </a:r>
            <a:r>
              <a:rPr sz="1800" baseline="25462" dirty="0">
                <a:latin typeface="Times New Roman"/>
                <a:cs typeface="Times New Roman"/>
              </a:rPr>
              <a:t>[</a:t>
            </a:r>
            <a:r>
              <a:rPr sz="1800" i="1" baseline="25462" dirty="0">
                <a:latin typeface="Times New Roman"/>
                <a:cs typeface="Times New Roman"/>
              </a:rPr>
              <a:t>l</a:t>
            </a:r>
            <a:r>
              <a:rPr sz="1800" baseline="25462" dirty="0">
                <a:latin typeface="Times New Roman"/>
                <a:cs typeface="Times New Roman"/>
              </a:rPr>
              <a:t>]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spc="-20" dirty="0">
                <a:latin typeface="Times New Roman"/>
                <a:cs typeface="Times New Roman"/>
              </a:rPr>
              <a:t>db</a:t>
            </a:r>
            <a:r>
              <a:rPr sz="1800" spc="-30" baseline="25462" dirty="0">
                <a:latin typeface="Times New Roman"/>
                <a:cs typeface="Times New Roman"/>
              </a:rPr>
              <a:t>[</a:t>
            </a:r>
            <a:r>
              <a:rPr sz="1800" i="1" spc="-30" baseline="25462" dirty="0">
                <a:latin typeface="Times New Roman"/>
                <a:cs typeface="Times New Roman"/>
              </a:rPr>
              <a:t>l</a:t>
            </a:r>
            <a:r>
              <a:rPr sz="1800" spc="-30" baseline="25462" dirty="0">
                <a:latin typeface="Times New Roman"/>
                <a:cs typeface="Times New Roman"/>
              </a:rPr>
              <a:t>]</a:t>
            </a:r>
            <a:endParaRPr sz="1800" baseline="25462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EA90C-FBB6-2892-807C-8C058C5D4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ngeniería de Sistemas - UNCP">
            <a:extLst>
              <a:ext uri="{FF2B5EF4-FFF2-40B4-BE49-F238E27FC236}">
                <a16:creationId xmlns:a16="http://schemas.microsoft.com/office/drawing/2014/main" id="{96E2D429-B639-8218-CB65-837E6E9CD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9390" y="592962"/>
            <a:ext cx="112712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>
                <a:solidFill>
                  <a:srgbClr val="B51A00"/>
                </a:solidFill>
              </a:rPr>
              <a:t>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190" y="3627018"/>
            <a:ext cx="8471157" cy="6501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62811"/>
            <a:ext cx="5075555" cy="184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Introducción</a:t>
            </a:r>
            <a:r>
              <a:rPr sz="24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y</a:t>
            </a:r>
            <a:r>
              <a:rPr sz="24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Conceptos</a:t>
            </a:r>
            <a:r>
              <a:rPr sz="24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Básicos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7E7E7E"/>
              </a:buClr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Redes</a:t>
            </a:r>
            <a:r>
              <a:rPr sz="2400" spc="-1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Neuronales</a:t>
            </a:r>
            <a:r>
              <a:rPr sz="24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Simples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7E7E7E"/>
              </a:buClr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Backpropagation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81583" y="3715511"/>
            <a:ext cx="8296909" cy="475615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3111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245"/>
              </a:spcBef>
              <a:tabLst>
                <a:tab pos="640080" algn="l"/>
              </a:tabLst>
            </a:pPr>
            <a:r>
              <a:rPr sz="2400" b="1" spc="-25" dirty="0">
                <a:solidFill>
                  <a:srgbClr val="0000FF"/>
                </a:solidFill>
                <a:latin typeface="Arial"/>
                <a:cs typeface="Arial"/>
              </a:rPr>
              <a:t>4.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	Redes</a:t>
            </a:r>
            <a:r>
              <a:rPr sz="24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Neuronales</a:t>
            </a:r>
            <a:r>
              <a:rPr sz="24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Arial"/>
                <a:cs typeface="Arial"/>
              </a:rPr>
              <a:t>Profundas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48D4B0DE-3A9C-BE3C-0B15-368B2105D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3A493FC2-DB95-0A4E-FC7A-44B45AD5F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30" dirty="0"/>
              <a:t> </a:t>
            </a:r>
            <a:r>
              <a:rPr dirty="0"/>
              <a:t>Neuronales</a:t>
            </a:r>
            <a:r>
              <a:rPr spc="-40" dirty="0"/>
              <a:t> </a:t>
            </a:r>
            <a:r>
              <a:rPr spc="-10" dirty="0"/>
              <a:t>Profundas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2035"/>
            <a:ext cx="4808855" cy="7581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58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Llamadas: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Deep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Neural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Networks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(</a:t>
            </a:r>
            <a:r>
              <a:rPr sz="2000" i="1" spc="-10" dirty="0">
                <a:latin typeface="Arial"/>
                <a:cs typeface="Arial"/>
              </a:rPr>
              <a:t>DNN</a:t>
            </a:r>
            <a:r>
              <a:rPr sz="2000" spc="-1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205740" indent="-193040">
              <a:lnSpc>
                <a:spcPct val="100000"/>
              </a:lnSpc>
              <a:spcBef>
                <a:spcPts val="480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Son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neuronales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capas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1745" y="5855309"/>
            <a:ext cx="812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“Capa”</a:t>
            </a:r>
            <a:r>
              <a:rPr sz="1400" spc="-35" dirty="0">
                <a:latin typeface="Arial MT"/>
                <a:cs typeface="Arial MT"/>
              </a:rPr>
              <a:t> de</a:t>
            </a:r>
            <a:endParaRPr sz="1400">
              <a:latin typeface="Arial MT"/>
              <a:cs typeface="Arial MT"/>
            </a:endParaRPr>
          </a:p>
          <a:p>
            <a:pPr marL="106680">
              <a:lnSpc>
                <a:spcPct val="100000"/>
              </a:lnSpc>
            </a:pPr>
            <a:r>
              <a:rPr sz="1400" spc="-10" dirty="0">
                <a:latin typeface="Arial MT"/>
                <a:cs typeface="Arial MT"/>
              </a:rPr>
              <a:t>entrada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4292" y="5974486"/>
            <a:ext cx="5962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Arial MT"/>
                <a:cs typeface="Arial MT"/>
              </a:rPr>
              <a:t>Capa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37375" y="5855309"/>
            <a:ext cx="6940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Capa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de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latin typeface="Arial MT"/>
                <a:cs typeface="Arial MT"/>
              </a:rPr>
              <a:t>salida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5488" y="3959352"/>
            <a:ext cx="661416" cy="22555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277111" y="2350007"/>
            <a:ext cx="1676400" cy="3221355"/>
            <a:chOff x="1277111" y="2350007"/>
            <a:chExt cx="1676400" cy="32213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7815" y="2350007"/>
              <a:ext cx="615695" cy="2164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7111" y="2642615"/>
              <a:ext cx="231647" cy="1645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5647" y="5120639"/>
              <a:ext cx="381000" cy="20116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2852" y="3119495"/>
              <a:ext cx="403350" cy="4033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484119" y="3139439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84119" y="3139439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2852" y="4143623"/>
              <a:ext cx="403350" cy="40335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484119" y="4163567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3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7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3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84119" y="4163567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3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3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7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3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2852" y="4655687"/>
              <a:ext cx="403350" cy="4033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84119" y="467563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84119" y="467563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2852" y="5167751"/>
              <a:ext cx="403350" cy="40335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484119" y="518769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3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7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3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84119" y="518769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3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3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7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3"/>
                  </a:lnTo>
                  <a:close/>
                </a:path>
              </a:pathLst>
            </a:custGeom>
            <a:ln w="18287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42852" y="2607552"/>
              <a:ext cx="403350" cy="40618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484119" y="2627375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4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3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4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2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84119" y="2627375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0" y="163068"/>
                  </a:move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4" y="0"/>
                  </a:ln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2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4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3"/>
                  </a:lnTo>
                  <a:lnTo>
                    <a:pt x="5766" y="206412"/>
                  </a:lnTo>
                  <a:lnTo>
                    <a:pt x="0" y="163068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2852" y="3631559"/>
              <a:ext cx="403350" cy="40335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484119" y="3651503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84119" y="3651503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47114" y="2790443"/>
              <a:ext cx="940435" cy="2563495"/>
            </a:xfrm>
            <a:custGeom>
              <a:avLst/>
              <a:gdLst/>
              <a:ahLst/>
              <a:cxnLst/>
              <a:rect l="l" t="t" r="r" b="b"/>
              <a:pathLst>
                <a:path w="940435" h="2563495">
                  <a:moveTo>
                    <a:pt x="939927" y="2474595"/>
                  </a:moveTo>
                  <a:lnTo>
                    <a:pt x="933170" y="2477770"/>
                  </a:lnTo>
                  <a:lnTo>
                    <a:pt x="932942" y="2473706"/>
                  </a:lnTo>
                  <a:lnTo>
                    <a:pt x="910437" y="2486622"/>
                  </a:lnTo>
                  <a:lnTo>
                    <a:pt x="894359" y="2452408"/>
                  </a:lnTo>
                  <a:lnTo>
                    <a:pt x="894359" y="2495854"/>
                  </a:lnTo>
                  <a:lnTo>
                    <a:pt x="893381" y="2496413"/>
                  </a:lnTo>
                  <a:lnTo>
                    <a:pt x="880567" y="2502420"/>
                  </a:lnTo>
                  <a:lnTo>
                    <a:pt x="874903" y="2494915"/>
                  </a:lnTo>
                  <a:lnTo>
                    <a:pt x="860831" y="2523299"/>
                  </a:lnTo>
                  <a:lnTo>
                    <a:pt x="30086" y="2111108"/>
                  </a:lnTo>
                  <a:lnTo>
                    <a:pt x="652145" y="2074049"/>
                  </a:lnTo>
                  <a:lnTo>
                    <a:pt x="894359" y="2495854"/>
                  </a:lnTo>
                  <a:lnTo>
                    <a:pt x="894359" y="2452408"/>
                  </a:lnTo>
                  <a:lnTo>
                    <a:pt x="863269" y="2386241"/>
                  </a:lnTo>
                  <a:lnTo>
                    <a:pt x="863269" y="2416149"/>
                  </a:lnTo>
                  <a:lnTo>
                    <a:pt x="666318" y="2073211"/>
                  </a:lnTo>
                  <a:lnTo>
                    <a:pt x="701179" y="2071128"/>
                  </a:lnTo>
                  <a:lnTo>
                    <a:pt x="863269" y="2416149"/>
                  </a:lnTo>
                  <a:lnTo>
                    <a:pt x="863269" y="2386241"/>
                  </a:lnTo>
                  <a:lnTo>
                    <a:pt x="714832" y="2070315"/>
                  </a:lnTo>
                  <a:lnTo>
                    <a:pt x="850569" y="2062226"/>
                  </a:lnTo>
                  <a:lnTo>
                    <a:pt x="849934" y="2051304"/>
                  </a:lnTo>
                  <a:lnTo>
                    <a:pt x="850531" y="2061464"/>
                  </a:lnTo>
                  <a:lnTo>
                    <a:pt x="850569" y="2062226"/>
                  </a:lnTo>
                  <a:lnTo>
                    <a:pt x="852424" y="2093849"/>
                  </a:lnTo>
                  <a:lnTo>
                    <a:pt x="926211" y="2051304"/>
                  </a:lnTo>
                  <a:lnTo>
                    <a:pt x="920280" y="2048764"/>
                  </a:lnTo>
                  <a:lnTo>
                    <a:pt x="847979" y="2017776"/>
                  </a:lnTo>
                  <a:lnTo>
                    <a:pt x="849782" y="2048764"/>
                  </a:lnTo>
                  <a:lnTo>
                    <a:pt x="849833" y="2049526"/>
                  </a:lnTo>
                  <a:lnTo>
                    <a:pt x="709002" y="2057920"/>
                  </a:lnTo>
                  <a:lnTo>
                    <a:pt x="695350" y="2028875"/>
                  </a:lnTo>
                  <a:lnTo>
                    <a:pt x="695350" y="2058733"/>
                  </a:lnTo>
                  <a:lnTo>
                    <a:pt x="659244" y="2060879"/>
                  </a:lnTo>
                  <a:lnTo>
                    <a:pt x="645071" y="2036203"/>
                  </a:lnTo>
                  <a:lnTo>
                    <a:pt x="645071" y="2061730"/>
                  </a:lnTo>
                  <a:lnTo>
                    <a:pt x="29857" y="2098370"/>
                  </a:lnTo>
                  <a:lnTo>
                    <a:pt x="499986" y="1809076"/>
                  </a:lnTo>
                  <a:lnTo>
                    <a:pt x="645071" y="2061730"/>
                  </a:lnTo>
                  <a:lnTo>
                    <a:pt x="645071" y="2036203"/>
                  </a:lnTo>
                  <a:lnTo>
                    <a:pt x="510806" y="1802422"/>
                  </a:lnTo>
                  <a:lnTo>
                    <a:pt x="560552" y="1771802"/>
                  </a:lnTo>
                  <a:lnTo>
                    <a:pt x="695350" y="2058733"/>
                  </a:lnTo>
                  <a:lnTo>
                    <a:pt x="695350" y="2028875"/>
                  </a:lnTo>
                  <a:lnTo>
                    <a:pt x="571423" y="1765122"/>
                  </a:lnTo>
                  <a:lnTo>
                    <a:pt x="651662" y="1715744"/>
                  </a:lnTo>
                  <a:lnTo>
                    <a:pt x="883602" y="1992337"/>
                  </a:lnTo>
                  <a:lnTo>
                    <a:pt x="864870" y="2004187"/>
                  </a:lnTo>
                  <a:lnTo>
                    <a:pt x="868083" y="2006142"/>
                  </a:lnTo>
                  <a:lnTo>
                    <a:pt x="859663" y="2013204"/>
                  </a:lnTo>
                  <a:lnTo>
                    <a:pt x="931735" y="2044509"/>
                  </a:lnTo>
                  <a:lnTo>
                    <a:pt x="937768" y="2048129"/>
                  </a:lnTo>
                  <a:lnTo>
                    <a:pt x="937653" y="2047074"/>
                  </a:lnTo>
                  <a:lnTo>
                    <a:pt x="937590" y="2046389"/>
                  </a:lnTo>
                  <a:lnTo>
                    <a:pt x="932713" y="1997837"/>
                  </a:lnTo>
                  <a:lnTo>
                    <a:pt x="929259" y="1963420"/>
                  </a:lnTo>
                  <a:lnTo>
                    <a:pt x="919251" y="1969757"/>
                  </a:lnTo>
                  <a:lnTo>
                    <a:pt x="917956" y="1964309"/>
                  </a:lnTo>
                  <a:lnTo>
                    <a:pt x="901141" y="1978418"/>
                  </a:lnTo>
                  <a:lnTo>
                    <a:pt x="878992" y="1943442"/>
                  </a:lnTo>
                  <a:lnTo>
                    <a:pt x="878992" y="1967204"/>
                  </a:lnTo>
                  <a:lnTo>
                    <a:pt x="662520" y="1709064"/>
                  </a:lnTo>
                  <a:lnTo>
                    <a:pt x="700684" y="1685582"/>
                  </a:lnTo>
                  <a:lnTo>
                    <a:pt x="878992" y="1967204"/>
                  </a:lnTo>
                  <a:lnTo>
                    <a:pt x="878992" y="1943442"/>
                  </a:lnTo>
                  <a:lnTo>
                    <a:pt x="711504" y="1678914"/>
                  </a:lnTo>
                  <a:lnTo>
                    <a:pt x="864730" y="1584629"/>
                  </a:lnTo>
                  <a:lnTo>
                    <a:pt x="881380" y="1611630"/>
                  </a:lnTo>
                  <a:lnTo>
                    <a:pt x="908977" y="1567053"/>
                  </a:lnTo>
                  <a:lnTo>
                    <a:pt x="926211" y="1539240"/>
                  </a:lnTo>
                  <a:lnTo>
                    <a:pt x="841375" y="1546733"/>
                  </a:lnTo>
                  <a:lnTo>
                    <a:pt x="857999" y="1573707"/>
                  </a:lnTo>
                  <a:lnTo>
                    <a:pt x="704659" y="1668106"/>
                  </a:lnTo>
                  <a:lnTo>
                    <a:pt x="693839" y="1651025"/>
                  </a:lnTo>
                  <a:lnTo>
                    <a:pt x="693839" y="1674761"/>
                  </a:lnTo>
                  <a:lnTo>
                    <a:pt x="654215" y="1699158"/>
                  </a:lnTo>
                  <a:lnTo>
                    <a:pt x="643356" y="1686217"/>
                  </a:lnTo>
                  <a:lnTo>
                    <a:pt x="643356" y="1705838"/>
                  </a:lnTo>
                  <a:lnTo>
                    <a:pt x="565962" y="1753489"/>
                  </a:lnTo>
                  <a:lnTo>
                    <a:pt x="555091" y="1730362"/>
                  </a:lnTo>
                  <a:lnTo>
                    <a:pt x="555091" y="1760181"/>
                  </a:lnTo>
                  <a:lnTo>
                    <a:pt x="504456" y="1791347"/>
                  </a:lnTo>
                  <a:lnTo>
                    <a:pt x="493636" y="1772513"/>
                  </a:lnTo>
                  <a:lnTo>
                    <a:pt x="493636" y="1798015"/>
                  </a:lnTo>
                  <a:lnTo>
                    <a:pt x="36118" y="2079663"/>
                  </a:lnTo>
                  <a:lnTo>
                    <a:pt x="406349" y="1646008"/>
                  </a:lnTo>
                  <a:lnTo>
                    <a:pt x="493636" y="1798015"/>
                  </a:lnTo>
                  <a:lnTo>
                    <a:pt x="493636" y="1772513"/>
                  </a:lnTo>
                  <a:lnTo>
                    <a:pt x="415099" y="1635760"/>
                  </a:lnTo>
                  <a:lnTo>
                    <a:pt x="467702" y="1574152"/>
                  </a:lnTo>
                  <a:lnTo>
                    <a:pt x="555091" y="1760181"/>
                  </a:lnTo>
                  <a:lnTo>
                    <a:pt x="555091" y="1730362"/>
                  </a:lnTo>
                  <a:lnTo>
                    <a:pt x="476732" y="1563573"/>
                  </a:lnTo>
                  <a:lnTo>
                    <a:pt x="500608" y="1535607"/>
                  </a:lnTo>
                  <a:lnTo>
                    <a:pt x="643356" y="1705838"/>
                  </a:lnTo>
                  <a:lnTo>
                    <a:pt x="643356" y="1686217"/>
                  </a:lnTo>
                  <a:lnTo>
                    <a:pt x="508901" y="1525879"/>
                  </a:lnTo>
                  <a:lnTo>
                    <a:pt x="560971" y="1464906"/>
                  </a:lnTo>
                  <a:lnTo>
                    <a:pt x="693839" y="1674761"/>
                  </a:lnTo>
                  <a:lnTo>
                    <a:pt x="693839" y="1651025"/>
                  </a:lnTo>
                  <a:lnTo>
                    <a:pt x="569595" y="1454785"/>
                  </a:lnTo>
                  <a:lnTo>
                    <a:pt x="651522" y="1358823"/>
                  </a:lnTo>
                  <a:lnTo>
                    <a:pt x="867968" y="1498104"/>
                  </a:lnTo>
                  <a:lnTo>
                    <a:pt x="857377" y="1508379"/>
                  </a:lnTo>
                  <a:lnTo>
                    <a:pt x="863257" y="1510436"/>
                  </a:lnTo>
                  <a:lnTo>
                    <a:pt x="853059" y="1526286"/>
                  </a:lnTo>
                  <a:lnTo>
                    <a:pt x="933551" y="1534985"/>
                  </a:lnTo>
                  <a:lnTo>
                    <a:pt x="937768" y="1536446"/>
                  </a:lnTo>
                  <a:lnTo>
                    <a:pt x="937425" y="1535404"/>
                  </a:lnTo>
                  <a:lnTo>
                    <a:pt x="937768" y="1535430"/>
                  </a:lnTo>
                  <a:lnTo>
                    <a:pt x="937069" y="1534274"/>
                  </a:lnTo>
                  <a:lnTo>
                    <a:pt x="924750" y="1495298"/>
                  </a:lnTo>
                  <a:lnTo>
                    <a:pt x="912114" y="1455293"/>
                  </a:lnTo>
                  <a:lnTo>
                    <a:pt x="898232" y="1468755"/>
                  </a:lnTo>
                  <a:lnTo>
                    <a:pt x="894334" y="1462151"/>
                  </a:lnTo>
                  <a:lnTo>
                    <a:pt x="886409" y="1474470"/>
                  </a:lnTo>
                  <a:lnTo>
                    <a:pt x="879360" y="1467218"/>
                  </a:lnTo>
                  <a:lnTo>
                    <a:pt x="879360" y="1485392"/>
                  </a:lnTo>
                  <a:lnTo>
                    <a:pt x="877112" y="1488897"/>
                  </a:lnTo>
                  <a:lnTo>
                    <a:pt x="659841" y="1349095"/>
                  </a:lnTo>
                  <a:lnTo>
                    <a:pt x="700671" y="1301267"/>
                  </a:lnTo>
                  <a:lnTo>
                    <a:pt x="879360" y="1485392"/>
                  </a:lnTo>
                  <a:lnTo>
                    <a:pt x="879360" y="1467218"/>
                  </a:lnTo>
                  <a:lnTo>
                    <a:pt x="708939" y="1291590"/>
                  </a:lnTo>
                  <a:lnTo>
                    <a:pt x="881646" y="1089291"/>
                  </a:lnTo>
                  <a:lnTo>
                    <a:pt x="905764" y="1109853"/>
                  </a:lnTo>
                  <a:lnTo>
                    <a:pt x="915276" y="1071372"/>
                  </a:lnTo>
                  <a:lnTo>
                    <a:pt x="925880" y="1028484"/>
                  </a:lnTo>
                  <a:lnTo>
                    <a:pt x="935024" y="1024940"/>
                  </a:lnTo>
                  <a:lnTo>
                    <a:pt x="937768" y="1024890"/>
                  </a:lnTo>
                  <a:lnTo>
                    <a:pt x="937158" y="1024115"/>
                  </a:lnTo>
                  <a:lnTo>
                    <a:pt x="937768" y="1023874"/>
                  </a:lnTo>
                  <a:lnTo>
                    <a:pt x="936244" y="1022934"/>
                  </a:lnTo>
                  <a:lnTo>
                    <a:pt x="920889" y="1003046"/>
                  </a:lnTo>
                  <a:lnTo>
                    <a:pt x="894816" y="969276"/>
                  </a:lnTo>
                  <a:lnTo>
                    <a:pt x="894816" y="1040511"/>
                  </a:lnTo>
                  <a:lnTo>
                    <a:pt x="847852" y="1060450"/>
                  </a:lnTo>
                  <a:lnTo>
                    <a:pt x="871982" y="1081049"/>
                  </a:lnTo>
                  <a:lnTo>
                    <a:pt x="700049" y="1282433"/>
                  </a:lnTo>
                  <a:lnTo>
                    <a:pt x="691781" y="1273924"/>
                  </a:lnTo>
                  <a:lnTo>
                    <a:pt x="691781" y="1292123"/>
                  </a:lnTo>
                  <a:lnTo>
                    <a:pt x="649058" y="1342148"/>
                  </a:lnTo>
                  <a:lnTo>
                    <a:pt x="640753" y="1336814"/>
                  </a:lnTo>
                  <a:lnTo>
                    <a:pt x="640753" y="1351889"/>
                  </a:lnTo>
                  <a:lnTo>
                    <a:pt x="562495" y="1443558"/>
                  </a:lnTo>
                  <a:lnTo>
                    <a:pt x="553859" y="1429918"/>
                  </a:lnTo>
                  <a:lnTo>
                    <a:pt x="553859" y="1453667"/>
                  </a:lnTo>
                  <a:lnTo>
                    <a:pt x="500634" y="1516011"/>
                  </a:lnTo>
                  <a:lnTo>
                    <a:pt x="492328" y="1506118"/>
                  </a:lnTo>
                  <a:lnTo>
                    <a:pt x="492328" y="1525739"/>
                  </a:lnTo>
                  <a:lnTo>
                    <a:pt x="470801" y="1550949"/>
                  </a:lnTo>
                  <a:lnTo>
                    <a:pt x="461772" y="1531734"/>
                  </a:lnTo>
                  <a:lnTo>
                    <a:pt x="461772" y="1561528"/>
                  </a:lnTo>
                  <a:lnTo>
                    <a:pt x="408381" y="1624063"/>
                  </a:lnTo>
                  <a:lnTo>
                    <a:pt x="399630" y="1608836"/>
                  </a:lnTo>
                  <a:lnTo>
                    <a:pt x="399630" y="1634312"/>
                  </a:lnTo>
                  <a:lnTo>
                    <a:pt x="45326" y="2049297"/>
                  </a:lnTo>
                  <a:lnTo>
                    <a:pt x="342849" y="1535417"/>
                  </a:lnTo>
                  <a:lnTo>
                    <a:pt x="399630" y="1634312"/>
                  </a:lnTo>
                  <a:lnTo>
                    <a:pt x="399630" y="1608836"/>
                  </a:lnTo>
                  <a:lnTo>
                    <a:pt x="350189" y="1522742"/>
                  </a:lnTo>
                  <a:lnTo>
                    <a:pt x="401739" y="1433728"/>
                  </a:lnTo>
                  <a:lnTo>
                    <a:pt x="461772" y="1561528"/>
                  </a:lnTo>
                  <a:lnTo>
                    <a:pt x="461772" y="1531734"/>
                  </a:lnTo>
                  <a:lnTo>
                    <a:pt x="416445" y="1435227"/>
                  </a:lnTo>
                  <a:lnTo>
                    <a:pt x="492328" y="1525739"/>
                  </a:lnTo>
                  <a:lnTo>
                    <a:pt x="492328" y="1506118"/>
                  </a:lnTo>
                  <a:lnTo>
                    <a:pt x="413943" y="1412633"/>
                  </a:lnTo>
                  <a:lnTo>
                    <a:pt x="468363" y="1318641"/>
                  </a:lnTo>
                  <a:lnTo>
                    <a:pt x="553859" y="1453667"/>
                  </a:lnTo>
                  <a:lnTo>
                    <a:pt x="553859" y="1429918"/>
                  </a:lnTo>
                  <a:lnTo>
                    <a:pt x="475551" y="1306233"/>
                  </a:lnTo>
                  <a:lnTo>
                    <a:pt x="501129" y="1262049"/>
                  </a:lnTo>
                  <a:lnTo>
                    <a:pt x="640753" y="1351889"/>
                  </a:lnTo>
                  <a:lnTo>
                    <a:pt x="640753" y="1336814"/>
                  </a:lnTo>
                  <a:lnTo>
                    <a:pt x="507492" y="1251051"/>
                  </a:lnTo>
                  <a:lnTo>
                    <a:pt x="561467" y="1157846"/>
                  </a:lnTo>
                  <a:lnTo>
                    <a:pt x="691781" y="1292123"/>
                  </a:lnTo>
                  <a:lnTo>
                    <a:pt x="691781" y="1273924"/>
                  </a:lnTo>
                  <a:lnTo>
                    <a:pt x="568071" y="1146429"/>
                  </a:lnTo>
                  <a:lnTo>
                    <a:pt x="651014" y="1003185"/>
                  </a:lnTo>
                  <a:lnTo>
                    <a:pt x="854354" y="1022400"/>
                  </a:lnTo>
                  <a:lnTo>
                    <a:pt x="852551" y="1026160"/>
                  </a:lnTo>
                  <a:lnTo>
                    <a:pt x="861072" y="1026033"/>
                  </a:lnTo>
                  <a:lnTo>
                    <a:pt x="858393" y="1054608"/>
                  </a:lnTo>
                  <a:lnTo>
                    <a:pt x="894816" y="1040511"/>
                  </a:lnTo>
                  <a:lnTo>
                    <a:pt x="894816" y="969276"/>
                  </a:lnTo>
                  <a:lnTo>
                    <a:pt x="885698" y="957453"/>
                  </a:lnTo>
                  <a:lnTo>
                    <a:pt x="873112" y="983538"/>
                  </a:lnTo>
                  <a:lnTo>
                    <a:pt x="865505" y="978789"/>
                  </a:lnTo>
                  <a:lnTo>
                    <a:pt x="865111" y="982891"/>
                  </a:lnTo>
                  <a:lnTo>
                    <a:pt x="863854" y="982294"/>
                  </a:lnTo>
                  <a:lnTo>
                    <a:pt x="863854" y="996340"/>
                  </a:lnTo>
                  <a:lnTo>
                    <a:pt x="863104" y="1004277"/>
                  </a:lnTo>
                  <a:lnTo>
                    <a:pt x="860259" y="1010170"/>
                  </a:lnTo>
                  <a:lnTo>
                    <a:pt x="658037" y="991044"/>
                  </a:lnTo>
                  <a:lnTo>
                    <a:pt x="700506" y="917689"/>
                  </a:lnTo>
                  <a:lnTo>
                    <a:pt x="863854" y="996340"/>
                  </a:lnTo>
                  <a:lnTo>
                    <a:pt x="863854" y="982294"/>
                  </a:lnTo>
                  <a:lnTo>
                    <a:pt x="706869" y="906703"/>
                  </a:lnTo>
                  <a:lnTo>
                    <a:pt x="893546" y="584288"/>
                  </a:lnTo>
                  <a:lnTo>
                    <a:pt x="921004" y="600202"/>
                  </a:lnTo>
                  <a:lnTo>
                    <a:pt x="923036" y="566928"/>
                  </a:lnTo>
                  <a:lnTo>
                    <a:pt x="925461" y="527240"/>
                  </a:lnTo>
                  <a:lnTo>
                    <a:pt x="937768" y="512064"/>
                  </a:lnTo>
                  <a:lnTo>
                    <a:pt x="932903" y="510032"/>
                  </a:lnTo>
                  <a:lnTo>
                    <a:pt x="882611" y="488988"/>
                  </a:lnTo>
                  <a:lnTo>
                    <a:pt x="882611" y="577951"/>
                  </a:lnTo>
                  <a:lnTo>
                    <a:pt x="695452" y="901204"/>
                  </a:lnTo>
                  <a:lnTo>
                    <a:pt x="689089" y="898144"/>
                  </a:lnTo>
                  <a:lnTo>
                    <a:pt x="689089" y="912202"/>
                  </a:lnTo>
                  <a:lnTo>
                    <a:pt x="644194" y="989736"/>
                  </a:lnTo>
                  <a:lnTo>
                    <a:pt x="637171" y="989076"/>
                  </a:lnTo>
                  <a:lnTo>
                    <a:pt x="637171" y="1001877"/>
                  </a:lnTo>
                  <a:lnTo>
                    <a:pt x="558927" y="1137005"/>
                  </a:lnTo>
                  <a:lnTo>
                    <a:pt x="552323" y="1130211"/>
                  </a:lnTo>
                  <a:lnTo>
                    <a:pt x="552323" y="1148422"/>
                  </a:lnTo>
                  <a:lnTo>
                    <a:pt x="496862" y="1244206"/>
                  </a:lnTo>
                  <a:lnTo>
                    <a:pt x="490499" y="1240116"/>
                  </a:lnTo>
                  <a:lnTo>
                    <a:pt x="490499" y="1255204"/>
                  </a:lnTo>
                  <a:lnTo>
                    <a:pt x="467918" y="1294193"/>
                  </a:lnTo>
                  <a:lnTo>
                    <a:pt x="460743" y="1282865"/>
                  </a:lnTo>
                  <a:lnTo>
                    <a:pt x="460743" y="1306588"/>
                  </a:lnTo>
                  <a:lnTo>
                    <a:pt x="405307" y="1402334"/>
                  </a:lnTo>
                  <a:lnTo>
                    <a:pt x="395452" y="1390573"/>
                  </a:lnTo>
                  <a:lnTo>
                    <a:pt x="395198" y="1390040"/>
                  </a:lnTo>
                  <a:lnTo>
                    <a:pt x="395198" y="1419796"/>
                  </a:lnTo>
                  <a:lnTo>
                    <a:pt x="342925" y="1510080"/>
                  </a:lnTo>
                  <a:lnTo>
                    <a:pt x="335584" y="1497304"/>
                  </a:lnTo>
                  <a:lnTo>
                    <a:pt x="335584" y="1522755"/>
                  </a:lnTo>
                  <a:lnTo>
                    <a:pt x="56324" y="2005088"/>
                  </a:lnTo>
                  <a:lnTo>
                    <a:pt x="297027" y="1455572"/>
                  </a:lnTo>
                  <a:lnTo>
                    <a:pt x="335584" y="1522755"/>
                  </a:lnTo>
                  <a:lnTo>
                    <a:pt x="335584" y="1497304"/>
                  </a:lnTo>
                  <a:lnTo>
                    <a:pt x="303352" y="1441145"/>
                  </a:lnTo>
                  <a:lnTo>
                    <a:pt x="343852" y="1348676"/>
                  </a:lnTo>
                  <a:lnTo>
                    <a:pt x="384644" y="1397317"/>
                  </a:lnTo>
                  <a:lnTo>
                    <a:pt x="395198" y="1419796"/>
                  </a:lnTo>
                  <a:lnTo>
                    <a:pt x="395198" y="1390040"/>
                  </a:lnTo>
                  <a:lnTo>
                    <a:pt x="363677" y="1322971"/>
                  </a:lnTo>
                  <a:lnTo>
                    <a:pt x="363677" y="1352664"/>
                  </a:lnTo>
                  <a:lnTo>
                    <a:pt x="349504" y="1335773"/>
                  </a:lnTo>
                  <a:lnTo>
                    <a:pt x="352513" y="1328915"/>
                  </a:lnTo>
                  <a:lnTo>
                    <a:pt x="363677" y="1352664"/>
                  </a:lnTo>
                  <a:lnTo>
                    <a:pt x="363677" y="1322971"/>
                  </a:lnTo>
                  <a:lnTo>
                    <a:pt x="359244" y="1313535"/>
                  </a:lnTo>
                  <a:lnTo>
                    <a:pt x="402551" y="1214653"/>
                  </a:lnTo>
                  <a:lnTo>
                    <a:pt x="460743" y="1306588"/>
                  </a:lnTo>
                  <a:lnTo>
                    <a:pt x="460743" y="1282865"/>
                  </a:lnTo>
                  <a:lnTo>
                    <a:pt x="410756" y="1203871"/>
                  </a:lnTo>
                  <a:lnTo>
                    <a:pt x="490499" y="1255204"/>
                  </a:lnTo>
                  <a:lnTo>
                    <a:pt x="490499" y="1240116"/>
                  </a:lnTo>
                  <a:lnTo>
                    <a:pt x="413194" y="1190358"/>
                  </a:lnTo>
                  <a:lnTo>
                    <a:pt x="469125" y="1062672"/>
                  </a:lnTo>
                  <a:lnTo>
                    <a:pt x="552323" y="1148422"/>
                  </a:lnTo>
                  <a:lnTo>
                    <a:pt x="552323" y="1130211"/>
                  </a:lnTo>
                  <a:lnTo>
                    <a:pt x="474624" y="1050112"/>
                  </a:lnTo>
                  <a:lnTo>
                    <a:pt x="501383" y="989025"/>
                  </a:lnTo>
                  <a:lnTo>
                    <a:pt x="637171" y="1001877"/>
                  </a:lnTo>
                  <a:lnTo>
                    <a:pt x="637171" y="989076"/>
                  </a:lnTo>
                  <a:lnTo>
                    <a:pt x="506755" y="976731"/>
                  </a:lnTo>
                  <a:lnTo>
                    <a:pt x="561860" y="850925"/>
                  </a:lnTo>
                  <a:lnTo>
                    <a:pt x="689089" y="912202"/>
                  </a:lnTo>
                  <a:lnTo>
                    <a:pt x="689089" y="898144"/>
                  </a:lnTo>
                  <a:lnTo>
                    <a:pt x="566953" y="839304"/>
                  </a:lnTo>
                  <a:lnTo>
                    <a:pt x="649947" y="649833"/>
                  </a:lnTo>
                  <a:lnTo>
                    <a:pt x="864171" y="552475"/>
                  </a:lnTo>
                  <a:lnTo>
                    <a:pt x="864362" y="555244"/>
                  </a:lnTo>
                  <a:lnTo>
                    <a:pt x="871740" y="550900"/>
                  </a:lnTo>
                  <a:lnTo>
                    <a:pt x="855091" y="561975"/>
                  </a:lnTo>
                  <a:lnTo>
                    <a:pt x="882611" y="577951"/>
                  </a:lnTo>
                  <a:lnTo>
                    <a:pt x="882611" y="488988"/>
                  </a:lnTo>
                  <a:lnTo>
                    <a:pt x="863231" y="480885"/>
                  </a:lnTo>
                  <a:lnTo>
                    <a:pt x="863231" y="538924"/>
                  </a:lnTo>
                  <a:lnTo>
                    <a:pt x="657580" y="632383"/>
                  </a:lnTo>
                  <a:lnTo>
                    <a:pt x="700455" y="534504"/>
                  </a:lnTo>
                  <a:lnTo>
                    <a:pt x="859434" y="523786"/>
                  </a:lnTo>
                  <a:lnTo>
                    <a:pt x="862685" y="530961"/>
                  </a:lnTo>
                  <a:lnTo>
                    <a:pt x="863231" y="538924"/>
                  </a:lnTo>
                  <a:lnTo>
                    <a:pt x="863231" y="480885"/>
                  </a:lnTo>
                  <a:lnTo>
                    <a:pt x="859155" y="479171"/>
                  </a:lnTo>
                  <a:lnTo>
                    <a:pt x="861199" y="509219"/>
                  </a:lnTo>
                  <a:lnTo>
                    <a:pt x="852678" y="508889"/>
                  </a:lnTo>
                  <a:lnTo>
                    <a:pt x="853808" y="511403"/>
                  </a:lnTo>
                  <a:lnTo>
                    <a:pt x="706208" y="521360"/>
                  </a:lnTo>
                  <a:lnTo>
                    <a:pt x="901547" y="75399"/>
                  </a:lnTo>
                  <a:lnTo>
                    <a:pt x="908507" y="78447"/>
                  </a:lnTo>
                  <a:lnTo>
                    <a:pt x="910971" y="80899"/>
                  </a:lnTo>
                  <a:lnTo>
                    <a:pt x="911364" y="79705"/>
                  </a:lnTo>
                  <a:lnTo>
                    <a:pt x="930656" y="88138"/>
                  </a:lnTo>
                  <a:lnTo>
                    <a:pt x="929106" y="58674"/>
                  </a:lnTo>
                  <a:lnTo>
                    <a:pt x="927633" y="30568"/>
                  </a:lnTo>
                  <a:lnTo>
                    <a:pt x="937768" y="0"/>
                  </a:lnTo>
                  <a:lnTo>
                    <a:pt x="889876" y="4241"/>
                  </a:lnTo>
                  <a:lnTo>
                    <a:pt x="889876" y="70281"/>
                  </a:lnTo>
                  <a:lnTo>
                    <a:pt x="691870" y="522325"/>
                  </a:lnTo>
                  <a:lnTo>
                    <a:pt x="686104" y="522719"/>
                  </a:lnTo>
                  <a:lnTo>
                    <a:pt x="686104" y="535470"/>
                  </a:lnTo>
                  <a:lnTo>
                    <a:pt x="640194" y="640283"/>
                  </a:lnTo>
                  <a:lnTo>
                    <a:pt x="632548" y="643763"/>
                  </a:lnTo>
                  <a:lnTo>
                    <a:pt x="632548" y="657733"/>
                  </a:lnTo>
                  <a:lnTo>
                    <a:pt x="555447" y="833755"/>
                  </a:lnTo>
                  <a:lnTo>
                    <a:pt x="550354" y="831303"/>
                  </a:lnTo>
                  <a:lnTo>
                    <a:pt x="550354" y="845388"/>
                  </a:lnTo>
                  <a:lnTo>
                    <a:pt x="493382" y="975461"/>
                  </a:lnTo>
                  <a:lnTo>
                    <a:pt x="487997" y="974953"/>
                  </a:lnTo>
                  <a:lnTo>
                    <a:pt x="487997" y="987755"/>
                  </a:lnTo>
                  <a:lnTo>
                    <a:pt x="465023" y="1040206"/>
                  </a:lnTo>
                  <a:lnTo>
                    <a:pt x="459511" y="1034529"/>
                  </a:lnTo>
                  <a:lnTo>
                    <a:pt x="459511" y="1052779"/>
                  </a:lnTo>
                  <a:lnTo>
                    <a:pt x="402310" y="1183360"/>
                  </a:lnTo>
                  <a:lnTo>
                    <a:pt x="394652" y="1178420"/>
                  </a:lnTo>
                  <a:lnTo>
                    <a:pt x="394309" y="1177886"/>
                  </a:lnTo>
                  <a:lnTo>
                    <a:pt x="394309" y="1201635"/>
                  </a:lnTo>
                  <a:lnTo>
                    <a:pt x="352031" y="1298168"/>
                  </a:lnTo>
                  <a:lnTo>
                    <a:pt x="345287" y="1283817"/>
                  </a:lnTo>
                  <a:lnTo>
                    <a:pt x="345287" y="1313548"/>
                  </a:lnTo>
                  <a:lnTo>
                    <a:pt x="340347" y="1324851"/>
                  </a:lnTo>
                  <a:lnTo>
                    <a:pt x="334683" y="1318107"/>
                  </a:lnTo>
                  <a:lnTo>
                    <a:pt x="334683" y="1337754"/>
                  </a:lnTo>
                  <a:lnTo>
                    <a:pt x="295440" y="1427365"/>
                  </a:lnTo>
                  <a:lnTo>
                    <a:pt x="46850" y="994473"/>
                  </a:lnTo>
                  <a:lnTo>
                    <a:pt x="334683" y="1337754"/>
                  </a:lnTo>
                  <a:lnTo>
                    <a:pt x="334683" y="1318107"/>
                  </a:lnTo>
                  <a:lnTo>
                    <a:pt x="37439" y="963625"/>
                  </a:lnTo>
                  <a:lnTo>
                    <a:pt x="243078" y="1095959"/>
                  </a:lnTo>
                  <a:lnTo>
                    <a:pt x="345287" y="1313548"/>
                  </a:lnTo>
                  <a:lnTo>
                    <a:pt x="345287" y="1283817"/>
                  </a:lnTo>
                  <a:lnTo>
                    <a:pt x="263067" y="1108824"/>
                  </a:lnTo>
                  <a:lnTo>
                    <a:pt x="385406" y="1187551"/>
                  </a:lnTo>
                  <a:lnTo>
                    <a:pt x="394309" y="1201635"/>
                  </a:lnTo>
                  <a:lnTo>
                    <a:pt x="394309" y="1177886"/>
                  </a:lnTo>
                  <a:lnTo>
                    <a:pt x="369290" y="1138364"/>
                  </a:lnTo>
                  <a:lnTo>
                    <a:pt x="369290" y="1162100"/>
                  </a:lnTo>
                  <a:lnTo>
                    <a:pt x="252920" y="1087208"/>
                  </a:lnTo>
                  <a:lnTo>
                    <a:pt x="232918" y="1044638"/>
                  </a:lnTo>
                  <a:lnTo>
                    <a:pt x="232918" y="1074343"/>
                  </a:lnTo>
                  <a:lnTo>
                    <a:pt x="31229" y="944549"/>
                  </a:lnTo>
                  <a:lnTo>
                    <a:pt x="178485" y="958481"/>
                  </a:lnTo>
                  <a:lnTo>
                    <a:pt x="232918" y="1074343"/>
                  </a:lnTo>
                  <a:lnTo>
                    <a:pt x="232918" y="1044638"/>
                  </a:lnTo>
                  <a:lnTo>
                    <a:pt x="193090" y="959866"/>
                  </a:lnTo>
                  <a:lnTo>
                    <a:pt x="244322" y="964704"/>
                  </a:lnTo>
                  <a:lnTo>
                    <a:pt x="369290" y="1162100"/>
                  </a:lnTo>
                  <a:lnTo>
                    <a:pt x="369290" y="1138364"/>
                  </a:lnTo>
                  <a:lnTo>
                    <a:pt x="260299" y="966216"/>
                  </a:lnTo>
                  <a:lnTo>
                    <a:pt x="387172" y="978217"/>
                  </a:lnTo>
                  <a:lnTo>
                    <a:pt x="459511" y="1052779"/>
                  </a:lnTo>
                  <a:lnTo>
                    <a:pt x="459511" y="1034529"/>
                  </a:lnTo>
                  <a:lnTo>
                    <a:pt x="406666" y="980059"/>
                  </a:lnTo>
                  <a:lnTo>
                    <a:pt x="487997" y="987755"/>
                  </a:lnTo>
                  <a:lnTo>
                    <a:pt x="487997" y="974953"/>
                  </a:lnTo>
                  <a:lnTo>
                    <a:pt x="392988" y="965962"/>
                  </a:lnTo>
                  <a:lnTo>
                    <a:pt x="373481" y="945870"/>
                  </a:lnTo>
                  <a:lnTo>
                    <a:pt x="373481" y="964107"/>
                  </a:lnTo>
                  <a:lnTo>
                    <a:pt x="251675" y="952588"/>
                  </a:lnTo>
                  <a:lnTo>
                    <a:pt x="235699" y="927354"/>
                  </a:lnTo>
                  <a:lnTo>
                    <a:pt x="235699" y="951077"/>
                  </a:lnTo>
                  <a:lnTo>
                    <a:pt x="186778" y="946454"/>
                  </a:lnTo>
                  <a:lnTo>
                    <a:pt x="172186" y="915403"/>
                  </a:lnTo>
                  <a:lnTo>
                    <a:pt x="172186" y="945070"/>
                  </a:lnTo>
                  <a:lnTo>
                    <a:pt x="29883" y="931608"/>
                  </a:lnTo>
                  <a:lnTo>
                    <a:pt x="141947" y="880694"/>
                  </a:lnTo>
                  <a:lnTo>
                    <a:pt x="172186" y="945070"/>
                  </a:lnTo>
                  <a:lnTo>
                    <a:pt x="172186" y="915403"/>
                  </a:lnTo>
                  <a:lnTo>
                    <a:pt x="153428" y="875474"/>
                  </a:lnTo>
                  <a:lnTo>
                    <a:pt x="180149" y="863333"/>
                  </a:lnTo>
                  <a:lnTo>
                    <a:pt x="235699" y="951077"/>
                  </a:lnTo>
                  <a:lnTo>
                    <a:pt x="235699" y="927354"/>
                  </a:lnTo>
                  <a:lnTo>
                    <a:pt x="191808" y="858024"/>
                  </a:lnTo>
                  <a:lnTo>
                    <a:pt x="246430" y="833208"/>
                  </a:lnTo>
                  <a:lnTo>
                    <a:pt x="373481" y="964107"/>
                  </a:lnTo>
                  <a:lnTo>
                    <a:pt x="373481" y="945870"/>
                  </a:lnTo>
                  <a:lnTo>
                    <a:pt x="258737" y="827608"/>
                  </a:lnTo>
                  <a:lnTo>
                    <a:pt x="389788" y="768057"/>
                  </a:lnTo>
                  <a:lnTo>
                    <a:pt x="550354" y="845388"/>
                  </a:lnTo>
                  <a:lnTo>
                    <a:pt x="550354" y="831303"/>
                  </a:lnTo>
                  <a:lnTo>
                    <a:pt x="404837" y="761212"/>
                  </a:lnTo>
                  <a:lnTo>
                    <a:pt x="632548" y="657733"/>
                  </a:lnTo>
                  <a:lnTo>
                    <a:pt x="632548" y="643763"/>
                  </a:lnTo>
                  <a:lnTo>
                    <a:pt x="389902" y="754024"/>
                  </a:lnTo>
                  <a:lnTo>
                    <a:pt x="374853" y="746785"/>
                  </a:lnTo>
                  <a:lnTo>
                    <a:pt x="374853" y="760869"/>
                  </a:lnTo>
                  <a:lnTo>
                    <a:pt x="249326" y="817905"/>
                  </a:lnTo>
                  <a:lnTo>
                    <a:pt x="237020" y="805230"/>
                  </a:lnTo>
                  <a:lnTo>
                    <a:pt x="237020" y="823493"/>
                  </a:lnTo>
                  <a:lnTo>
                    <a:pt x="184937" y="847166"/>
                  </a:lnTo>
                  <a:lnTo>
                    <a:pt x="173266" y="828738"/>
                  </a:lnTo>
                  <a:lnTo>
                    <a:pt x="173266" y="852474"/>
                  </a:lnTo>
                  <a:lnTo>
                    <a:pt x="148018" y="863942"/>
                  </a:lnTo>
                  <a:lnTo>
                    <a:pt x="136537" y="839495"/>
                  </a:lnTo>
                  <a:lnTo>
                    <a:pt x="136537" y="869162"/>
                  </a:lnTo>
                  <a:lnTo>
                    <a:pt x="34201" y="915670"/>
                  </a:lnTo>
                  <a:lnTo>
                    <a:pt x="118605" y="830973"/>
                  </a:lnTo>
                  <a:lnTo>
                    <a:pt x="136537" y="869162"/>
                  </a:lnTo>
                  <a:lnTo>
                    <a:pt x="136537" y="839495"/>
                  </a:lnTo>
                  <a:lnTo>
                    <a:pt x="128079" y="821474"/>
                  </a:lnTo>
                  <a:lnTo>
                    <a:pt x="143725" y="805776"/>
                  </a:lnTo>
                  <a:lnTo>
                    <a:pt x="173266" y="852474"/>
                  </a:lnTo>
                  <a:lnTo>
                    <a:pt x="173266" y="828738"/>
                  </a:lnTo>
                  <a:lnTo>
                    <a:pt x="152908" y="796569"/>
                  </a:lnTo>
                  <a:lnTo>
                    <a:pt x="182283" y="767080"/>
                  </a:lnTo>
                  <a:lnTo>
                    <a:pt x="237020" y="823493"/>
                  </a:lnTo>
                  <a:lnTo>
                    <a:pt x="237020" y="805230"/>
                  </a:lnTo>
                  <a:lnTo>
                    <a:pt x="191274" y="758063"/>
                  </a:lnTo>
                  <a:lnTo>
                    <a:pt x="248920" y="700214"/>
                  </a:lnTo>
                  <a:lnTo>
                    <a:pt x="374853" y="760869"/>
                  </a:lnTo>
                  <a:lnTo>
                    <a:pt x="374853" y="746785"/>
                  </a:lnTo>
                  <a:lnTo>
                    <a:pt x="258419" y="690689"/>
                  </a:lnTo>
                  <a:lnTo>
                    <a:pt x="393458" y="555193"/>
                  </a:lnTo>
                  <a:lnTo>
                    <a:pt x="686104" y="535470"/>
                  </a:lnTo>
                  <a:lnTo>
                    <a:pt x="686104" y="522719"/>
                  </a:lnTo>
                  <a:lnTo>
                    <a:pt x="407085" y="541515"/>
                  </a:lnTo>
                  <a:lnTo>
                    <a:pt x="880706" y="66268"/>
                  </a:lnTo>
                  <a:lnTo>
                    <a:pt x="889876" y="70281"/>
                  </a:lnTo>
                  <a:lnTo>
                    <a:pt x="889876" y="4241"/>
                  </a:lnTo>
                  <a:lnTo>
                    <a:pt x="872718" y="5753"/>
                  </a:lnTo>
                  <a:lnTo>
                    <a:pt x="872718" y="47599"/>
                  </a:lnTo>
                  <a:lnTo>
                    <a:pt x="860806" y="57531"/>
                  </a:lnTo>
                  <a:lnTo>
                    <a:pt x="868273" y="60807"/>
                  </a:lnTo>
                  <a:lnTo>
                    <a:pt x="387921" y="542810"/>
                  </a:lnTo>
                  <a:lnTo>
                    <a:pt x="374294" y="543737"/>
                  </a:lnTo>
                  <a:lnTo>
                    <a:pt x="374294" y="556488"/>
                  </a:lnTo>
                  <a:lnTo>
                    <a:pt x="246341" y="684872"/>
                  </a:lnTo>
                  <a:lnTo>
                    <a:pt x="236842" y="680300"/>
                  </a:lnTo>
                  <a:lnTo>
                    <a:pt x="236842" y="694397"/>
                  </a:lnTo>
                  <a:lnTo>
                    <a:pt x="182448" y="748982"/>
                  </a:lnTo>
                  <a:lnTo>
                    <a:pt x="173469" y="739736"/>
                  </a:lnTo>
                  <a:lnTo>
                    <a:pt x="173469" y="757999"/>
                  </a:lnTo>
                  <a:lnTo>
                    <a:pt x="145961" y="785596"/>
                  </a:lnTo>
                  <a:lnTo>
                    <a:pt x="136779" y="771093"/>
                  </a:lnTo>
                  <a:lnTo>
                    <a:pt x="136779" y="794804"/>
                  </a:lnTo>
                  <a:lnTo>
                    <a:pt x="122351" y="809282"/>
                  </a:lnTo>
                  <a:lnTo>
                    <a:pt x="54457" y="664743"/>
                  </a:lnTo>
                  <a:lnTo>
                    <a:pt x="136779" y="794804"/>
                  </a:lnTo>
                  <a:lnTo>
                    <a:pt x="136779" y="771093"/>
                  </a:lnTo>
                  <a:lnTo>
                    <a:pt x="44056" y="624624"/>
                  </a:lnTo>
                  <a:lnTo>
                    <a:pt x="173469" y="757999"/>
                  </a:lnTo>
                  <a:lnTo>
                    <a:pt x="173469" y="739736"/>
                  </a:lnTo>
                  <a:lnTo>
                    <a:pt x="35344" y="597357"/>
                  </a:lnTo>
                  <a:lnTo>
                    <a:pt x="236842" y="694397"/>
                  </a:lnTo>
                  <a:lnTo>
                    <a:pt x="236842" y="680300"/>
                  </a:lnTo>
                  <a:lnTo>
                    <a:pt x="28206" y="579805"/>
                  </a:lnTo>
                  <a:lnTo>
                    <a:pt x="374294" y="556488"/>
                  </a:lnTo>
                  <a:lnTo>
                    <a:pt x="374294" y="543737"/>
                  </a:lnTo>
                  <a:lnTo>
                    <a:pt x="30213" y="566915"/>
                  </a:lnTo>
                  <a:lnTo>
                    <a:pt x="872718" y="47599"/>
                  </a:lnTo>
                  <a:lnTo>
                    <a:pt x="872718" y="5753"/>
                  </a:lnTo>
                  <a:lnTo>
                    <a:pt x="852932" y="7493"/>
                  </a:lnTo>
                  <a:lnTo>
                    <a:pt x="863600" y="24841"/>
                  </a:lnTo>
                  <a:lnTo>
                    <a:pt x="856996" y="27051"/>
                  </a:lnTo>
                  <a:lnTo>
                    <a:pt x="866457" y="36512"/>
                  </a:lnTo>
                  <a:lnTo>
                    <a:pt x="2540" y="569087"/>
                  </a:lnTo>
                  <a:lnTo>
                    <a:pt x="5803" y="574497"/>
                  </a:lnTo>
                  <a:lnTo>
                    <a:pt x="5892" y="575957"/>
                  </a:lnTo>
                  <a:lnTo>
                    <a:pt x="127" y="578739"/>
                  </a:lnTo>
                  <a:lnTo>
                    <a:pt x="112890" y="818781"/>
                  </a:lnTo>
                  <a:lnTo>
                    <a:pt x="1397" y="930656"/>
                  </a:lnTo>
                  <a:lnTo>
                    <a:pt x="5537" y="934897"/>
                  </a:lnTo>
                  <a:lnTo>
                    <a:pt x="5842" y="935583"/>
                  </a:lnTo>
                  <a:lnTo>
                    <a:pt x="5842" y="935736"/>
                  </a:lnTo>
                  <a:lnTo>
                    <a:pt x="381" y="938911"/>
                  </a:lnTo>
                  <a:lnTo>
                    <a:pt x="289115" y="1441792"/>
                  </a:lnTo>
                  <a:lnTo>
                    <a:pt x="0" y="2101850"/>
                  </a:lnTo>
                  <a:lnTo>
                    <a:pt x="2717" y="2103094"/>
                  </a:lnTo>
                  <a:lnTo>
                    <a:pt x="4152" y="2103920"/>
                  </a:lnTo>
                  <a:lnTo>
                    <a:pt x="5308" y="2104898"/>
                  </a:lnTo>
                  <a:lnTo>
                    <a:pt x="5791" y="2105672"/>
                  </a:lnTo>
                  <a:lnTo>
                    <a:pt x="5816" y="2106206"/>
                  </a:lnTo>
                  <a:lnTo>
                    <a:pt x="3048" y="2111883"/>
                  </a:lnTo>
                  <a:lnTo>
                    <a:pt x="855167" y="2534755"/>
                  </a:lnTo>
                  <a:lnTo>
                    <a:pt x="841235" y="2562860"/>
                  </a:lnTo>
                  <a:lnTo>
                    <a:pt x="841121" y="2563114"/>
                  </a:lnTo>
                  <a:lnTo>
                    <a:pt x="926211" y="2562860"/>
                  </a:lnTo>
                  <a:lnTo>
                    <a:pt x="909231" y="2540381"/>
                  </a:lnTo>
                  <a:lnTo>
                    <a:pt x="908443" y="2539352"/>
                  </a:lnTo>
                  <a:lnTo>
                    <a:pt x="929678" y="2553436"/>
                  </a:lnTo>
                  <a:lnTo>
                    <a:pt x="937768" y="2559812"/>
                  </a:lnTo>
                  <a:lnTo>
                    <a:pt x="939101" y="2506980"/>
                  </a:lnTo>
                  <a:lnTo>
                    <a:pt x="939152" y="2504948"/>
                  </a:lnTo>
                  <a:lnTo>
                    <a:pt x="939927" y="2474595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544951" y="5963513"/>
            <a:ext cx="5962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Arial MT"/>
                <a:cs typeface="Arial MT"/>
              </a:rPr>
              <a:t>Capa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41926" y="5963513"/>
            <a:ext cx="5975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Arial MT"/>
                <a:cs typeface="Arial MT"/>
              </a:rPr>
              <a:t>Capa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66003" y="5963513"/>
            <a:ext cx="5962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Arial MT"/>
                <a:cs typeface="Arial MT"/>
              </a:rPr>
              <a:t>Capa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41425" y="3118800"/>
            <a:ext cx="253365" cy="747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31600"/>
              </a:lnSpc>
              <a:spcBef>
                <a:spcPts val="95"/>
              </a:spcBef>
            </a:pPr>
            <a:r>
              <a:rPr sz="1800" i="1" spc="-25" dirty="0">
                <a:latin typeface="Times New Roman"/>
                <a:cs typeface="Times New Roman"/>
              </a:rPr>
              <a:t>x</a:t>
            </a:r>
            <a:r>
              <a:rPr sz="1800" spc="-37" baseline="-20833" dirty="0">
                <a:latin typeface="Times New Roman"/>
                <a:cs typeface="Times New Roman"/>
              </a:rPr>
              <a:t>1 </a:t>
            </a:r>
            <a:r>
              <a:rPr sz="1800" i="1" spc="-25" dirty="0">
                <a:latin typeface="Times New Roman"/>
                <a:cs typeface="Times New Roman"/>
              </a:rPr>
              <a:t>x</a:t>
            </a:r>
            <a:r>
              <a:rPr sz="1800" spc="-37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41425" y="4735195"/>
            <a:ext cx="253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25" dirty="0">
                <a:latin typeface="Times New Roman"/>
                <a:cs typeface="Times New Roman"/>
              </a:rPr>
              <a:t>x</a:t>
            </a:r>
            <a:r>
              <a:rPr sz="1800" i="1" spc="-37" baseline="-20833" dirty="0">
                <a:latin typeface="Times New Roman"/>
                <a:cs typeface="Times New Roman"/>
              </a:rPr>
              <a:t>d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606039" y="5628132"/>
            <a:ext cx="76200" cy="315595"/>
          </a:xfrm>
          <a:custGeom>
            <a:avLst/>
            <a:gdLst/>
            <a:ahLst/>
            <a:cxnLst/>
            <a:rect l="l" t="t" r="r" b="b"/>
            <a:pathLst>
              <a:path w="76200" h="315595">
                <a:moveTo>
                  <a:pt x="44450" y="264680"/>
                </a:moveTo>
                <a:lnTo>
                  <a:pt x="31750" y="264680"/>
                </a:lnTo>
                <a:lnTo>
                  <a:pt x="31750" y="315480"/>
                </a:lnTo>
                <a:lnTo>
                  <a:pt x="44450" y="315480"/>
                </a:lnTo>
                <a:lnTo>
                  <a:pt x="44450" y="264680"/>
                </a:lnTo>
                <a:close/>
              </a:path>
              <a:path w="76200" h="315595">
                <a:moveTo>
                  <a:pt x="44450" y="175780"/>
                </a:moveTo>
                <a:lnTo>
                  <a:pt x="31750" y="175780"/>
                </a:lnTo>
                <a:lnTo>
                  <a:pt x="31750" y="226580"/>
                </a:lnTo>
                <a:lnTo>
                  <a:pt x="44450" y="226580"/>
                </a:lnTo>
                <a:lnTo>
                  <a:pt x="44450" y="175780"/>
                </a:lnTo>
                <a:close/>
              </a:path>
              <a:path w="76200" h="315595">
                <a:moveTo>
                  <a:pt x="44450" y="86880"/>
                </a:moveTo>
                <a:lnTo>
                  <a:pt x="31750" y="86880"/>
                </a:lnTo>
                <a:lnTo>
                  <a:pt x="31750" y="137680"/>
                </a:lnTo>
                <a:lnTo>
                  <a:pt x="44450" y="137680"/>
                </a:lnTo>
                <a:lnTo>
                  <a:pt x="44450" y="86880"/>
                </a:lnTo>
                <a:close/>
              </a:path>
              <a:path w="76200" h="315595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97B85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1325880" y="2563367"/>
            <a:ext cx="6631305" cy="3383279"/>
            <a:chOff x="1325880" y="2563367"/>
            <a:chExt cx="6631305" cy="3383279"/>
          </a:xfrm>
        </p:grpSpPr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8293" y="2915284"/>
              <a:ext cx="76200" cy="24511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53003" y="3119495"/>
              <a:ext cx="406182" cy="40335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694175" y="3139439"/>
              <a:ext cx="326390" cy="323215"/>
            </a:xfrm>
            <a:custGeom>
              <a:avLst/>
              <a:gdLst/>
              <a:ahLst/>
              <a:cxnLst/>
              <a:rect l="l" t="t" r="r" b="b"/>
              <a:pathLst>
                <a:path w="326389" h="323214">
                  <a:moveTo>
                    <a:pt x="163068" y="0"/>
                  </a:moveTo>
                  <a:lnTo>
                    <a:pt x="119723" y="5766"/>
                  </a:lnTo>
                  <a:lnTo>
                    <a:pt x="80772" y="22041"/>
                  </a:lnTo>
                  <a:lnTo>
                    <a:pt x="47767" y="47291"/>
                  </a:lnTo>
                  <a:lnTo>
                    <a:pt x="22267" y="79981"/>
                  </a:lnTo>
                  <a:lnTo>
                    <a:pt x="5826" y="118577"/>
                  </a:lnTo>
                  <a:lnTo>
                    <a:pt x="0" y="161544"/>
                  </a:lnTo>
                  <a:lnTo>
                    <a:pt x="5826" y="204510"/>
                  </a:lnTo>
                  <a:lnTo>
                    <a:pt x="22267" y="243106"/>
                  </a:lnTo>
                  <a:lnTo>
                    <a:pt x="47767" y="275796"/>
                  </a:lnTo>
                  <a:lnTo>
                    <a:pt x="80772" y="301046"/>
                  </a:lnTo>
                  <a:lnTo>
                    <a:pt x="119723" y="317321"/>
                  </a:lnTo>
                  <a:lnTo>
                    <a:pt x="163068" y="323088"/>
                  </a:lnTo>
                  <a:lnTo>
                    <a:pt x="206412" y="317321"/>
                  </a:lnTo>
                  <a:lnTo>
                    <a:pt x="245363" y="301046"/>
                  </a:lnTo>
                  <a:lnTo>
                    <a:pt x="278368" y="275796"/>
                  </a:lnTo>
                  <a:lnTo>
                    <a:pt x="303868" y="243106"/>
                  </a:lnTo>
                  <a:lnTo>
                    <a:pt x="320309" y="204510"/>
                  </a:lnTo>
                  <a:lnTo>
                    <a:pt x="326136" y="161544"/>
                  </a:lnTo>
                  <a:lnTo>
                    <a:pt x="320309" y="118577"/>
                  </a:lnTo>
                  <a:lnTo>
                    <a:pt x="303868" y="79981"/>
                  </a:lnTo>
                  <a:lnTo>
                    <a:pt x="278368" y="47291"/>
                  </a:lnTo>
                  <a:lnTo>
                    <a:pt x="245363" y="22041"/>
                  </a:lnTo>
                  <a:lnTo>
                    <a:pt x="206412" y="5766"/>
                  </a:lnTo>
                  <a:lnTo>
                    <a:pt x="163068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94175" y="3139439"/>
              <a:ext cx="326390" cy="323215"/>
            </a:xfrm>
            <a:custGeom>
              <a:avLst/>
              <a:gdLst/>
              <a:ahLst/>
              <a:cxnLst/>
              <a:rect l="l" t="t" r="r" b="b"/>
              <a:pathLst>
                <a:path w="326389" h="323214">
                  <a:moveTo>
                    <a:pt x="0" y="161544"/>
                  </a:moveTo>
                  <a:lnTo>
                    <a:pt x="5826" y="118577"/>
                  </a:lnTo>
                  <a:lnTo>
                    <a:pt x="22267" y="79981"/>
                  </a:lnTo>
                  <a:lnTo>
                    <a:pt x="47767" y="47291"/>
                  </a:lnTo>
                  <a:lnTo>
                    <a:pt x="80772" y="22041"/>
                  </a:lnTo>
                  <a:lnTo>
                    <a:pt x="119723" y="5766"/>
                  </a:lnTo>
                  <a:lnTo>
                    <a:pt x="163068" y="0"/>
                  </a:lnTo>
                  <a:lnTo>
                    <a:pt x="206412" y="5766"/>
                  </a:lnTo>
                  <a:lnTo>
                    <a:pt x="245363" y="22041"/>
                  </a:lnTo>
                  <a:lnTo>
                    <a:pt x="278368" y="47291"/>
                  </a:lnTo>
                  <a:lnTo>
                    <a:pt x="303868" y="79981"/>
                  </a:lnTo>
                  <a:lnTo>
                    <a:pt x="320309" y="118577"/>
                  </a:lnTo>
                  <a:lnTo>
                    <a:pt x="326136" y="161544"/>
                  </a:lnTo>
                  <a:lnTo>
                    <a:pt x="320309" y="204510"/>
                  </a:lnTo>
                  <a:lnTo>
                    <a:pt x="303868" y="243106"/>
                  </a:lnTo>
                  <a:lnTo>
                    <a:pt x="278368" y="275796"/>
                  </a:lnTo>
                  <a:lnTo>
                    <a:pt x="245363" y="301046"/>
                  </a:lnTo>
                  <a:lnTo>
                    <a:pt x="206412" y="317321"/>
                  </a:lnTo>
                  <a:lnTo>
                    <a:pt x="163068" y="323088"/>
                  </a:lnTo>
                  <a:lnTo>
                    <a:pt x="119723" y="317321"/>
                  </a:lnTo>
                  <a:lnTo>
                    <a:pt x="80772" y="301046"/>
                  </a:lnTo>
                  <a:lnTo>
                    <a:pt x="47767" y="275796"/>
                  </a:lnTo>
                  <a:lnTo>
                    <a:pt x="22267" y="243106"/>
                  </a:lnTo>
                  <a:lnTo>
                    <a:pt x="582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53003" y="4143623"/>
              <a:ext cx="406182" cy="40335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94175" y="4163567"/>
              <a:ext cx="326390" cy="323215"/>
            </a:xfrm>
            <a:custGeom>
              <a:avLst/>
              <a:gdLst/>
              <a:ahLst/>
              <a:cxnLst/>
              <a:rect l="l" t="t" r="r" b="b"/>
              <a:pathLst>
                <a:path w="326389" h="323214">
                  <a:moveTo>
                    <a:pt x="163068" y="0"/>
                  </a:moveTo>
                  <a:lnTo>
                    <a:pt x="119723" y="5766"/>
                  </a:lnTo>
                  <a:lnTo>
                    <a:pt x="80772" y="22041"/>
                  </a:lnTo>
                  <a:lnTo>
                    <a:pt x="47767" y="47291"/>
                  </a:lnTo>
                  <a:lnTo>
                    <a:pt x="22267" y="79981"/>
                  </a:lnTo>
                  <a:lnTo>
                    <a:pt x="5826" y="118577"/>
                  </a:lnTo>
                  <a:lnTo>
                    <a:pt x="0" y="161543"/>
                  </a:lnTo>
                  <a:lnTo>
                    <a:pt x="5826" y="204510"/>
                  </a:lnTo>
                  <a:lnTo>
                    <a:pt x="22267" y="243106"/>
                  </a:lnTo>
                  <a:lnTo>
                    <a:pt x="47767" y="275796"/>
                  </a:lnTo>
                  <a:lnTo>
                    <a:pt x="80772" y="301046"/>
                  </a:lnTo>
                  <a:lnTo>
                    <a:pt x="119723" y="317321"/>
                  </a:lnTo>
                  <a:lnTo>
                    <a:pt x="163068" y="323087"/>
                  </a:lnTo>
                  <a:lnTo>
                    <a:pt x="206412" y="317321"/>
                  </a:lnTo>
                  <a:lnTo>
                    <a:pt x="245363" y="301046"/>
                  </a:lnTo>
                  <a:lnTo>
                    <a:pt x="278368" y="275796"/>
                  </a:lnTo>
                  <a:lnTo>
                    <a:pt x="303868" y="243106"/>
                  </a:lnTo>
                  <a:lnTo>
                    <a:pt x="320309" y="204510"/>
                  </a:lnTo>
                  <a:lnTo>
                    <a:pt x="326136" y="161543"/>
                  </a:lnTo>
                  <a:lnTo>
                    <a:pt x="320309" y="118577"/>
                  </a:lnTo>
                  <a:lnTo>
                    <a:pt x="303868" y="79981"/>
                  </a:lnTo>
                  <a:lnTo>
                    <a:pt x="278368" y="47291"/>
                  </a:lnTo>
                  <a:lnTo>
                    <a:pt x="245363" y="22041"/>
                  </a:lnTo>
                  <a:lnTo>
                    <a:pt x="206412" y="5766"/>
                  </a:lnTo>
                  <a:lnTo>
                    <a:pt x="163068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94175" y="4163567"/>
              <a:ext cx="326390" cy="323215"/>
            </a:xfrm>
            <a:custGeom>
              <a:avLst/>
              <a:gdLst/>
              <a:ahLst/>
              <a:cxnLst/>
              <a:rect l="l" t="t" r="r" b="b"/>
              <a:pathLst>
                <a:path w="326389" h="323214">
                  <a:moveTo>
                    <a:pt x="0" y="161543"/>
                  </a:moveTo>
                  <a:lnTo>
                    <a:pt x="5826" y="118577"/>
                  </a:lnTo>
                  <a:lnTo>
                    <a:pt x="22267" y="79981"/>
                  </a:lnTo>
                  <a:lnTo>
                    <a:pt x="47767" y="47291"/>
                  </a:lnTo>
                  <a:lnTo>
                    <a:pt x="80772" y="22041"/>
                  </a:lnTo>
                  <a:lnTo>
                    <a:pt x="119723" y="5766"/>
                  </a:lnTo>
                  <a:lnTo>
                    <a:pt x="163068" y="0"/>
                  </a:lnTo>
                  <a:lnTo>
                    <a:pt x="206412" y="5766"/>
                  </a:lnTo>
                  <a:lnTo>
                    <a:pt x="245363" y="22041"/>
                  </a:lnTo>
                  <a:lnTo>
                    <a:pt x="278368" y="47291"/>
                  </a:lnTo>
                  <a:lnTo>
                    <a:pt x="303868" y="79981"/>
                  </a:lnTo>
                  <a:lnTo>
                    <a:pt x="320309" y="118577"/>
                  </a:lnTo>
                  <a:lnTo>
                    <a:pt x="326136" y="161543"/>
                  </a:lnTo>
                  <a:lnTo>
                    <a:pt x="320309" y="204510"/>
                  </a:lnTo>
                  <a:lnTo>
                    <a:pt x="303868" y="243106"/>
                  </a:lnTo>
                  <a:lnTo>
                    <a:pt x="278368" y="275796"/>
                  </a:lnTo>
                  <a:lnTo>
                    <a:pt x="245363" y="301046"/>
                  </a:lnTo>
                  <a:lnTo>
                    <a:pt x="206412" y="317321"/>
                  </a:lnTo>
                  <a:lnTo>
                    <a:pt x="163068" y="323087"/>
                  </a:lnTo>
                  <a:lnTo>
                    <a:pt x="119723" y="317321"/>
                  </a:lnTo>
                  <a:lnTo>
                    <a:pt x="80772" y="301046"/>
                  </a:lnTo>
                  <a:lnTo>
                    <a:pt x="47767" y="275796"/>
                  </a:lnTo>
                  <a:lnTo>
                    <a:pt x="22267" y="243106"/>
                  </a:lnTo>
                  <a:lnTo>
                    <a:pt x="5826" y="204510"/>
                  </a:lnTo>
                  <a:lnTo>
                    <a:pt x="0" y="161543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53003" y="4655687"/>
              <a:ext cx="406182" cy="40335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694175" y="4675632"/>
              <a:ext cx="326390" cy="323215"/>
            </a:xfrm>
            <a:custGeom>
              <a:avLst/>
              <a:gdLst/>
              <a:ahLst/>
              <a:cxnLst/>
              <a:rect l="l" t="t" r="r" b="b"/>
              <a:pathLst>
                <a:path w="326389" h="323214">
                  <a:moveTo>
                    <a:pt x="163068" y="0"/>
                  </a:moveTo>
                  <a:lnTo>
                    <a:pt x="119723" y="5766"/>
                  </a:lnTo>
                  <a:lnTo>
                    <a:pt x="80772" y="22041"/>
                  </a:lnTo>
                  <a:lnTo>
                    <a:pt x="47767" y="47291"/>
                  </a:lnTo>
                  <a:lnTo>
                    <a:pt x="22267" y="79981"/>
                  </a:lnTo>
                  <a:lnTo>
                    <a:pt x="5826" y="118577"/>
                  </a:lnTo>
                  <a:lnTo>
                    <a:pt x="0" y="161544"/>
                  </a:lnTo>
                  <a:lnTo>
                    <a:pt x="5826" y="204510"/>
                  </a:lnTo>
                  <a:lnTo>
                    <a:pt x="22267" y="243106"/>
                  </a:lnTo>
                  <a:lnTo>
                    <a:pt x="47767" y="275796"/>
                  </a:lnTo>
                  <a:lnTo>
                    <a:pt x="80772" y="301046"/>
                  </a:lnTo>
                  <a:lnTo>
                    <a:pt x="119723" y="317321"/>
                  </a:lnTo>
                  <a:lnTo>
                    <a:pt x="163068" y="323088"/>
                  </a:lnTo>
                  <a:lnTo>
                    <a:pt x="206412" y="317321"/>
                  </a:lnTo>
                  <a:lnTo>
                    <a:pt x="245363" y="301046"/>
                  </a:lnTo>
                  <a:lnTo>
                    <a:pt x="278368" y="275796"/>
                  </a:lnTo>
                  <a:lnTo>
                    <a:pt x="303868" y="243106"/>
                  </a:lnTo>
                  <a:lnTo>
                    <a:pt x="320309" y="204510"/>
                  </a:lnTo>
                  <a:lnTo>
                    <a:pt x="326136" y="161544"/>
                  </a:lnTo>
                  <a:lnTo>
                    <a:pt x="320309" y="118577"/>
                  </a:lnTo>
                  <a:lnTo>
                    <a:pt x="303868" y="79981"/>
                  </a:lnTo>
                  <a:lnTo>
                    <a:pt x="278368" y="47291"/>
                  </a:lnTo>
                  <a:lnTo>
                    <a:pt x="245363" y="22041"/>
                  </a:lnTo>
                  <a:lnTo>
                    <a:pt x="206412" y="5766"/>
                  </a:lnTo>
                  <a:lnTo>
                    <a:pt x="163068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694175" y="4675632"/>
              <a:ext cx="326390" cy="323215"/>
            </a:xfrm>
            <a:custGeom>
              <a:avLst/>
              <a:gdLst/>
              <a:ahLst/>
              <a:cxnLst/>
              <a:rect l="l" t="t" r="r" b="b"/>
              <a:pathLst>
                <a:path w="326389" h="323214">
                  <a:moveTo>
                    <a:pt x="0" y="161544"/>
                  </a:moveTo>
                  <a:lnTo>
                    <a:pt x="5826" y="118577"/>
                  </a:lnTo>
                  <a:lnTo>
                    <a:pt x="22267" y="79981"/>
                  </a:lnTo>
                  <a:lnTo>
                    <a:pt x="47767" y="47291"/>
                  </a:lnTo>
                  <a:lnTo>
                    <a:pt x="80772" y="22041"/>
                  </a:lnTo>
                  <a:lnTo>
                    <a:pt x="119723" y="5766"/>
                  </a:lnTo>
                  <a:lnTo>
                    <a:pt x="163068" y="0"/>
                  </a:lnTo>
                  <a:lnTo>
                    <a:pt x="206412" y="5766"/>
                  </a:lnTo>
                  <a:lnTo>
                    <a:pt x="245363" y="22041"/>
                  </a:lnTo>
                  <a:lnTo>
                    <a:pt x="278368" y="47291"/>
                  </a:lnTo>
                  <a:lnTo>
                    <a:pt x="303868" y="79981"/>
                  </a:lnTo>
                  <a:lnTo>
                    <a:pt x="320309" y="118577"/>
                  </a:lnTo>
                  <a:lnTo>
                    <a:pt x="326136" y="161544"/>
                  </a:lnTo>
                  <a:lnTo>
                    <a:pt x="320309" y="204510"/>
                  </a:lnTo>
                  <a:lnTo>
                    <a:pt x="303868" y="243106"/>
                  </a:lnTo>
                  <a:lnTo>
                    <a:pt x="278368" y="275796"/>
                  </a:lnTo>
                  <a:lnTo>
                    <a:pt x="245363" y="301046"/>
                  </a:lnTo>
                  <a:lnTo>
                    <a:pt x="206412" y="317321"/>
                  </a:lnTo>
                  <a:lnTo>
                    <a:pt x="163068" y="323088"/>
                  </a:lnTo>
                  <a:lnTo>
                    <a:pt x="119723" y="317321"/>
                  </a:lnTo>
                  <a:lnTo>
                    <a:pt x="80772" y="301046"/>
                  </a:lnTo>
                  <a:lnTo>
                    <a:pt x="47767" y="275796"/>
                  </a:lnTo>
                  <a:lnTo>
                    <a:pt x="22267" y="243106"/>
                  </a:lnTo>
                  <a:lnTo>
                    <a:pt x="582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53003" y="3631559"/>
              <a:ext cx="406182" cy="40335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694175" y="3651503"/>
              <a:ext cx="326390" cy="323215"/>
            </a:xfrm>
            <a:custGeom>
              <a:avLst/>
              <a:gdLst/>
              <a:ahLst/>
              <a:cxnLst/>
              <a:rect l="l" t="t" r="r" b="b"/>
              <a:pathLst>
                <a:path w="326389" h="323214">
                  <a:moveTo>
                    <a:pt x="163068" y="0"/>
                  </a:moveTo>
                  <a:lnTo>
                    <a:pt x="119723" y="5766"/>
                  </a:lnTo>
                  <a:lnTo>
                    <a:pt x="80772" y="22041"/>
                  </a:lnTo>
                  <a:lnTo>
                    <a:pt x="47767" y="47291"/>
                  </a:lnTo>
                  <a:lnTo>
                    <a:pt x="22267" y="79981"/>
                  </a:lnTo>
                  <a:lnTo>
                    <a:pt x="5826" y="118577"/>
                  </a:lnTo>
                  <a:lnTo>
                    <a:pt x="0" y="161544"/>
                  </a:lnTo>
                  <a:lnTo>
                    <a:pt x="5826" y="204510"/>
                  </a:lnTo>
                  <a:lnTo>
                    <a:pt x="22267" y="243106"/>
                  </a:lnTo>
                  <a:lnTo>
                    <a:pt x="47767" y="275796"/>
                  </a:lnTo>
                  <a:lnTo>
                    <a:pt x="80772" y="301046"/>
                  </a:lnTo>
                  <a:lnTo>
                    <a:pt x="119723" y="317321"/>
                  </a:lnTo>
                  <a:lnTo>
                    <a:pt x="163068" y="323088"/>
                  </a:lnTo>
                  <a:lnTo>
                    <a:pt x="206412" y="317321"/>
                  </a:lnTo>
                  <a:lnTo>
                    <a:pt x="245363" y="301046"/>
                  </a:lnTo>
                  <a:lnTo>
                    <a:pt x="278368" y="275796"/>
                  </a:lnTo>
                  <a:lnTo>
                    <a:pt x="303868" y="243106"/>
                  </a:lnTo>
                  <a:lnTo>
                    <a:pt x="320309" y="204510"/>
                  </a:lnTo>
                  <a:lnTo>
                    <a:pt x="326136" y="161544"/>
                  </a:lnTo>
                  <a:lnTo>
                    <a:pt x="320309" y="118577"/>
                  </a:lnTo>
                  <a:lnTo>
                    <a:pt x="303868" y="79981"/>
                  </a:lnTo>
                  <a:lnTo>
                    <a:pt x="278368" y="47291"/>
                  </a:lnTo>
                  <a:lnTo>
                    <a:pt x="245363" y="22041"/>
                  </a:lnTo>
                  <a:lnTo>
                    <a:pt x="206412" y="5766"/>
                  </a:lnTo>
                  <a:lnTo>
                    <a:pt x="163068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94175" y="3651503"/>
              <a:ext cx="326390" cy="323215"/>
            </a:xfrm>
            <a:custGeom>
              <a:avLst/>
              <a:gdLst/>
              <a:ahLst/>
              <a:cxnLst/>
              <a:rect l="l" t="t" r="r" b="b"/>
              <a:pathLst>
                <a:path w="326389" h="323214">
                  <a:moveTo>
                    <a:pt x="0" y="161544"/>
                  </a:moveTo>
                  <a:lnTo>
                    <a:pt x="5826" y="118577"/>
                  </a:lnTo>
                  <a:lnTo>
                    <a:pt x="22267" y="79981"/>
                  </a:lnTo>
                  <a:lnTo>
                    <a:pt x="47767" y="47291"/>
                  </a:lnTo>
                  <a:lnTo>
                    <a:pt x="80772" y="22041"/>
                  </a:lnTo>
                  <a:lnTo>
                    <a:pt x="119723" y="5766"/>
                  </a:lnTo>
                  <a:lnTo>
                    <a:pt x="163068" y="0"/>
                  </a:lnTo>
                  <a:lnTo>
                    <a:pt x="206412" y="5766"/>
                  </a:lnTo>
                  <a:lnTo>
                    <a:pt x="245363" y="22041"/>
                  </a:lnTo>
                  <a:lnTo>
                    <a:pt x="278368" y="47291"/>
                  </a:lnTo>
                  <a:lnTo>
                    <a:pt x="303868" y="79981"/>
                  </a:lnTo>
                  <a:lnTo>
                    <a:pt x="320309" y="118577"/>
                  </a:lnTo>
                  <a:lnTo>
                    <a:pt x="326136" y="161544"/>
                  </a:lnTo>
                  <a:lnTo>
                    <a:pt x="320309" y="204510"/>
                  </a:lnTo>
                  <a:lnTo>
                    <a:pt x="303868" y="243106"/>
                  </a:lnTo>
                  <a:lnTo>
                    <a:pt x="278368" y="275796"/>
                  </a:lnTo>
                  <a:lnTo>
                    <a:pt x="245363" y="301046"/>
                  </a:lnTo>
                  <a:lnTo>
                    <a:pt x="206412" y="317321"/>
                  </a:lnTo>
                  <a:lnTo>
                    <a:pt x="163068" y="323088"/>
                  </a:lnTo>
                  <a:lnTo>
                    <a:pt x="119723" y="317321"/>
                  </a:lnTo>
                  <a:lnTo>
                    <a:pt x="80772" y="301046"/>
                  </a:lnTo>
                  <a:lnTo>
                    <a:pt x="47767" y="275796"/>
                  </a:lnTo>
                  <a:lnTo>
                    <a:pt x="22267" y="243106"/>
                  </a:lnTo>
                  <a:lnTo>
                    <a:pt x="582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4676" y="3381623"/>
              <a:ext cx="403350" cy="40335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885944" y="3401567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3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3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885944" y="3401567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3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3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4676" y="4405751"/>
              <a:ext cx="403350" cy="40335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885944" y="442569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3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3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3" y="323087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3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885944" y="442569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3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3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3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3" y="323087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3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4676" y="4917815"/>
              <a:ext cx="403350" cy="40335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885944" y="4937760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3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3" y="323087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885944" y="4937760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3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3" y="323087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4676" y="2869559"/>
              <a:ext cx="403350" cy="40335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885944" y="2889503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3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3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885944" y="2889503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3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3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4676" y="3893687"/>
              <a:ext cx="403350" cy="40335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885944" y="391363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3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3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885944" y="391363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3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3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3667" y="3116447"/>
              <a:ext cx="403350" cy="40335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964936" y="313639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3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3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64936" y="313639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3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3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3667" y="4140575"/>
              <a:ext cx="403350" cy="40335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964936" y="4160519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3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3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3" y="323087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3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964936" y="4160519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3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3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3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3" y="323087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3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23667" y="4649712"/>
              <a:ext cx="403350" cy="40618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964936" y="4669535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161543" y="0"/>
                  </a:moveTo>
                  <a:lnTo>
                    <a:pt x="118577" y="5826"/>
                  </a:lnTo>
                  <a:lnTo>
                    <a:pt x="79981" y="22267"/>
                  </a:lnTo>
                  <a:lnTo>
                    <a:pt x="47291" y="47767"/>
                  </a:lnTo>
                  <a:lnTo>
                    <a:pt x="22041" y="80772"/>
                  </a:lnTo>
                  <a:lnTo>
                    <a:pt x="5766" y="119723"/>
                  </a:lnTo>
                  <a:lnTo>
                    <a:pt x="0" y="163068"/>
                  </a:lnTo>
                  <a:lnTo>
                    <a:pt x="5766" y="206412"/>
                  </a:lnTo>
                  <a:lnTo>
                    <a:pt x="22041" y="245364"/>
                  </a:lnTo>
                  <a:lnTo>
                    <a:pt x="47291" y="278368"/>
                  </a:lnTo>
                  <a:lnTo>
                    <a:pt x="79981" y="303868"/>
                  </a:lnTo>
                  <a:lnTo>
                    <a:pt x="118577" y="320309"/>
                  </a:lnTo>
                  <a:lnTo>
                    <a:pt x="161543" y="326136"/>
                  </a:lnTo>
                  <a:lnTo>
                    <a:pt x="204510" y="320309"/>
                  </a:lnTo>
                  <a:lnTo>
                    <a:pt x="243106" y="303868"/>
                  </a:lnTo>
                  <a:lnTo>
                    <a:pt x="275796" y="278368"/>
                  </a:lnTo>
                  <a:lnTo>
                    <a:pt x="301046" y="245363"/>
                  </a:lnTo>
                  <a:lnTo>
                    <a:pt x="317321" y="206412"/>
                  </a:lnTo>
                  <a:lnTo>
                    <a:pt x="323088" y="163068"/>
                  </a:lnTo>
                  <a:lnTo>
                    <a:pt x="317321" y="119723"/>
                  </a:lnTo>
                  <a:lnTo>
                    <a:pt x="301046" y="80771"/>
                  </a:lnTo>
                  <a:lnTo>
                    <a:pt x="275796" y="47767"/>
                  </a:lnTo>
                  <a:lnTo>
                    <a:pt x="243106" y="22267"/>
                  </a:lnTo>
                  <a:lnTo>
                    <a:pt x="204510" y="582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964936" y="4669535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4" h="326389">
                  <a:moveTo>
                    <a:pt x="0" y="163068"/>
                  </a:moveTo>
                  <a:lnTo>
                    <a:pt x="5766" y="119723"/>
                  </a:lnTo>
                  <a:lnTo>
                    <a:pt x="22041" y="80772"/>
                  </a:lnTo>
                  <a:lnTo>
                    <a:pt x="47291" y="47767"/>
                  </a:lnTo>
                  <a:lnTo>
                    <a:pt x="79981" y="22267"/>
                  </a:lnTo>
                  <a:lnTo>
                    <a:pt x="118577" y="5826"/>
                  </a:lnTo>
                  <a:lnTo>
                    <a:pt x="161543" y="0"/>
                  </a:lnTo>
                  <a:lnTo>
                    <a:pt x="204510" y="5826"/>
                  </a:lnTo>
                  <a:lnTo>
                    <a:pt x="243106" y="22267"/>
                  </a:lnTo>
                  <a:lnTo>
                    <a:pt x="275796" y="47767"/>
                  </a:lnTo>
                  <a:lnTo>
                    <a:pt x="301046" y="80771"/>
                  </a:lnTo>
                  <a:lnTo>
                    <a:pt x="317321" y="119723"/>
                  </a:lnTo>
                  <a:lnTo>
                    <a:pt x="323088" y="163068"/>
                  </a:lnTo>
                  <a:lnTo>
                    <a:pt x="317321" y="206412"/>
                  </a:lnTo>
                  <a:lnTo>
                    <a:pt x="301046" y="245363"/>
                  </a:lnTo>
                  <a:lnTo>
                    <a:pt x="275796" y="278368"/>
                  </a:lnTo>
                  <a:lnTo>
                    <a:pt x="243106" y="303868"/>
                  </a:lnTo>
                  <a:lnTo>
                    <a:pt x="204510" y="320309"/>
                  </a:lnTo>
                  <a:lnTo>
                    <a:pt x="161543" y="326136"/>
                  </a:lnTo>
                  <a:lnTo>
                    <a:pt x="118577" y="320309"/>
                  </a:lnTo>
                  <a:lnTo>
                    <a:pt x="79981" y="303868"/>
                  </a:lnTo>
                  <a:lnTo>
                    <a:pt x="47291" y="278368"/>
                  </a:lnTo>
                  <a:lnTo>
                    <a:pt x="22041" y="245364"/>
                  </a:lnTo>
                  <a:lnTo>
                    <a:pt x="5766" y="206412"/>
                  </a:lnTo>
                  <a:lnTo>
                    <a:pt x="0" y="163068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3667" y="3628511"/>
              <a:ext cx="403350" cy="40335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5964936" y="364845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3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3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964936" y="364845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3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3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1908" y="3628511"/>
              <a:ext cx="403350" cy="403350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7123176" y="364845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123176" y="364845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1908" y="4140575"/>
              <a:ext cx="403350" cy="40335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7123176" y="4160519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3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7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3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123176" y="4160519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4">
                  <a:moveTo>
                    <a:pt x="0" y="161543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3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7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3"/>
                  </a:lnTo>
                  <a:close/>
                </a:path>
              </a:pathLst>
            </a:custGeom>
            <a:ln w="18288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802890" y="2784982"/>
              <a:ext cx="4320540" cy="2571115"/>
            </a:xfrm>
            <a:custGeom>
              <a:avLst/>
              <a:gdLst/>
              <a:ahLst/>
              <a:cxnLst/>
              <a:rect l="l" t="t" r="r" b="b"/>
              <a:pathLst>
                <a:path w="4320540" h="2571115">
                  <a:moveTo>
                    <a:pt x="897763" y="602615"/>
                  </a:moveTo>
                  <a:lnTo>
                    <a:pt x="896175" y="573278"/>
                  </a:lnTo>
                  <a:lnTo>
                    <a:pt x="893191" y="517525"/>
                  </a:lnTo>
                  <a:lnTo>
                    <a:pt x="892314" y="517093"/>
                  </a:lnTo>
                  <a:lnTo>
                    <a:pt x="893191" y="517144"/>
                  </a:lnTo>
                  <a:lnTo>
                    <a:pt x="875817" y="490855"/>
                  </a:lnTo>
                  <a:lnTo>
                    <a:pt x="846201" y="446024"/>
                  </a:lnTo>
                  <a:lnTo>
                    <a:pt x="845439" y="447357"/>
                  </a:lnTo>
                  <a:lnTo>
                    <a:pt x="845439" y="587349"/>
                  </a:lnTo>
                  <a:lnTo>
                    <a:pt x="843432" y="590829"/>
                  </a:lnTo>
                  <a:lnTo>
                    <a:pt x="843432" y="616267"/>
                  </a:lnTo>
                  <a:lnTo>
                    <a:pt x="743559" y="846594"/>
                  </a:lnTo>
                  <a:lnTo>
                    <a:pt x="737946" y="840117"/>
                  </a:lnTo>
                  <a:lnTo>
                    <a:pt x="737946" y="859536"/>
                  </a:lnTo>
                  <a:lnTo>
                    <a:pt x="712685" y="917790"/>
                  </a:lnTo>
                  <a:lnTo>
                    <a:pt x="707593" y="914857"/>
                  </a:lnTo>
                  <a:lnTo>
                    <a:pt x="707593" y="929538"/>
                  </a:lnTo>
                  <a:lnTo>
                    <a:pt x="666965" y="1023239"/>
                  </a:lnTo>
                  <a:lnTo>
                    <a:pt x="661454" y="1023239"/>
                  </a:lnTo>
                  <a:lnTo>
                    <a:pt x="661454" y="1035939"/>
                  </a:lnTo>
                  <a:lnTo>
                    <a:pt x="638911" y="1087945"/>
                  </a:lnTo>
                  <a:lnTo>
                    <a:pt x="632612" y="1077048"/>
                  </a:lnTo>
                  <a:lnTo>
                    <a:pt x="632612" y="1102461"/>
                  </a:lnTo>
                  <a:lnTo>
                    <a:pt x="595541" y="1187958"/>
                  </a:lnTo>
                  <a:lnTo>
                    <a:pt x="587692" y="1178915"/>
                  </a:lnTo>
                  <a:lnTo>
                    <a:pt x="587692" y="1198308"/>
                  </a:lnTo>
                  <a:lnTo>
                    <a:pt x="583666" y="1200632"/>
                  </a:lnTo>
                  <a:lnTo>
                    <a:pt x="583666" y="1215339"/>
                  </a:lnTo>
                  <a:lnTo>
                    <a:pt x="560489" y="1268793"/>
                  </a:lnTo>
                  <a:lnTo>
                    <a:pt x="553567" y="1252829"/>
                  </a:lnTo>
                  <a:lnTo>
                    <a:pt x="553567" y="1284770"/>
                  </a:lnTo>
                  <a:lnTo>
                    <a:pt x="535063" y="1327442"/>
                  </a:lnTo>
                  <a:lnTo>
                    <a:pt x="529983" y="1324521"/>
                  </a:lnTo>
                  <a:lnTo>
                    <a:pt x="529983" y="1339164"/>
                  </a:lnTo>
                  <a:lnTo>
                    <a:pt x="512038" y="1380540"/>
                  </a:lnTo>
                  <a:lnTo>
                    <a:pt x="505739" y="1369644"/>
                  </a:lnTo>
                  <a:lnTo>
                    <a:pt x="505739" y="1395056"/>
                  </a:lnTo>
                  <a:lnTo>
                    <a:pt x="447535" y="1529295"/>
                  </a:lnTo>
                  <a:lnTo>
                    <a:pt x="435889" y="1515872"/>
                  </a:lnTo>
                  <a:lnTo>
                    <a:pt x="435889" y="1535303"/>
                  </a:lnTo>
                  <a:lnTo>
                    <a:pt x="435140" y="1535303"/>
                  </a:lnTo>
                  <a:lnTo>
                    <a:pt x="435140" y="1548003"/>
                  </a:lnTo>
                  <a:lnTo>
                    <a:pt x="426847" y="1557578"/>
                  </a:lnTo>
                  <a:lnTo>
                    <a:pt x="426847" y="1577035"/>
                  </a:lnTo>
                  <a:lnTo>
                    <a:pt x="357441" y="1737093"/>
                  </a:lnTo>
                  <a:lnTo>
                    <a:pt x="352361" y="1734172"/>
                  </a:lnTo>
                  <a:lnTo>
                    <a:pt x="352361" y="1748802"/>
                  </a:lnTo>
                  <a:lnTo>
                    <a:pt x="296113" y="1878533"/>
                  </a:lnTo>
                  <a:lnTo>
                    <a:pt x="287604" y="1883448"/>
                  </a:lnTo>
                  <a:lnTo>
                    <a:pt x="287604" y="1898142"/>
                  </a:lnTo>
                  <a:lnTo>
                    <a:pt x="222897" y="2047367"/>
                  </a:lnTo>
                  <a:lnTo>
                    <a:pt x="28829" y="2047367"/>
                  </a:lnTo>
                  <a:lnTo>
                    <a:pt x="287604" y="1898142"/>
                  </a:lnTo>
                  <a:lnTo>
                    <a:pt x="287604" y="1883448"/>
                  </a:lnTo>
                  <a:lnTo>
                    <a:pt x="34734" y="2029256"/>
                  </a:lnTo>
                  <a:lnTo>
                    <a:pt x="302729" y="1720176"/>
                  </a:lnTo>
                  <a:lnTo>
                    <a:pt x="352361" y="1748802"/>
                  </a:lnTo>
                  <a:lnTo>
                    <a:pt x="352361" y="1734172"/>
                  </a:lnTo>
                  <a:lnTo>
                    <a:pt x="311175" y="1710423"/>
                  </a:lnTo>
                  <a:lnTo>
                    <a:pt x="426847" y="1577035"/>
                  </a:lnTo>
                  <a:lnTo>
                    <a:pt x="426847" y="1557578"/>
                  </a:lnTo>
                  <a:lnTo>
                    <a:pt x="299923" y="1703933"/>
                  </a:lnTo>
                  <a:lnTo>
                    <a:pt x="291465" y="1699056"/>
                  </a:lnTo>
                  <a:lnTo>
                    <a:pt x="291465" y="1713687"/>
                  </a:lnTo>
                  <a:lnTo>
                    <a:pt x="43992" y="1999081"/>
                  </a:lnTo>
                  <a:lnTo>
                    <a:pt x="229616" y="1678000"/>
                  </a:lnTo>
                  <a:lnTo>
                    <a:pt x="291465" y="1713687"/>
                  </a:lnTo>
                  <a:lnTo>
                    <a:pt x="291465" y="1699056"/>
                  </a:lnTo>
                  <a:lnTo>
                    <a:pt x="235953" y="1667040"/>
                  </a:lnTo>
                  <a:lnTo>
                    <a:pt x="304761" y="1548003"/>
                  </a:lnTo>
                  <a:lnTo>
                    <a:pt x="435140" y="1548003"/>
                  </a:lnTo>
                  <a:lnTo>
                    <a:pt x="435140" y="1535303"/>
                  </a:lnTo>
                  <a:lnTo>
                    <a:pt x="312102" y="1535303"/>
                  </a:lnTo>
                  <a:lnTo>
                    <a:pt x="361619" y="1449666"/>
                  </a:lnTo>
                  <a:lnTo>
                    <a:pt x="435889" y="1535303"/>
                  </a:lnTo>
                  <a:lnTo>
                    <a:pt x="435889" y="1515872"/>
                  </a:lnTo>
                  <a:lnTo>
                    <a:pt x="368363" y="1437995"/>
                  </a:lnTo>
                  <a:lnTo>
                    <a:pt x="449478" y="1297711"/>
                  </a:lnTo>
                  <a:lnTo>
                    <a:pt x="505739" y="1395056"/>
                  </a:lnTo>
                  <a:lnTo>
                    <a:pt x="505739" y="1369644"/>
                  </a:lnTo>
                  <a:lnTo>
                    <a:pt x="467182" y="1302943"/>
                  </a:lnTo>
                  <a:lnTo>
                    <a:pt x="529983" y="1339164"/>
                  </a:lnTo>
                  <a:lnTo>
                    <a:pt x="529983" y="1324521"/>
                  </a:lnTo>
                  <a:lnTo>
                    <a:pt x="462165" y="1285405"/>
                  </a:lnTo>
                  <a:lnTo>
                    <a:pt x="535508" y="1243114"/>
                  </a:lnTo>
                  <a:lnTo>
                    <a:pt x="553567" y="1284770"/>
                  </a:lnTo>
                  <a:lnTo>
                    <a:pt x="553567" y="1252829"/>
                  </a:lnTo>
                  <a:lnTo>
                    <a:pt x="546595" y="1236726"/>
                  </a:lnTo>
                  <a:lnTo>
                    <a:pt x="583666" y="1215339"/>
                  </a:lnTo>
                  <a:lnTo>
                    <a:pt x="583666" y="1200632"/>
                  </a:lnTo>
                  <a:lnTo>
                    <a:pt x="541489" y="1224965"/>
                  </a:lnTo>
                  <a:lnTo>
                    <a:pt x="530402" y="1199400"/>
                  </a:lnTo>
                  <a:lnTo>
                    <a:pt x="530402" y="1231353"/>
                  </a:lnTo>
                  <a:lnTo>
                    <a:pt x="466534" y="1268183"/>
                  </a:lnTo>
                  <a:lnTo>
                    <a:pt x="512152" y="1189291"/>
                  </a:lnTo>
                  <a:lnTo>
                    <a:pt x="530402" y="1231353"/>
                  </a:lnTo>
                  <a:lnTo>
                    <a:pt x="530402" y="1199400"/>
                  </a:lnTo>
                  <a:lnTo>
                    <a:pt x="520077" y="1175588"/>
                  </a:lnTo>
                  <a:lnTo>
                    <a:pt x="539242" y="1142441"/>
                  </a:lnTo>
                  <a:lnTo>
                    <a:pt x="587692" y="1198308"/>
                  </a:lnTo>
                  <a:lnTo>
                    <a:pt x="587692" y="1178915"/>
                  </a:lnTo>
                  <a:lnTo>
                    <a:pt x="545973" y="1130782"/>
                  </a:lnTo>
                  <a:lnTo>
                    <a:pt x="597484" y="1041679"/>
                  </a:lnTo>
                  <a:lnTo>
                    <a:pt x="632612" y="1102461"/>
                  </a:lnTo>
                  <a:lnTo>
                    <a:pt x="632612" y="1077048"/>
                  </a:lnTo>
                  <a:lnTo>
                    <a:pt x="608863" y="1035939"/>
                  </a:lnTo>
                  <a:lnTo>
                    <a:pt x="661454" y="1035939"/>
                  </a:lnTo>
                  <a:lnTo>
                    <a:pt x="661454" y="1023239"/>
                  </a:lnTo>
                  <a:lnTo>
                    <a:pt x="608152" y="1023239"/>
                  </a:lnTo>
                  <a:lnTo>
                    <a:pt x="673646" y="909955"/>
                  </a:lnTo>
                  <a:lnTo>
                    <a:pt x="707593" y="929538"/>
                  </a:lnTo>
                  <a:lnTo>
                    <a:pt x="707593" y="914857"/>
                  </a:lnTo>
                  <a:lnTo>
                    <a:pt x="680008" y="898944"/>
                  </a:lnTo>
                  <a:lnTo>
                    <a:pt x="716851" y="835202"/>
                  </a:lnTo>
                  <a:lnTo>
                    <a:pt x="737946" y="859536"/>
                  </a:lnTo>
                  <a:lnTo>
                    <a:pt x="737946" y="840117"/>
                  </a:lnTo>
                  <a:lnTo>
                    <a:pt x="723595" y="823556"/>
                  </a:lnTo>
                  <a:lnTo>
                    <a:pt x="843432" y="616267"/>
                  </a:lnTo>
                  <a:lnTo>
                    <a:pt x="843432" y="590829"/>
                  </a:lnTo>
                  <a:lnTo>
                    <a:pt x="714768" y="813396"/>
                  </a:lnTo>
                  <a:lnTo>
                    <a:pt x="708037" y="805637"/>
                  </a:lnTo>
                  <a:lnTo>
                    <a:pt x="708037" y="825042"/>
                  </a:lnTo>
                  <a:lnTo>
                    <a:pt x="668997" y="892581"/>
                  </a:lnTo>
                  <a:lnTo>
                    <a:pt x="662622" y="888911"/>
                  </a:lnTo>
                  <a:lnTo>
                    <a:pt x="662622" y="903605"/>
                  </a:lnTo>
                  <a:lnTo>
                    <a:pt x="597496" y="1016279"/>
                  </a:lnTo>
                  <a:lnTo>
                    <a:pt x="586841" y="997851"/>
                  </a:lnTo>
                  <a:lnTo>
                    <a:pt x="586841" y="1023239"/>
                  </a:lnTo>
                  <a:lnTo>
                    <a:pt x="586130" y="1023239"/>
                  </a:lnTo>
                  <a:lnTo>
                    <a:pt x="586130" y="1035939"/>
                  </a:lnTo>
                  <a:lnTo>
                    <a:pt x="537171" y="1120635"/>
                  </a:lnTo>
                  <a:lnTo>
                    <a:pt x="530440" y="1112875"/>
                  </a:lnTo>
                  <a:lnTo>
                    <a:pt x="530440" y="1132281"/>
                  </a:lnTo>
                  <a:lnTo>
                    <a:pt x="513791" y="1161084"/>
                  </a:lnTo>
                  <a:lnTo>
                    <a:pt x="505866" y="1142809"/>
                  </a:lnTo>
                  <a:lnTo>
                    <a:pt x="505866" y="1174788"/>
                  </a:lnTo>
                  <a:lnTo>
                    <a:pt x="449478" y="1272349"/>
                  </a:lnTo>
                  <a:lnTo>
                    <a:pt x="436714" y="1250276"/>
                  </a:lnTo>
                  <a:lnTo>
                    <a:pt x="436714" y="1285379"/>
                  </a:lnTo>
                  <a:lnTo>
                    <a:pt x="431800" y="1288224"/>
                  </a:lnTo>
                  <a:lnTo>
                    <a:pt x="431800" y="1302918"/>
                  </a:lnTo>
                  <a:lnTo>
                    <a:pt x="359587" y="1427861"/>
                  </a:lnTo>
                  <a:lnTo>
                    <a:pt x="352831" y="1420075"/>
                  </a:lnTo>
                  <a:lnTo>
                    <a:pt x="352831" y="1439532"/>
                  </a:lnTo>
                  <a:lnTo>
                    <a:pt x="297472" y="1535303"/>
                  </a:lnTo>
                  <a:lnTo>
                    <a:pt x="290131" y="1535303"/>
                  </a:lnTo>
                  <a:lnTo>
                    <a:pt x="290131" y="1548003"/>
                  </a:lnTo>
                  <a:lnTo>
                    <a:pt x="224980" y="1660715"/>
                  </a:lnTo>
                  <a:lnTo>
                    <a:pt x="29502" y="1548003"/>
                  </a:lnTo>
                  <a:lnTo>
                    <a:pt x="290131" y="1548003"/>
                  </a:lnTo>
                  <a:lnTo>
                    <a:pt x="290131" y="1535303"/>
                  </a:lnTo>
                  <a:lnTo>
                    <a:pt x="28829" y="1535303"/>
                  </a:lnTo>
                  <a:lnTo>
                    <a:pt x="300189" y="1378813"/>
                  </a:lnTo>
                  <a:lnTo>
                    <a:pt x="352831" y="1439532"/>
                  </a:lnTo>
                  <a:lnTo>
                    <a:pt x="352831" y="1420075"/>
                  </a:lnTo>
                  <a:lnTo>
                    <a:pt x="311442" y="1372323"/>
                  </a:lnTo>
                  <a:lnTo>
                    <a:pt x="431800" y="1302918"/>
                  </a:lnTo>
                  <a:lnTo>
                    <a:pt x="431800" y="1288224"/>
                  </a:lnTo>
                  <a:lnTo>
                    <a:pt x="302945" y="1362519"/>
                  </a:lnTo>
                  <a:lnTo>
                    <a:pt x="291693" y="1349552"/>
                  </a:lnTo>
                  <a:lnTo>
                    <a:pt x="291693" y="1369009"/>
                  </a:lnTo>
                  <a:lnTo>
                    <a:pt x="34747" y="1517192"/>
                  </a:lnTo>
                  <a:lnTo>
                    <a:pt x="227469" y="1294942"/>
                  </a:lnTo>
                  <a:lnTo>
                    <a:pt x="291693" y="1369009"/>
                  </a:lnTo>
                  <a:lnTo>
                    <a:pt x="291693" y="1349552"/>
                  </a:lnTo>
                  <a:lnTo>
                    <a:pt x="235915" y="1285201"/>
                  </a:lnTo>
                  <a:lnTo>
                    <a:pt x="302755" y="1208125"/>
                  </a:lnTo>
                  <a:lnTo>
                    <a:pt x="436714" y="1285379"/>
                  </a:lnTo>
                  <a:lnTo>
                    <a:pt x="436714" y="1250276"/>
                  </a:lnTo>
                  <a:lnTo>
                    <a:pt x="432473" y="1242936"/>
                  </a:lnTo>
                  <a:lnTo>
                    <a:pt x="432473" y="1268272"/>
                  </a:lnTo>
                  <a:lnTo>
                    <a:pt x="311213" y="1198372"/>
                  </a:lnTo>
                  <a:lnTo>
                    <a:pt x="359727" y="1142428"/>
                  </a:lnTo>
                  <a:lnTo>
                    <a:pt x="432473" y="1268272"/>
                  </a:lnTo>
                  <a:lnTo>
                    <a:pt x="432473" y="1242936"/>
                  </a:lnTo>
                  <a:lnTo>
                    <a:pt x="368515" y="1132293"/>
                  </a:lnTo>
                  <a:lnTo>
                    <a:pt x="447802" y="1040853"/>
                  </a:lnTo>
                  <a:lnTo>
                    <a:pt x="505866" y="1174788"/>
                  </a:lnTo>
                  <a:lnTo>
                    <a:pt x="505866" y="1142809"/>
                  </a:lnTo>
                  <a:lnTo>
                    <a:pt x="472173" y="1065072"/>
                  </a:lnTo>
                  <a:lnTo>
                    <a:pt x="530440" y="1132281"/>
                  </a:lnTo>
                  <a:lnTo>
                    <a:pt x="530440" y="1112875"/>
                  </a:lnTo>
                  <a:lnTo>
                    <a:pt x="463765" y="1035939"/>
                  </a:lnTo>
                  <a:lnTo>
                    <a:pt x="586130" y="1035939"/>
                  </a:lnTo>
                  <a:lnTo>
                    <a:pt x="586130" y="1023239"/>
                  </a:lnTo>
                  <a:lnTo>
                    <a:pt x="463080" y="1023239"/>
                  </a:lnTo>
                  <a:lnTo>
                    <a:pt x="537337" y="937615"/>
                  </a:lnTo>
                  <a:lnTo>
                    <a:pt x="586841" y="1023239"/>
                  </a:lnTo>
                  <a:lnTo>
                    <a:pt x="586841" y="997851"/>
                  </a:lnTo>
                  <a:lnTo>
                    <a:pt x="546138" y="927455"/>
                  </a:lnTo>
                  <a:lnTo>
                    <a:pt x="598766" y="866775"/>
                  </a:lnTo>
                  <a:lnTo>
                    <a:pt x="662622" y="903605"/>
                  </a:lnTo>
                  <a:lnTo>
                    <a:pt x="662622" y="888911"/>
                  </a:lnTo>
                  <a:lnTo>
                    <a:pt x="607250" y="856983"/>
                  </a:lnTo>
                  <a:lnTo>
                    <a:pt x="671499" y="782891"/>
                  </a:lnTo>
                  <a:lnTo>
                    <a:pt x="708037" y="825042"/>
                  </a:lnTo>
                  <a:lnTo>
                    <a:pt x="708037" y="805637"/>
                  </a:lnTo>
                  <a:lnTo>
                    <a:pt x="679919" y="773188"/>
                  </a:lnTo>
                  <a:lnTo>
                    <a:pt x="843699" y="584327"/>
                  </a:lnTo>
                  <a:lnTo>
                    <a:pt x="845439" y="587349"/>
                  </a:lnTo>
                  <a:lnTo>
                    <a:pt x="845439" y="447357"/>
                  </a:lnTo>
                  <a:lnTo>
                    <a:pt x="834669" y="466013"/>
                  </a:lnTo>
                  <a:lnTo>
                    <a:pt x="834669" y="575208"/>
                  </a:lnTo>
                  <a:lnTo>
                    <a:pt x="671461" y="763435"/>
                  </a:lnTo>
                  <a:lnTo>
                    <a:pt x="663041" y="753732"/>
                  </a:lnTo>
                  <a:lnTo>
                    <a:pt x="663041" y="773137"/>
                  </a:lnTo>
                  <a:lnTo>
                    <a:pt x="595960" y="850480"/>
                  </a:lnTo>
                  <a:lnTo>
                    <a:pt x="587476" y="845591"/>
                  </a:lnTo>
                  <a:lnTo>
                    <a:pt x="587476" y="860272"/>
                  </a:lnTo>
                  <a:lnTo>
                    <a:pt x="539369" y="915746"/>
                  </a:lnTo>
                  <a:lnTo>
                    <a:pt x="530567" y="900531"/>
                  </a:lnTo>
                  <a:lnTo>
                    <a:pt x="530567" y="925906"/>
                  </a:lnTo>
                  <a:lnTo>
                    <a:pt x="451396" y="1017193"/>
                  </a:lnTo>
                  <a:lnTo>
                    <a:pt x="435902" y="981456"/>
                  </a:lnTo>
                  <a:lnTo>
                    <a:pt x="435902" y="1023239"/>
                  </a:lnTo>
                  <a:lnTo>
                    <a:pt x="435140" y="1023239"/>
                  </a:lnTo>
                  <a:lnTo>
                    <a:pt x="435140" y="1035939"/>
                  </a:lnTo>
                  <a:lnTo>
                    <a:pt x="361746" y="1120584"/>
                  </a:lnTo>
                  <a:lnTo>
                    <a:pt x="352958" y="1105382"/>
                  </a:lnTo>
                  <a:lnTo>
                    <a:pt x="352958" y="1130719"/>
                  </a:lnTo>
                  <a:lnTo>
                    <a:pt x="299935" y="1191869"/>
                  </a:lnTo>
                  <a:lnTo>
                    <a:pt x="291477" y="1186992"/>
                  </a:lnTo>
                  <a:lnTo>
                    <a:pt x="291477" y="1201623"/>
                  </a:lnTo>
                  <a:lnTo>
                    <a:pt x="227457" y="1275448"/>
                  </a:lnTo>
                  <a:lnTo>
                    <a:pt x="35407" y="1053934"/>
                  </a:lnTo>
                  <a:lnTo>
                    <a:pt x="291477" y="1201623"/>
                  </a:lnTo>
                  <a:lnTo>
                    <a:pt x="291477" y="1186992"/>
                  </a:lnTo>
                  <a:lnTo>
                    <a:pt x="29502" y="1035939"/>
                  </a:lnTo>
                  <a:lnTo>
                    <a:pt x="298183" y="1035939"/>
                  </a:lnTo>
                  <a:lnTo>
                    <a:pt x="352958" y="1130719"/>
                  </a:lnTo>
                  <a:lnTo>
                    <a:pt x="352958" y="1105382"/>
                  </a:lnTo>
                  <a:lnTo>
                    <a:pt x="312826" y="1035939"/>
                  </a:lnTo>
                  <a:lnTo>
                    <a:pt x="435140" y="1035939"/>
                  </a:lnTo>
                  <a:lnTo>
                    <a:pt x="435140" y="1023239"/>
                  </a:lnTo>
                  <a:lnTo>
                    <a:pt x="305485" y="1023239"/>
                  </a:lnTo>
                  <a:lnTo>
                    <a:pt x="290842" y="997915"/>
                  </a:lnTo>
                  <a:lnTo>
                    <a:pt x="290842" y="1023239"/>
                  </a:lnTo>
                  <a:lnTo>
                    <a:pt x="28829" y="1023239"/>
                  </a:lnTo>
                  <a:lnTo>
                    <a:pt x="225348" y="909916"/>
                  </a:lnTo>
                  <a:lnTo>
                    <a:pt x="290842" y="1023239"/>
                  </a:lnTo>
                  <a:lnTo>
                    <a:pt x="290842" y="997915"/>
                  </a:lnTo>
                  <a:lnTo>
                    <a:pt x="236321" y="903592"/>
                  </a:lnTo>
                  <a:lnTo>
                    <a:pt x="300189" y="866749"/>
                  </a:lnTo>
                  <a:lnTo>
                    <a:pt x="435902" y="1023239"/>
                  </a:lnTo>
                  <a:lnTo>
                    <a:pt x="435902" y="981456"/>
                  </a:lnTo>
                  <a:lnTo>
                    <a:pt x="427583" y="962266"/>
                  </a:lnTo>
                  <a:lnTo>
                    <a:pt x="427583" y="994194"/>
                  </a:lnTo>
                  <a:lnTo>
                    <a:pt x="311454" y="860259"/>
                  </a:lnTo>
                  <a:lnTo>
                    <a:pt x="357886" y="833475"/>
                  </a:lnTo>
                  <a:lnTo>
                    <a:pt x="427583" y="994194"/>
                  </a:lnTo>
                  <a:lnTo>
                    <a:pt x="427583" y="962266"/>
                  </a:lnTo>
                  <a:lnTo>
                    <a:pt x="368985" y="827087"/>
                  </a:lnTo>
                  <a:lnTo>
                    <a:pt x="447332" y="781900"/>
                  </a:lnTo>
                  <a:lnTo>
                    <a:pt x="530567" y="925906"/>
                  </a:lnTo>
                  <a:lnTo>
                    <a:pt x="530567" y="900531"/>
                  </a:lnTo>
                  <a:lnTo>
                    <a:pt x="467194" y="790892"/>
                  </a:lnTo>
                  <a:lnTo>
                    <a:pt x="587476" y="860272"/>
                  </a:lnTo>
                  <a:lnTo>
                    <a:pt x="587476" y="845591"/>
                  </a:lnTo>
                  <a:lnTo>
                    <a:pt x="462165" y="773341"/>
                  </a:lnTo>
                  <a:lnTo>
                    <a:pt x="596201" y="696048"/>
                  </a:lnTo>
                  <a:lnTo>
                    <a:pt x="663041" y="773137"/>
                  </a:lnTo>
                  <a:lnTo>
                    <a:pt x="663041" y="753732"/>
                  </a:lnTo>
                  <a:lnTo>
                    <a:pt x="607428" y="689571"/>
                  </a:lnTo>
                  <a:lnTo>
                    <a:pt x="823277" y="565099"/>
                  </a:lnTo>
                  <a:lnTo>
                    <a:pt x="831062" y="569620"/>
                  </a:lnTo>
                  <a:lnTo>
                    <a:pt x="827913" y="572262"/>
                  </a:lnTo>
                  <a:lnTo>
                    <a:pt x="834669" y="575208"/>
                  </a:lnTo>
                  <a:lnTo>
                    <a:pt x="834669" y="466013"/>
                  </a:lnTo>
                  <a:lnTo>
                    <a:pt x="830338" y="473519"/>
                  </a:lnTo>
                  <a:lnTo>
                    <a:pt x="816991" y="465836"/>
                  </a:lnTo>
                  <a:lnTo>
                    <a:pt x="816991" y="480542"/>
                  </a:lnTo>
                  <a:lnTo>
                    <a:pt x="816991" y="496658"/>
                  </a:lnTo>
                  <a:lnTo>
                    <a:pt x="816991" y="538022"/>
                  </a:lnTo>
                  <a:lnTo>
                    <a:pt x="816991" y="549122"/>
                  </a:lnTo>
                  <a:lnTo>
                    <a:pt x="814451" y="550164"/>
                  </a:lnTo>
                  <a:lnTo>
                    <a:pt x="816991" y="552373"/>
                  </a:lnTo>
                  <a:lnTo>
                    <a:pt x="816991" y="554024"/>
                  </a:lnTo>
                  <a:lnTo>
                    <a:pt x="598932" y="679767"/>
                  </a:lnTo>
                  <a:lnTo>
                    <a:pt x="587705" y="666826"/>
                  </a:lnTo>
                  <a:lnTo>
                    <a:pt x="587705" y="686244"/>
                  </a:lnTo>
                  <a:lnTo>
                    <a:pt x="451954" y="764527"/>
                  </a:lnTo>
                  <a:lnTo>
                    <a:pt x="436714" y="738174"/>
                  </a:lnTo>
                  <a:lnTo>
                    <a:pt x="436714" y="773315"/>
                  </a:lnTo>
                  <a:lnTo>
                    <a:pt x="363880" y="815314"/>
                  </a:lnTo>
                  <a:lnTo>
                    <a:pt x="352793" y="789736"/>
                  </a:lnTo>
                  <a:lnTo>
                    <a:pt x="352793" y="821715"/>
                  </a:lnTo>
                  <a:lnTo>
                    <a:pt x="302945" y="850455"/>
                  </a:lnTo>
                  <a:lnTo>
                    <a:pt x="291693" y="837488"/>
                  </a:lnTo>
                  <a:lnTo>
                    <a:pt x="291693" y="856945"/>
                  </a:lnTo>
                  <a:lnTo>
                    <a:pt x="229946" y="892556"/>
                  </a:lnTo>
                  <a:lnTo>
                    <a:pt x="44653" y="572046"/>
                  </a:lnTo>
                  <a:lnTo>
                    <a:pt x="291693" y="856945"/>
                  </a:lnTo>
                  <a:lnTo>
                    <a:pt x="291693" y="837488"/>
                  </a:lnTo>
                  <a:lnTo>
                    <a:pt x="35407" y="541870"/>
                  </a:lnTo>
                  <a:lnTo>
                    <a:pt x="296837" y="692645"/>
                  </a:lnTo>
                  <a:lnTo>
                    <a:pt x="352793" y="821715"/>
                  </a:lnTo>
                  <a:lnTo>
                    <a:pt x="352793" y="789736"/>
                  </a:lnTo>
                  <a:lnTo>
                    <a:pt x="315328" y="703300"/>
                  </a:lnTo>
                  <a:lnTo>
                    <a:pt x="436714" y="773315"/>
                  </a:lnTo>
                  <a:lnTo>
                    <a:pt x="436714" y="738174"/>
                  </a:lnTo>
                  <a:lnTo>
                    <a:pt x="432498" y="730872"/>
                  </a:lnTo>
                  <a:lnTo>
                    <a:pt x="432498" y="756221"/>
                  </a:lnTo>
                  <a:lnTo>
                    <a:pt x="306870" y="683793"/>
                  </a:lnTo>
                  <a:lnTo>
                    <a:pt x="288378" y="641146"/>
                  </a:lnTo>
                  <a:lnTo>
                    <a:pt x="288378" y="673138"/>
                  </a:lnTo>
                  <a:lnTo>
                    <a:pt x="29502" y="523875"/>
                  </a:lnTo>
                  <a:lnTo>
                    <a:pt x="223672" y="523875"/>
                  </a:lnTo>
                  <a:lnTo>
                    <a:pt x="288378" y="673138"/>
                  </a:lnTo>
                  <a:lnTo>
                    <a:pt x="288378" y="641146"/>
                  </a:lnTo>
                  <a:lnTo>
                    <a:pt x="237540" y="523875"/>
                  </a:lnTo>
                  <a:lnTo>
                    <a:pt x="298196" y="523875"/>
                  </a:lnTo>
                  <a:lnTo>
                    <a:pt x="432498" y="756221"/>
                  </a:lnTo>
                  <a:lnTo>
                    <a:pt x="432498" y="730872"/>
                  </a:lnTo>
                  <a:lnTo>
                    <a:pt x="312839" y="523875"/>
                  </a:lnTo>
                  <a:lnTo>
                    <a:pt x="446913" y="523875"/>
                  </a:lnTo>
                  <a:lnTo>
                    <a:pt x="587705" y="686244"/>
                  </a:lnTo>
                  <a:lnTo>
                    <a:pt x="587705" y="666826"/>
                  </a:lnTo>
                  <a:lnTo>
                    <a:pt x="463778" y="523875"/>
                  </a:lnTo>
                  <a:lnTo>
                    <a:pt x="808824" y="523875"/>
                  </a:lnTo>
                  <a:lnTo>
                    <a:pt x="816991" y="538022"/>
                  </a:lnTo>
                  <a:lnTo>
                    <a:pt x="816991" y="496658"/>
                  </a:lnTo>
                  <a:lnTo>
                    <a:pt x="808609" y="511175"/>
                  </a:lnTo>
                  <a:lnTo>
                    <a:pt x="452767" y="511175"/>
                  </a:lnTo>
                  <a:lnTo>
                    <a:pt x="435902" y="491731"/>
                  </a:lnTo>
                  <a:lnTo>
                    <a:pt x="435902" y="511175"/>
                  </a:lnTo>
                  <a:lnTo>
                    <a:pt x="305498" y="511175"/>
                  </a:lnTo>
                  <a:lnTo>
                    <a:pt x="290855" y="485851"/>
                  </a:lnTo>
                  <a:lnTo>
                    <a:pt x="290855" y="511175"/>
                  </a:lnTo>
                  <a:lnTo>
                    <a:pt x="232029" y="511175"/>
                  </a:lnTo>
                  <a:lnTo>
                    <a:pt x="55511" y="104025"/>
                  </a:lnTo>
                  <a:lnTo>
                    <a:pt x="290855" y="511175"/>
                  </a:lnTo>
                  <a:lnTo>
                    <a:pt x="290855" y="485851"/>
                  </a:lnTo>
                  <a:lnTo>
                    <a:pt x="44653" y="59982"/>
                  </a:lnTo>
                  <a:lnTo>
                    <a:pt x="435902" y="511175"/>
                  </a:lnTo>
                  <a:lnTo>
                    <a:pt x="435902" y="491731"/>
                  </a:lnTo>
                  <a:lnTo>
                    <a:pt x="35394" y="29806"/>
                  </a:lnTo>
                  <a:lnTo>
                    <a:pt x="816991" y="480542"/>
                  </a:lnTo>
                  <a:lnTo>
                    <a:pt x="816991" y="465836"/>
                  </a:lnTo>
                  <a:lnTo>
                    <a:pt x="9017" y="0"/>
                  </a:lnTo>
                  <a:lnTo>
                    <a:pt x="5842" y="5461"/>
                  </a:lnTo>
                  <a:lnTo>
                    <a:pt x="0" y="8001"/>
                  </a:lnTo>
                  <a:lnTo>
                    <a:pt x="218173" y="511175"/>
                  </a:lnTo>
                  <a:lnTo>
                    <a:pt x="5842" y="511175"/>
                  </a:lnTo>
                  <a:lnTo>
                    <a:pt x="5842" y="517525"/>
                  </a:lnTo>
                  <a:lnTo>
                    <a:pt x="381" y="520700"/>
                  </a:lnTo>
                  <a:lnTo>
                    <a:pt x="218973" y="898880"/>
                  </a:lnTo>
                  <a:lnTo>
                    <a:pt x="2667" y="1023620"/>
                  </a:lnTo>
                  <a:lnTo>
                    <a:pt x="5842" y="1029144"/>
                  </a:lnTo>
                  <a:lnTo>
                    <a:pt x="5842" y="1029589"/>
                  </a:lnTo>
                  <a:lnTo>
                    <a:pt x="1016" y="1033780"/>
                  </a:lnTo>
                  <a:lnTo>
                    <a:pt x="219011" y="1285189"/>
                  </a:lnTo>
                  <a:lnTo>
                    <a:pt x="1016" y="1536573"/>
                  </a:lnTo>
                  <a:lnTo>
                    <a:pt x="5321" y="1540332"/>
                  </a:lnTo>
                  <a:lnTo>
                    <a:pt x="5842" y="1541246"/>
                  </a:lnTo>
                  <a:lnTo>
                    <a:pt x="5842" y="1541653"/>
                  </a:lnTo>
                  <a:lnTo>
                    <a:pt x="2667" y="1547114"/>
                  </a:lnTo>
                  <a:lnTo>
                    <a:pt x="218643" y="1671675"/>
                  </a:lnTo>
                  <a:lnTo>
                    <a:pt x="381" y="2049272"/>
                  </a:lnTo>
                  <a:lnTo>
                    <a:pt x="4508" y="2051685"/>
                  </a:lnTo>
                  <a:lnTo>
                    <a:pt x="5346" y="2052421"/>
                  </a:lnTo>
                  <a:lnTo>
                    <a:pt x="5842" y="2053285"/>
                  </a:lnTo>
                  <a:lnTo>
                    <a:pt x="5842" y="2060067"/>
                  </a:lnTo>
                  <a:lnTo>
                    <a:pt x="217385" y="2060067"/>
                  </a:lnTo>
                  <a:lnTo>
                    <a:pt x="0" y="2561463"/>
                  </a:lnTo>
                  <a:lnTo>
                    <a:pt x="2374" y="2562504"/>
                  </a:lnTo>
                  <a:lnTo>
                    <a:pt x="4533" y="2563761"/>
                  </a:lnTo>
                  <a:lnTo>
                    <a:pt x="5334" y="2564460"/>
                  </a:lnTo>
                  <a:lnTo>
                    <a:pt x="9017" y="2570861"/>
                  </a:lnTo>
                  <a:lnTo>
                    <a:pt x="830275" y="2097252"/>
                  </a:lnTo>
                  <a:lnTo>
                    <a:pt x="846201" y="2124837"/>
                  </a:lnTo>
                  <a:lnTo>
                    <a:pt x="875893" y="2079879"/>
                  </a:lnTo>
                  <a:lnTo>
                    <a:pt x="893191" y="2053717"/>
                  </a:lnTo>
                  <a:lnTo>
                    <a:pt x="892314" y="2053285"/>
                  </a:lnTo>
                  <a:lnTo>
                    <a:pt x="893191" y="2053336"/>
                  </a:lnTo>
                  <a:lnTo>
                    <a:pt x="892721" y="2052637"/>
                  </a:lnTo>
                  <a:lnTo>
                    <a:pt x="893191" y="2052828"/>
                  </a:lnTo>
                  <a:lnTo>
                    <a:pt x="893064" y="2052370"/>
                  </a:lnTo>
                  <a:lnTo>
                    <a:pt x="893191" y="2052447"/>
                  </a:lnTo>
                  <a:lnTo>
                    <a:pt x="893152" y="2051913"/>
                  </a:lnTo>
                  <a:lnTo>
                    <a:pt x="896124" y="1997202"/>
                  </a:lnTo>
                  <a:lnTo>
                    <a:pt x="896175" y="1996186"/>
                  </a:lnTo>
                  <a:lnTo>
                    <a:pt x="897763" y="1966849"/>
                  </a:lnTo>
                  <a:lnTo>
                    <a:pt x="888199" y="1971014"/>
                  </a:lnTo>
                  <a:lnTo>
                    <a:pt x="887984" y="1967357"/>
                  </a:lnTo>
                  <a:lnTo>
                    <a:pt x="873391" y="1975802"/>
                  </a:lnTo>
                  <a:lnTo>
                    <a:pt x="871982" y="1970278"/>
                  </a:lnTo>
                  <a:lnTo>
                    <a:pt x="866660" y="1974900"/>
                  </a:lnTo>
                  <a:lnTo>
                    <a:pt x="845680" y="1926526"/>
                  </a:lnTo>
                  <a:lnTo>
                    <a:pt x="845680" y="1983105"/>
                  </a:lnTo>
                  <a:lnTo>
                    <a:pt x="843826" y="1986330"/>
                  </a:lnTo>
                  <a:lnTo>
                    <a:pt x="834110" y="1975129"/>
                  </a:lnTo>
                  <a:lnTo>
                    <a:pt x="834110" y="1994509"/>
                  </a:lnTo>
                  <a:lnTo>
                    <a:pt x="827913" y="1997202"/>
                  </a:lnTo>
                  <a:lnTo>
                    <a:pt x="831354" y="2000097"/>
                  </a:lnTo>
                  <a:lnTo>
                    <a:pt x="822502" y="2005203"/>
                  </a:lnTo>
                  <a:lnTo>
                    <a:pt x="816991" y="2002028"/>
                  </a:lnTo>
                  <a:lnTo>
                    <a:pt x="816991" y="2016734"/>
                  </a:lnTo>
                  <a:lnTo>
                    <a:pt x="816991" y="2017991"/>
                  </a:lnTo>
                  <a:lnTo>
                    <a:pt x="814451" y="2020189"/>
                  </a:lnTo>
                  <a:lnTo>
                    <a:pt x="816991" y="2021255"/>
                  </a:lnTo>
                  <a:lnTo>
                    <a:pt x="816991" y="2032838"/>
                  </a:lnTo>
                  <a:lnTo>
                    <a:pt x="816991" y="2074214"/>
                  </a:lnTo>
                  <a:lnTo>
                    <a:pt x="816991" y="2090216"/>
                  </a:lnTo>
                  <a:lnTo>
                    <a:pt x="34747" y="2541320"/>
                  </a:lnTo>
                  <a:lnTo>
                    <a:pt x="452069" y="2060067"/>
                  </a:lnTo>
                  <a:lnTo>
                    <a:pt x="808824" y="2060067"/>
                  </a:lnTo>
                  <a:lnTo>
                    <a:pt x="816991" y="2074214"/>
                  </a:lnTo>
                  <a:lnTo>
                    <a:pt x="816991" y="2032838"/>
                  </a:lnTo>
                  <a:lnTo>
                    <a:pt x="808609" y="2047367"/>
                  </a:lnTo>
                  <a:lnTo>
                    <a:pt x="463080" y="2047367"/>
                  </a:lnTo>
                  <a:lnTo>
                    <a:pt x="598754" y="1890903"/>
                  </a:lnTo>
                  <a:lnTo>
                    <a:pt x="816991" y="2016734"/>
                  </a:lnTo>
                  <a:lnTo>
                    <a:pt x="816991" y="2002028"/>
                  </a:lnTo>
                  <a:lnTo>
                    <a:pt x="607250" y="1881124"/>
                  </a:lnTo>
                  <a:lnTo>
                    <a:pt x="671499" y="1807032"/>
                  </a:lnTo>
                  <a:lnTo>
                    <a:pt x="834110" y="1994509"/>
                  </a:lnTo>
                  <a:lnTo>
                    <a:pt x="834110" y="1975129"/>
                  </a:lnTo>
                  <a:lnTo>
                    <a:pt x="679919" y="1797316"/>
                  </a:lnTo>
                  <a:lnTo>
                    <a:pt x="714933" y="1756943"/>
                  </a:lnTo>
                  <a:lnTo>
                    <a:pt x="845680" y="1983105"/>
                  </a:lnTo>
                  <a:lnTo>
                    <a:pt x="845680" y="1926526"/>
                  </a:lnTo>
                  <a:lnTo>
                    <a:pt x="844270" y="1923275"/>
                  </a:lnTo>
                  <a:lnTo>
                    <a:pt x="844270" y="1955152"/>
                  </a:lnTo>
                  <a:lnTo>
                    <a:pt x="723760" y="1746758"/>
                  </a:lnTo>
                  <a:lnTo>
                    <a:pt x="743839" y="1723593"/>
                  </a:lnTo>
                  <a:lnTo>
                    <a:pt x="844270" y="1955152"/>
                  </a:lnTo>
                  <a:lnTo>
                    <a:pt x="844270" y="1923275"/>
                  </a:lnTo>
                  <a:lnTo>
                    <a:pt x="753071" y="1712963"/>
                  </a:lnTo>
                  <a:lnTo>
                    <a:pt x="843699" y="1608455"/>
                  </a:lnTo>
                  <a:lnTo>
                    <a:pt x="846201" y="1612773"/>
                  </a:lnTo>
                  <a:lnTo>
                    <a:pt x="850785" y="1605826"/>
                  </a:lnTo>
                  <a:lnTo>
                    <a:pt x="871982" y="1624203"/>
                  </a:lnTo>
                  <a:lnTo>
                    <a:pt x="881926" y="1585468"/>
                  </a:lnTo>
                  <a:lnTo>
                    <a:pt x="893191" y="1541653"/>
                  </a:lnTo>
                  <a:lnTo>
                    <a:pt x="892314" y="1541221"/>
                  </a:lnTo>
                  <a:lnTo>
                    <a:pt x="893191" y="1541272"/>
                  </a:lnTo>
                  <a:lnTo>
                    <a:pt x="892721" y="1540573"/>
                  </a:lnTo>
                  <a:lnTo>
                    <a:pt x="893191" y="1540764"/>
                  </a:lnTo>
                  <a:lnTo>
                    <a:pt x="893064" y="1540306"/>
                  </a:lnTo>
                  <a:lnTo>
                    <a:pt x="893191" y="1540383"/>
                  </a:lnTo>
                  <a:lnTo>
                    <a:pt x="890016" y="1488567"/>
                  </a:lnTo>
                  <a:lnTo>
                    <a:pt x="887984" y="1455293"/>
                  </a:lnTo>
                  <a:lnTo>
                    <a:pt x="873391" y="1463738"/>
                  </a:lnTo>
                  <a:lnTo>
                    <a:pt x="871982" y="1458214"/>
                  </a:lnTo>
                  <a:lnTo>
                    <a:pt x="859345" y="1469174"/>
                  </a:lnTo>
                  <a:lnTo>
                    <a:pt x="845693" y="1445577"/>
                  </a:lnTo>
                  <a:lnTo>
                    <a:pt x="845693" y="1471028"/>
                  </a:lnTo>
                  <a:lnTo>
                    <a:pt x="843813" y="1474279"/>
                  </a:lnTo>
                  <a:lnTo>
                    <a:pt x="836930" y="1466342"/>
                  </a:lnTo>
                  <a:lnTo>
                    <a:pt x="836930" y="1596732"/>
                  </a:lnTo>
                  <a:lnTo>
                    <a:pt x="747433" y="1699945"/>
                  </a:lnTo>
                  <a:lnTo>
                    <a:pt x="738200" y="1678660"/>
                  </a:lnTo>
                  <a:lnTo>
                    <a:pt x="738200" y="1710588"/>
                  </a:lnTo>
                  <a:lnTo>
                    <a:pt x="716991" y="1735048"/>
                  </a:lnTo>
                  <a:lnTo>
                    <a:pt x="708164" y="1719783"/>
                  </a:lnTo>
                  <a:lnTo>
                    <a:pt x="708164" y="1745234"/>
                  </a:lnTo>
                  <a:lnTo>
                    <a:pt x="671461" y="1787563"/>
                  </a:lnTo>
                  <a:lnTo>
                    <a:pt x="663028" y="1777847"/>
                  </a:lnTo>
                  <a:lnTo>
                    <a:pt x="663028" y="1797278"/>
                  </a:lnTo>
                  <a:lnTo>
                    <a:pt x="595960" y="1874608"/>
                  </a:lnTo>
                  <a:lnTo>
                    <a:pt x="587476" y="1869719"/>
                  </a:lnTo>
                  <a:lnTo>
                    <a:pt x="587476" y="1884400"/>
                  </a:lnTo>
                  <a:lnTo>
                    <a:pt x="446151" y="2047367"/>
                  </a:lnTo>
                  <a:lnTo>
                    <a:pt x="435140" y="2047367"/>
                  </a:lnTo>
                  <a:lnTo>
                    <a:pt x="435140" y="2060067"/>
                  </a:lnTo>
                  <a:lnTo>
                    <a:pt x="43980" y="2511145"/>
                  </a:lnTo>
                  <a:lnTo>
                    <a:pt x="304761" y="2060067"/>
                  </a:lnTo>
                  <a:lnTo>
                    <a:pt x="435140" y="2060067"/>
                  </a:lnTo>
                  <a:lnTo>
                    <a:pt x="435140" y="2047367"/>
                  </a:lnTo>
                  <a:lnTo>
                    <a:pt x="312102" y="2047367"/>
                  </a:lnTo>
                  <a:lnTo>
                    <a:pt x="451624" y="1806054"/>
                  </a:lnTo>
                  <a:lnTo>
                    <a:pt x="587476" y="1884400"/>
                  </a:lnTo>
                  <a:lnTo>
                    <a:pt x="587476" y="1869719"/>
                  </a:lnTo>
                  <a:lnTo>
                    <a:pt x="462165" y="1797469"/>
                  </a:lnTo>
                  <a:lnTo>
                    <a:pt x="596188" y="1720189"/>
                  </a:lnTo>
                  <a:lnTo>
                    <a:pt x="663028" y="1797278"/>
                  </a:lnTo>
                  <a:lnTo>
                    <a:pt x="663028" y="1777847"/>
                  </a:lnTo>
                  <a:lnTo>
                    <a:pt x="607428" y="1713699"/>
                  </a:lnTo>
                  <a:lnTo>
                    <a:pt x="669315" y="1678012"/>
                  </a:lnTo>
                  <a:lnTo>
                    <a:pt x="708164" y="1745234"/>
                  </a:lnTo>
                  <a:lnTo>
                    <a:pt x="708164" y="1719783"/>
                  </a:lnTo>
                  <a:lnTo>
                    <a:pt x="680351" y="1671650"/>
                  </a:lnTo>
                  <a:lnTo>
                    <a:pt x="713130" y="1652752"/>
                  </a:lnTo>
                  <a:lnTo>
                    <a:pt x="738200" y="1710588"/>
                  </a:lnTo>
                  <a:lnTo>
                    <a:pt x="738200" y="1678660"/>
                  </a:lnTo>
                  <a:lnTo>
                    <a:pt x="724204" y="1646364"/>
                  </a:lnTo>
                  <a:lnTo>
                    <a:pt x="828306" y="1586331"/>
                  </a:lnTo>
                  <a:lnTo>
                    <a:pt x="833564" y="1590903"/>
                  </a:lnTo>
                  <a:lnTo>
                    <a:pt x="836930" y="1596732"/>
                  </a:lnTo>
                  <a:lnTo>
                    <a:pt x="836930" y="1466342"/>
                  </a:lnTo>
                  <a:lnTo>
                    <a:pt x="836409" y="1465745"/>
                  </a:lnTo>
                  <a:lnTo>
                    <a:pt x="836409" y="1485112"/>
                  </a:lnTo>
                  <a:lnTo>
                    <a:pt x="822502" y="1493139"/>
                  </a:lnTo>
                  <a:lnTo>
                    <a:pt x="816991" y="1489964"/>
                  </a:lnTo>
                  <a:lnTo>
                    <a:pt x="816991" y="1504670"/>
                  </a:lnTo>
                  <a:lnTo>
                    <a:pt x="816991" y="1505927"/>
                  </a:lnTo>
                  <a:lnTo>
                    <a:pt x="814451" y="1508125"/>
                  </a:lnTo>
                  <a:lnTo>
                    <a:pt x="816991" y="1509191"/>
                  </a:lnTo>
                  <a:lnTo>
                    <a:pt x="816991" y="1520774"/>
                  </a:lnTo>
                  <a:lnTo>
                    <a:pt x="816991" y="1562150"/>
                  </a:lnTo>
                  <a:lnTo>
                    <a:pt x="816991" y="1573250"/>
                  </a:lnTo>
                  <a:lnTo>
                    <a:pt x="814451" y="1574292"/>
                  </a:lnTo>
                  <a:lnTo>
                    <a:pt x="816991" y="1576501"/>
                  </a:lnTo>
                  <a:lnTo>
                    <a:pt x="816991" y="1578152"/>
                  </a:lnTo>
                  <a:lnTo>
                    <a:pt x="719099" y="1634604"/>
                  </a:lnTo>
                  <a:lnTo>
                    <a:pt x="708025" y="1609064"/>
                  </a:lnTo>
                  <a:lnTo>
                    <a:pt x="708025" y="1640979"/>
                  </a:lnTo>
                  <a:lnTo>
                    <a:pt x="673963" y="1660626"/>
                  </a:lnTo>
                  <a:lnTo>
                    <a:pt x="662940" y="1641563"/>
                  </a:lnTo>
                  <a:lnTo>
                    <a:pt x="662940" y="1666989"/>
                  </a:lnTo>
                  <a:lnTo>
                    <a:pt x="598932" y="1703895"/>
                  </a:lnTo>
                  <a:lnTo>
                    <a:pt x="587692" y="1690941"/>
                  </a:lnTo>
                  <a:lnTo>
                    <a:pt x="587692" y="1710385"/>
                  </a:lnTo>
                  <a:lnTo>
                    <a:pt x="466547" y="1780247"/>
                  </a:lnTo>
                  <a:lnTo>
                    <a:pt x="539229" y="1654517"/>
                  </a:lnTo>
                  <a:lnTo>
                    <a:pt x="587692" y="1710385"/>
                  </a:lnTo>
                  <a:lnTo>
                    <a:pt x="587692" y="1690941"/>
                  </a:lnTo>
                  <a:lnTo>
                    <a:pt x="545985" y="1642833"/>
                  </a:lnTo>
                  <a:lnTo>
                    <a:pt x="597484" y="1553756"/>
                  </a:lnTo>
                  <a:lnTo>
                    <a:pt x="662940" y="1666989"/>
                  </a:lnTo>
                  <a:lnTo>
                    <a:pt x="662940" y="1641563"/>
                  </a:lnTo>
                  <a:lnTo>
                    <a:pt x="608863" y="1548003"/>
                  </a:lnTo>
                  <a:lnTo>
                    <a:pt x="667715" y="1548003"/>
                  </a:lnTo>
                  <a:lnTo>
                    <a:pt x="708025" y="1640979"/>
                  </a:lnTo>
                  <a:lnTo>
                    <a:pt x="708025" y="1609064"/>
                  </a:lnTo>
                  <a:lnTo>
                    <a:pt x="681558" y="1548003"/>
                  </a:lnTo>
                  <a:lnTo>
                    <a:pt x="808824" y="1548003"/>
                  </a:lnTo>
                  <a:lnTo>
                    <a:pt x="816991" y="1562150"/>
                  </a:lnTo>
                  <a:lnTo>
                    <a:pt x="816991" y="1520774"/>
                  </a:lnTo>
                  <a:lnTo>
                    <a:pt x="808609" y="1535303"/>
                  </a:lnTo>
                  <a:lnTo>
                    <a:pt x="676046" y="1535303"/>
                  </a:lnTo>
                  <a:lnTo>
                    <a:pt x="662203" y="1503387"/>
                  </a:lnTo>
                  <a:lnTo>
                    <a:pt x="662203" y="1535303"/>
                  </a:lnTo>
                  <a:lnTo>
                    <a:pt x="608152" y="1535303"/>
                  </a:lnTo>
                  <a:lnTo>
                    <a:pt x="639025" y="1481886"/>
                  </a:lnTo>
                  <a:lnTo>
                    <a:pt x="662203" y="1535303"/>
                  </a:lnTo>
                  <a:lnTo>
                    <a:pt x="662203" y="1503387"/>
                  </a:lnTo>
                  <a:lnTo>
                    <a:pt x="646950" y="1468196"/>
                  </a:lnTo>
                  <a:lnTo>
                    <a:pt x="673646" y="1422019"/>
                  </a:lnTo>
                  <a:lnTo>
                    <a:pt x="816991" y="1504670"/>
                  </a:lnTo>
                  <a:lnTo>
                    <a:pt x="816991" y="1489964"/>
                  </a:lnTo>
                  <a:lnTo>
                    <a:pt x="680008" y="1411008"/>
                  </a:lnTo>
                  <a:lnTo>
                    <a:pt x="716851" y="1347279"/>
                  </a:lnTo>
                  <a:lnTo>
                    <a:pt x="836409" y="1485112"/>
                  </a:lnTo>
                  <a:lnTo>
                    <a:pt x="836409" y="1465745"/>
                  </a:lnTo>
                  <a:lnTo>
                    <a:pt x="723582" y="1335633"/>
                  </a:lnTo>
                  <a:lnTo>
                    <a:pt x="745502" y="1297736"/>
                  </a:lnTo>
                  <a:lnTo>
                    <a:pt x="845693" y="1471028"/>
                  </a:lnTo>
                  <a:lnTo>
                    <a:pt x="845693" y="1445577"/>
                  </a:lnTo>
                  <a:lnTo>
                    <a:pt x="752843" y="1285011"/>
                  </a:lnTo>
                  <a:lnTo>
                    <a:pt x="859193" y="1101064"/>
                  </a:lnTo>
                  <a:lnTo>
                    <a:pt x="871982" y="1112139"/>
                  </a:lnTo>
                  <a:lnTo>
                    <a:pt x="873480" y="1106284"/>
                  </a:lnTo>
                  <a:lnTo>
                    <a:pt x="887984" y="1114679"/>
                  </a:lnTo>
                  <a:lnTo>
                    <a:pt x="890016" y="1081405"/>
                  </a:lnTo>
                  <a:lnTo>
                    <a:pt x="893191" y="1029589"/>
                  </a:lnTo>
                  <a:lnTo>
                    <a:pt x="892314" y="1029157"/>
                  </a:lnTo>
                  <a:lnTo>
                    <a:pt x="893191" y="1029208"/>
                  </a:lnTo>
                  <a:lnTo>
                    <a:pt x="892721" y="1028509"/>
                  </a:lnTo>
                  <a:lnTo>
                    <a:pt x="893191" y="1028700"/>
                  </a:lnTo>
                  <a:lnTo>
                    <a:pt x="881926" y="984885"/>
                  </a:lnTo>
                  <a:lnTo>
                    <a:pt x="871982" y="946150"/>
                  </a:lnTo>
                  <a:lnTo>
                    <a:pt x="850569" y="964730"/>
                  </a:lnTo>
                  <a:lnTo>
                    <a:pt x="846201" y="958088"/>
                  </a:lnTo>
                  <a:lnTo>
                    <a:pt x="845439" y="959408"/>
                  </a:lnTo>
                  <a:lnTo>
                    <a:pt x="845439" y="1099413"/>
                  </a:lnTo>
                  <a:lnTo>
                    <a:pt x="745490" y="1272298"/>
                  </a:lnTo>
                  <a:lnTo>
                    <a:pt x="738149" y="1259598"/>
                  </a:lnTo>
                  <a:lnTo>
                    <a:pt x="738149" y="1285011"/>
                  </a:lnTo>
                  <a:lnTo>
                    <a:pt x="714768" y="1325473"/>
                  </a:lnTo>
                  <a:lnTo>
                    <a:pt x="708037" y="1317713"/>
                  </a:lnTo>
                  <a:lnTo>
                    <a:pt x="708037" y="1337106"/>
                  </a:lnTo>
                  <a:lnTo>
                    <a:pt x="668985" y="1404658"/>
                  </a:lnTo>
                  <a:lnTo>
                    <a:pt x="662635" y="1401000"/>
                  </a:lnTo>
                  <a:lnTo>
                    <a:pt x="662635" y="1415656"/>
                  </a:lnTo>
                  <a:lnTo>
                    <a:pt x="640651" y="1453680"/>
                  </a:lnTo>
                  <a:lnTo>
                    <a:pt x="632739" y="1435430"/>
                  </a:lnTo>
                  <a:lnTo>
                    <a:pt x="632739" y="1467370"/>
                  </a:lnTo>
                  <a:lnTo>
                    <a:pt x="597496" y="1528343"/>
                  </a:lnTo>
                  <a:lnTo>
                    <a:pt x="586828" y="1509903"/>
                  </a:lnTo>
                  <a:lnTo>
                    <a:pt x="586828" y="1535303"/>
                  </a:lnTo>
                  <a:lnTo>
                    <a:pt x="586130" y="1535303"/>
                  </a:lnTo>
                  <a:lnTo>
                    <a:pt x="586130" y="1548003"/>
                  </a:lnTo>
                  <a:lnTo>
                    <a:pt x="537184" y="1632686"/>
                  </a:lnTo>
                  <a:lnTo>
                    <a:pt x="530428" y="1624901"/>
                  </a:lnTo>
                  <a:lnTo>
                    <a:pt x="530428" y="1644357"/>
                  </a:lnTo>
                  <a:lnTo>
                    <a:pt x="446976" y="1788718"/>
                  </a:lnTo>
                  <a:lnTo>
                    <a:pt x="436714" y="1782813"/>
                  </a:lnTo>
                  <a:lnTo>
                    <a:pt x="436714" y="1797443"/>
                  </a:lnTo>
                  <a:lnTo>
                    <a:pt x="431800" y="1800288"/>
                  </a:lnTo>
                  <a:lnTo>
                    <a:pt x="431800" y="1814982"/>
                  </a:lnTo>
                  <a:lnTo>
                    <a:pt x="297472" y="2047367"/>
                  </a:lnTo>
                  <a:lnTo>
                    <a:pt x="290131" y="2047367"/>
                  </a:lnTo>
                  <a:lnTo>
                    <a:pt x="290131" y="2060067"/>
                  </a:lnTo>
                  <a:lnTo>
                    <a:pt x="54635" y="2467470"/>
                  </a:lnTo>
                  <a:lnTo>
                    <a:pt x="231279" y="2060067"/>
                  </a:lnTo>
                  <a:lnTo>
                    <a:pt x="290131" y="2060067"/>
                  </a:lnTo>
                  <a:lnTo>
                    <a:pt x="290131" y="2047367"/>
                  </a:lnTo>
                  <a:lnTo>
                    <a:pt x="236778" y="2047367"/>
                  </a:lnTo>
                  <a:lnTo>
                    <a:pt x="306120" y="1887461"/>
                  </a:lnTo>
                  <a:lnTo>
                    <a:pt x="431800" y="1814982"/>
                  </a:lnTo>
                  <a:lnTo>
                    <a:pt x="431800" y="1800288"/>
                  </a:lnTo>
                  <a:lnTo>
                    <a:pt x="314629" y="1867852"/>
                  </a:lnTo>
                  <a:lnTo>
                    <a:pt x="363474" y="1755203"/>
                  </a:lnTo>
                  <a:lnTo>
                    <a:pt x="436714" y="1797443"/>
                  </a:lnTo>
                  <a:lnTo>
                    <a:pt x="436714" y="1782813"/>
                  </a:lnTo>
                  <a:lnTo>
                    <a:pt x="368554" y="1743494"/>
                  </a:lnTo>
                  <a:lnTo>
                    <a:pt x="451167" y="1552943"/>
                  </a:lnTo>
                  <a:lnTo>
                    <a:pt x="530428" y="1644357"/>
                  </a:lnTo>
                  <a:lnTo>
                    <a:pt x="530428" y="1624901"/>
                  </a:lnTo>
                  <a:lnTo>
                    <a:pt x="463765" y="1548003"/>
                  </a:lnTo>
                  <a:lnTo>
                    <a:pt x="586130" y="1548003"/>
                  </a:lnTo>
                  <a:lnTo>
                    <a:pt x="586130" y="1535303"/>
                  </a:lnTo>
                  <a:lnTo>
                    <a:pt x="463016" y="1535303"/>
                  </a:lnTo>
                  <a:lnTo>
                    <a:pt x="537286" y="1449641"/>
                  </a:lnTo>
                  <a:lnTo>
                    <a:pt x="586828" y="1535303"/>
                  </a:lnTo>
                  <a:lnTo>
                    <a:pt x="586828" y="1509903"/>
                  </a:lnTo>
                  <a:lnTo>
                    <a:pt x="546112" y="1439481"/>
                  </a:lnTo>
                  <a:lnTo>
                    <a:pt x="595795" y="1382166"/>
                  </a:lnTo>
                  <a:lnTo>
                    <a:pt x="632739" y="1467370"/>
                  </a:lnTo>
                  <a:lnTo>
                    <a:pt x="632739" y="1435430"/>
                  </a:lnTo>
                  <a:lnTo>
                    <a:pt x="611352" y="1386078"/>
                  </a:lnTo>
                  <a:lnTo>
                    <a:pt x="662635" y="1415656"/>
                  </a:lnTo>
                  <a:lnTo>
                    <a:pt x="662635" y="1401000"/>
                  </a:lnTo>
                  <a:lnTo>
                    <a:pt x="607199" y="1369021"/>
                  </a:lnTo>
                  <a:lnTo>
                    <a:pt x="671449" y="1294917"/>
                  </a:lnTo>
                  <a:lnTo>
                    <a:pt x="708037" y="1337106"/>
                  </a:lnTo>
                  <a:lnTo>
                    <a:pt x="708037" y="1317713"/>
                  </a:lnTo>
                  <a:lnTo>
                    <a:pt x="679869" y="1285214"/>
                  </a:lnTo>
                  <a:lnTo>
                    <a:pt x="714908" y="1244803"/>
                  </a:lnTo>
                  <a:lnTo>
                    <a:pt x="738149" y="1285011"/>
                  </a:lnTo>
                  <a:lnTo>
                    <a:pt x="738149" y="1259598"/>
                  </a:lnTo>
                  <a:lnTo>
                    <a:pt x="723722" y="1234630"/>
                  </a:lnTo>
                  <a:lnTo>
                    <a:pt x="843648" y="1096314"/>
                  </a:lnTo>
                  <a:lnTo>
                    <a:pt x="845439" y="1099413"/>
                  </a:lnTo>
                  <a:lnTo>
                    <a:pt x="845439" y="959408"/>
                  </a:lnTo>
                  <a:lnTo>
                    <a:pt x="843826" y="962202"/>
                  </a:lnTo>
                  <a:lnTo>
                    <a:pt x="837107" y="954468"/>
                  </a:lnTo>
                  <a:lnTo>
                    <a:pt x="837107" y="973848"/>
                  </a:lnTo>
                  <a:lnTo>
                    <a:pt x="836688" y="974585"/>
                  </a:lnTo>
                  <a:lnTo>
                    <a:pt x="836688" y="1084948"/>
                  </a:lnTo>
                  <a:lnTo>
                    <a:pt x="716991" y="1222984"/>
                  </a:lnTo>
                  <a:lnTo>
                    <a:pt x="708164" y="1207719"/>
                  </a:lnTo>
                  <a:lnTo>
                    <a:pt x="708164" y="1233157"/>
                  </a:lnTo>
                  <a:lnTo>
                    <a:pt x="671449" y="1275499"/>
                  </a:lnTo>
                  <a:lnTo>
                    <a:pt x="663028" y="1265796"/>
                  </a:lnTo>
                  <a:lnTo>
                    <a:pt x="663028" y="1285214"/>
                  </a:lnTo>
                  <a:lnTo>
                    <a:pt x="599414" y="1358569"/>
                  </a:lnTo>
                  <a:lnTo>
                    <a:pt x="587489" y="1331074"/>
                  </a:lnTo>
                  <a:lnTo>
                    <a:pt x="587489" y="1372336"/>
                  </a:lnTo>
                  <a:lnTo>
                    <a:pt x="539369" y="1427822"/>
                  </a:lnTo>
                  <a:lnTo>
                    <a:pt x="530555" y="1412582"/>
                  </a:lnTo>
                  <a:lnTo>
                    <a:pt x="530555" y="1437982"/>
                  </a:lnTo>
                  <a:lnTo>
                    <a:pt x="471487" y="1506105"/>
                  </a:lnTo>
                  <a:lnTo>
                    <a:pt x="513676" y="1408785"/>
                  </a:lnTo>
                  <a:lnTo>
                    <a:pt x="530555" y="1437982"/>
                  </a:lnTo>
                  <a:lnTo>
                    <a:pt x="530555" y="1412582"/>
                  </a:lnTo>
                  <a:lnTo>
                    <a:pt x="519976" y="1394269"/>
                  </a:lnTo>
                  <a:lnTo>
                    <a:pt x="541083" y="1345577"/>
                  </a:lnTo>
                  <a:lnTo>
                    <a:pt x="587489" y="1372336"/>
                  </a:lnTo>
                  <a:lnTo>
                    <a:pt x="587489" y="1331074"/>
                  </a:lnTo>
                  <a:lnTo>
                    <a:pt x="584403" y="1323949"/>
                  </a:lnTo>
                  <a:lnTo>
                    <a:pt x="584403" y="1355864"/>
                  </a:lnTo>
                  <a:lnTo>
                    <a:pt x="546176" y="1333842"/>
                  </a:lnTo>
                  <a:lnTo>
                    <a:pt x="560514" y="1300784"/>
                  </a:lnTo>
                  <a:lnTo>
                    <a:pt x="584403" y="1355864"/>
                  </a:lnTo>
                  <a:lnTo>
                    <a:pt x="584403" y="1323949"/>
                  </a:lnTo>
                  <a:lnTo>
                    <a:pt x="567436" y="1284808"/>
                  </a:lnTo>
                  <a:lnTo>
                    <a:pt x="599186" y="1211580"/>
                  </a:lnTo>
                  <a:lnTo>
                    <a:pt x="663028" y="1285214"/>
                  </a:lnTo>
                  <a:lnTo>
                    <a:pt x="663028" y="1265796"/>
                  </a:lnTo>
                  <a:lnTo>
                    <a:pt x="607428" y="1201648"/>
                  </a:lnTo>
                  <a:lnTo>
                    <a:pt x="669328" y="1165948"/>
                  </a:lnTo>
                  <a:lnTo>
                    <a:pt x="708164" y="1233157"/>
                  </a:lnTo>
                  <a:lnTo>
                    <a:pt x="708164" y="1207719"/>
                  </a:lnTo>
                  <a:lnTo>
                    <a:pt x="680339" y="1159586"/>
                  </a:lnTo>
                  <a:lnTo>
                    <a:pt x="823277" y="1077163"/>
                  </a:lnTo>
                  <a:lnTo>
                    <a:pt x="836688" y="1084948"/>
                  </a:lnTo>
                  <a:lnTo>
                    <a:pt x="836688" y="974585"/>
                  </a:lnTo>
                  <a:lnTo>
                    <a:pt x="834161" y="978954"/>
                  </a:lnTo>
                  <a:lnTo>
                    <a:pt x="828040" y="984262"/>
                  </a:lnTo>
                  <a:lnTo>
                    <a:pt x="816991" y="977900"/>
                  </a:lnTo>
                  <a:lnTo>
                    <a:pt x="816991" y="992606"/>
                  </a:lnTo>
                  <a:lnTo>
                    <a:pt x="816991" y="993863"/>
                  </a:lnTo>
                  <a:lnTo>
                    <a:pt x="814451" y="996061"/>
                  </a:lnTo>
                  <a:lnTo>
                    <a:pt x="816991" y="997127"/>
                  </a:lnTo>
                  <a:lnTo>
                    <a:pt x="816991" y="1008710"/>
                  </a:lnTo>
                  <a:lnTo>
                    <a:pt x="816991" y="1050086"/>
                  </a:lnTo>
                  <a:lnTo>
                    <a:pt x="816991" y="1061186"/>
                  </a:lnTo>
                  <a:lnTo>
                    <a:pt x="814451" y="1062228"/>
                  </a:lnTo>
                  <a:lnTo>
                    <a:pt x="816991" y="1064437"/>
                  </a:lnTo>
                  <a:lnTo>
                    <a:pt x="816991" y="1066088"/>
                  </a:lnTo>
                  <a:lnTo>
                    <a:pt x="673963" y="1148562"/>
                  </a:lnTo>
                  <a:lnTo>
                    <a:pt x="662952" y="1129525"/>
                  </a:lnTo>
                  <a:lnTo>
                    <a:pt x="662952" y="1154912"/>
                  </a:lnTo>
                  <a:lnTo>
                    <a:pt x="610692" y="1185062"/>
                  </a:lnTo>
                  <a:lnTo>
                    <a:pt x="640549" y="1116190"/>
                  </a:lnTo>
                  <a:lnTo>
                    <a:pt x="662952" y="1154912"/>
                  </a:lnTo>
                  <a:lnTo>
                    <a:pt x="662952" y="1129525"/>
                  </a:lnTo>
                  <a:lnTo>
                    <a:pt x="646849" y="1101661"/>
                  </a:lnTo>
                  <a:lnTo>
                    <a:pt x="675347" y="1035939"/>
                  </a:lnTo>
                  <a:lnTo>
                    <a:pt x="808824" y="1035939"/>
                  </a:lnTo>
                  <a:lnTo>
                    <a:pt x="816991" y="1050086"/>
                  </a:lnTo>
                  <a:lnTo>
                    <a:pt x="816991" y="1008710"/>
                  </a:lnTo>
                  <a:lnTo>
                    <a:pt x="808609" y="1023239"/>
                  </a:lnTo>
                  <a:lnTo>
                    <a:pt x="680847" y="1023239"/>
                  </a:lnTo>
                  <a:lnTo>
                    <a:pt x="718705" y="935939"/>
                  </a:lnTo>
                  <a:lnTo>
                    <a:pt x="816991" y="992606"/>
                  </a:lnTo>
                  <a:lnTo>
                    <a:pt x="816991" y="977900"/>
                  </a:lnTo>
                  <a:lnTo>
                    <a:pt x="723798" y="924191"/>
                  </a:lnTo>
                  <a:lnTo>
                    <a:pt x="747204" y="870216"/>
                  </a:lnTo>
                  <a:lnTo>
                    <a:pt x="837107" y="973848"/>
                  </a:lnTo>
                  <a:lnTo>
                    <a:pt x="837107" y="954468"/>
                  </a:lnTo>
                  <a:lnTo>
                    <a:pt x="752817" y="857262"/>
                  </a:lnTo>
                  <a:lnTo>
                    <a:pt x="866419" y="595274"/>
                  </a:lnTo>
                  <a:lnTo>
                    <a:pt x="871982" y="600075"/>
                  </a:lnTo>
                  <a:lnTo>
                    <a:pt x="873480" y="594220"/>
                  </a:lnTo>
                  <a:lnTo>
                    <a:pt x="887984" y="602615"/>
                  </a:lnTo>
                  <a:lnTo>
                    <a:pt x="888225" y="598487"/>
                  </a:lnTo>
                  <a:lnTo>
                    <a:pt x="897763" y="602615"/>
                  </a:lnTo>
                  <a:close/>
                </a:path>
                <a:path w="4320540" h="2571115">
                  <a:moveTo>
                    <a:pt x="2086483" y="2228850"/>
                  </a:moveTo>
                  <a:lnTo>
                    <a:pt x="2074862" y="2234450"/>
                  </a:lnTo>
                  <a:lnTo>
                    <a:pt x="2074291" y="2229993"/>
                  </a:lnTo>
                  <a:lnTo>
                    <a:pt x="2057298" y="2241435"/>
                  </a:lnTo>
                  <a:lnTo>
                    <a:pt x="2041918" y="2209558"/>
                  </a:lnTo>
                  <a:lnTo>
                    <a:pt x="2041918" y="2238845"/>
                  </a:lnTo>
                  <a:lnTo>
                    <a:pt x="2036279" y="2230488"/>
                  </a:lnTo>
                  <a:lnTo>
                    <a:pt x="2036279" y="2253030"/>
                  </a:lnTo>
                  <a:lnTo>
                    <a:pt x="2029294" y="2256396"/>
                  </a:lnTo>
                  <a:lnTo>
                    <a:pt x="2020633" y="2248674"/>
                  </a:lnTo>
                  <a:lnTo>
                    <a:pt x="2020633" y="2265794"/>
                  </a:lnTo>
                  <a:lnTo>
                    <a:pt x="2020519" y="2266175"/>
                  </a:lnTo>
                  <a:lnTo>
                    <a:pt x="2011045" y="2272538"/>
                  </a:lnTo>
                  <a:lnTo>
                    <a:pt x="2017483" y="2276195"/>
                  </a:lnTo>
                  <a:lnTo>
                    <a:pt x="2017382" y="2276564"/>
                  </a:lnTo>
                  <a:lnTo>
                    <a:pt x="2009216" y="2285695"/>
                  </a:lnTo>
                  <a:lnTo>
                    <a:pt x="1241577" y="2053920"/>
                  </a:lnTo>
                  <a:lnTo>
                    <a:pt x="1650949" y="1935784"/>
                  </a:lnTo>
                  <a:lnTo>
                    <a:pt x="2020633" y="2265794"/>
                  </a:lnTo>
                  <a:lnTo>
                    <a:pt x="2020633" y="2248674"/>
                  </a:lnTo>
                  <a:lnTo>
                    <a:pt x="1665338" y="1931631"/>
                  </a:lnTo>
                  <a:lnTo>
                    <a:pt x="1794408" y="1894382"/>
                  </a:lnTo>
                  <a:lnTo>
                    <a:pt x="2036279" y="2253030"/>
                  </a:lnTo>
                  <a:lnTo>
                    <a:pt x="2036279" y="2230488"/>
                  </a:lnTo>
                  <a:lnTo>
                    <a:pt x="1807146" y="1890712"/>
                  </a:lnTo>
                  <a:lnTo>
                    <a:pt x="1865845" y="1873770"/>
                  </a:lnTo>
                  <a:lnTo>
                    <a:pt x="2041918" y="2238845"/>
                  </a:lnTo>
                  <a:lnTo>
                    <a:pt x="2041918" y="2209558"/>
                  </a:lnTo>
                  <a:lnTo>
                    <a:pt x="1878253" y="1870189"/>
                  </a:lnTo>
                  <a:lnTo>
                    <a:pt x="2013813" y="1831060"/>
                  </a:lnTo>
                  <a:lnTo>
                    <a:pt x="2022602" y="1861566"/>
                  </a:lnTo>
                  <a:lnTo>
                    <a:pt x="2072792" y="1815338"/>
                  </a:lnTo>
                  <a:lnTo>
                    <a:pt x="2085340" y="1803781"/>
                  </a:lnTo>
                  <a:lnTo>
                    <a:pt x="2083904" y="1803527"/>
                  </a:lnTo>
                  <a:lnTo>
                    <a:pt x="2085340" y="1803273"/>
                  </a:lnTo>
                  <a:lnTo>
                    <a:pt x="2084578" y="1802561"/>
                  </a:lnTo>
                  <a:lnTo>
                    <a:pt x="2085340" y="1802765"/>
                  </a:lnTo>
                  <a:lnTo>
                    <a:pt x="2085136" y="1802282"/>
                  </a:lnTo>
                  <a:lnTo>
                    <a:pt x="2085340" y="1802384"/>
                  </a:lnTo>
                  <a:lnTo>
                    <a:pt x="2078901" y="1753235"/>
                  </a:lnTo>
                  <a:lnTo>
                    <a:pt x="2074291" y="1717929"/>
                  </a:lnTo>
                  <a:lnTo>
                    <a:pt x="2056358" y="1729994"/>
                  </a:lnTo>
                  <a:lnTo>
                    <a:pt x="2053844" y="1723644"/>
                  </a:lnTo>
                  <a:lnTo>
                    <a:pt x="2045843" y="1732597"/>
                  </a:lnTo>
                  <a:lnTo>
                    <a:pt x="2037181" y="1719757"/>
                  </a:lnTo>
                  <a:lnTo>
                    <a:pt x="2037181" y="1742313"/>
                  </a:lnTo>
                  <a:lnTo>
                    <a:pt x="2035860" y="1743786"/>
                  </a:lnTo>
                  <a:lnTo>
                    <a:pt x="2031771" y="1746542"/>
                  </a:lnTo>
                  <a:lnTo>
                    <a:pt x="2020633" y="1736610"/>
                  </a:lnTo>
                  <a:lnTo>
                    <a:pt x="2020633" y="1753717"/>
                  </a:lnTo>
                  <a:lnTo>
                    <a:pt x="2020519" y="1754098"/>
                  </a:lnTo>
                  <a:lnTo>
                    <a:pt x="2011045" y="1760474"/>
                  </a:lnTo>
                  <a:lnTo>
                    <a:pt x="2017483" y="1764131"/>
                  </a:lnTo>
                  <a:lnTo>
                    <a:pt x="2017382" y="1764499"/>
                  </a:lnTo>
                  <a:lnTo>
                    <a:pt x="2010473" y="1772234"/>
                  </a:lnTo>
                  <a:lnTo>
                    <a:pt x="2010473" y="1787296"/>
                  </a:lnTo>
                  <a:lnTo>
                    <a:pt x="2009711" y="1789811"/>
                  </a:lnTo>
                  <a:lnTo>
                    <a:pt x="2001520" y="1788287"/>
                  </a:lnTo>
                  <a:lnTo>
                    <a:pt x="2005736" y="1802968"/>
                  </a:lnTo>
                  <a:lnTo>
                    <a:pt x="2001266" y="1817751"/>
                  </a:lnTo>
                  <a:lnTo>
                    <a:pt x="2009571" y="1816328"/>
                  </a:lnTo>
                  <a:lnTo>
                    <a:pt x="2010308" y="1818855"/>
                  </a:lnTo>
                  <a:lnTo>
                    <a:pt x="1872665" y="1858581"/>
                  </a:lnTo>
                  <a:lnTo>
                    <a:pt x="1860245" y="1832825"/>
                  </a:lnTo>
                  <a:lnTo>
                    <a:pt x="1860245" y="1862162"/>
                  </a:lnTo>
                  <a:lnTo>
                    <a:pt x="1799691" y="1879638"/>
                  </a:lnTo>
                  <a:lnTo>
                    <a:pt x="1786953" y="1860753"/>
                  </a:lnTo>
                  <a:lnTo>
                    <a:pt x="1786953" y="1883321"/>
                  </a:lnTo>
                  <a:lnTo>
                    <a:pt x="1654149" y="1921649"/>
                  </a:lnTo>
                  <a:lnTo>
                    <a:pt x="1639760" y="1908810"/>
                  </a:lnTo>
                  <a:lnTo>
                    <a:pt x="1639760" y="1925802"/>
                  </a:lnTo>
                  <a:lnTo>
                    <a:pt x="1243685" y="2040102"/>
                  </a:lnTo>
                  <a:lnTo>
                    <a:pt x="1507756" y="1807946"/>
                  </a:lnTo>
                  <a:lnTo>
                    <a:pt x="1639760" y="1925802"/>
                  </a:lnTo>
                  <a:lnTo>
                    <a:pt x="1639760" y="1908810"/>
                  </a:lnTo>
                  <a:lnTo>
                    <a:pt x="1517319" y="1799526"/>
                  </a:lnTo>
                  <a:lnTo>
                    <a:pt x="1651127" y="1681899"/>
                  </a:lnTo>
                  <a:lnTo>
                    <a:pt x="1786953" y="1883321"/>
                  </a:lnTo>
                  <a:lnTo>
                    <a:pt x="1786953" y="1860753"/>
                  </a:lnTo>
                  <a:lnTo>
                    <a:pt x="1667624" y="1683778"/>
                  </a:lnTo>
                  <a:lnTo>
                    <a:pt x="1792401" y="1721459"/>
                  </a:lnTo>
                  <a:lnTo>
                    <a:pt x="1860245" y="1862162"/>
                  </a:lnTo>
                  <a:lnTo>
                    <a:pt x="1860245" y="1832825"/>
                  </a:lnTo>
                  <a:lnTo>
                    <a:pt x="1808949" y="1726450"/>
                  </a:lnTo>
                  <a:lnTo>
                    <a:pt x="2010473" y="1787296"/>
                  </a:lnTo>
                  <a:lnTo>
                    <a:pt x="2010473" y="1772234"/>
                  </a:lnTo>
                  <a:lnTo>
                    <a:pt x="2009216" y="1773631"/>
                  </a:lnTo>
                  <a:lnTo>
                    <a:pt x="1801444" y="1710893"/>
                  </a:lnTo>
                  <a:lnTo>
                    <a:pt x="1784896" y="1676577"/>
                  </a:lnTo>
                  <a:lnTo>
                    <a:pt x="1784896" y="1705902"/>
                  </a:lnTo>
                  <a:lnTo>
                    <a:pt x="1664982" y="1669707"/>
                  </a:lnTo>
                  <a:lnTo>
                    <a:pt x="1736928" y="1606461"/>
                  </a:lnTo>
                  <a:lnTo>
                    <a:pt x="1784896" y="1705902"/>
                  </a:lnTo>
                  <a:lnTo>
                    <a:pt x="1784896" y="1676577"/>
                  </a:lnTo>
                  <a:lnTo>
                    <a:pt x="1746872" y="1597723"/>
                  </a:lnTo>
                  <a:lnTo>
                    <a:pt x="1796757" y="1553870"/>
                  </a:lnTo>
                  <a:lnTo>
                    <a:pt x="2020633" y="1753717"/>
                  </a:lnTo>
                  <a:lnTo>
                    <a:pt x="2020633" y="1736610"/>
                  </a:lnTo>
                  <a:lnTo>
                    <a:pt x="1806371" y="1545412"/>
                  </a:lnTo>
                  <a:lnTo>
                    <a:pt x="1867903" y="1491322"/>
                  </a:lnTo>
                  <a:lnTo>
                    <a:pt x="2037181" y="1742313"/>
                  </a:lnTo>
                  <a:lnTo>
                    <a:pt x="2037181" y="1719757"/>
                  </a:lnTo>
                  <a:lnTo>
                    <a:pt x="1877453" y="1482928"/>
                  </a:lnTo>
                  <a:lnTo>
                    <a:pt x="2032279" y="1346809"/>
                  </a:lnTo>
                  <a:lnTo>
                    <a:pt x="2053209" y="1370584"/>
                  </a:lnTo>
                  <a:lnTo>
                    <a:pt x="2070176" y="1328928"/>
                  </a:lnTo>
                  <a:lnTo>
                    <a:pt x="2085340" y="1291717"/>
                  </a:lnTo>
                  <a:lnTo>
                    <a:pt x="2083904" y="1291463"/>
                  </a:lnTo>
                  <a:lnTo>
                    <a:pt x="2085340" y="1291209"/>
                  </a:lnTo>
                  <a:lnTo>
                    <a:pt x="2084578" y="1290497"/>
                  </a:lnTo>
                  <a:lnTo>
                    <a:pt x="2085340" y="1290701"/>
                  </a:lnTo>
                  <a:lnTo>
                    <a:pt x="2070417" y="1253236"/>
                  </a:lnTo>
                  <a:lnTo>
                    <a:pt x="2053844" y="1211580"/>
                  </a:lnTo>
                  <a:lnTo>
                    <a:pt x="2032685" y="1235278"/>
                  </a:lnTo>
                  <a:lnTo>
                    <a:pt x="2020646" y="1224546"/>
                  </a:lnTo>
                  <a:lnTo>
                    <a:pt x="2020646" y="1241653"/>
                  </a:lnTo>
                  <a:lnTo>
                    <a:pt x="2020049" y="1243634"/>
                  </a:lnTo>
                  <a:lnTo>
                    <a:pt x="2020049" y="1340662"/>
                  </a:lnTo>
                  <a:lnTo>
                    <a:pt x="1870303" y="1472311"/>
                  </a:lnTo>
                  <a:lnTo>
                    <a:pt x="1860753" y="1458150"/>
                  </a:lnTo>
                  <a:lnTo>
                    <a:pt x="1860753" y="1480718"/>
                  </a:lnTo>
                  <a:lnTo>
                    <a:pt x="1796846" y="1536903"/>
                  </a:lnTo>
                  <a:lnTo>
                    <a:pt x="1787220" y="1528318"/>
                  </a:lnTo>
                  <a:lnTo>
                    <a:pt x="1787220" y="1545348"/>
                  </a:lnTo>
                  <a:lnTo>
                    <a:pt x="1741144" y="1585861"/>
                  </a:lnTo>
                  <a:lnTo>
                    <a:pt x="1731213" y="1565275"/>
                  </a:lnTo>
                  <a:lnTo>
                    <a:pt x="1731213" y="1594599"/>
                  </a:lnTo>
                  <a:lnTo>
                    <a:pt x="1653527" y="1662899"/>
                  </a:lnTo>
                  <a:lnTo>
                    <a:pt x="1639443" y="1642021"/>
                  </a:lnTo>
                  <a:lnTo>
                    <a:pt x="1639443" y="1675282"/>
                  </a:lnTo>
                  <a:lnTo>
                    <a:pt x="1507782" y="1791017"/>
                  </a:lnTo>
                  <a:lnTo>
                    <a:pt x="1498219" y="1782483"/>
                  </a:lnTo>
                  <a:lnTo>
                    <a:pt x="1498219" y="1799437"/>
                  </a:lnTo>
                  <a:lnTo>
                    <a:pt x="1251483" y="2016353"/>
                  </a:lnTo>
                  <a:lnTo>
                    <a:pt x="1436560" y="1744383"/>
                  </a:lnTo>
                  <a:lnTo>
                    <a:pt x="1498219" y="1799437"/>
                  </a:lnTo>
                  <a:lnTo>
                    <a:pt x="1498219" y="1782483"/>
                  </a:lnTo>
                  <a:lnTo>
                    <a:pt x="1443723" y="1733842"/>
                  </a:lnTo>
                  <a:lnTo>
                    <a:pt x="1510144" y="1636242"/>
                  </a:lnTo>
                  <a:lnTo>
                    <a:pt x="1639443" y="1675282"/>
                  </a:lnTo>
                  <a:lnTo>
                    <a:pt x="1639443" y="1642021"/>
                  </a:lnTo>
                  <a:lnTo>
                    <a:pt x="1637284" y="1638820"/>
                  </a:lnTo>
                  <a:lnTo>
                    <a:pt x="1637284" y="1661337"/>
                  </a:lnTo>
                  <a:lnTo>
                    <a:pt x="1517637" y="1625231"/>
                  </a:lnTo>
                  <a:lnTo>
                    <a:pt x="1565503" y="1554899"/>
                  </a:lnTo>
                  <a:lnTo>
                    <a:pt x="1637284" y="1661337"/>
                  </a:lnTo>
                  <a:lnTo>
                    <a:pt x="1637284" y="1638820"/>
                  </a:lnTo>
                  <a:lnTo>
                    <a:pt x="1573136" y="1543672"/>
                  </a:lnTo>
                  <a:lnTo>
                    <a:pt x="1651279" y="1428838"/>
                  </a:lnTo>
                  <a:lnTo>
                    <a:pt x="1731213" y="1594599"/>
                  </a:lnTo>
                  <a:lnTo>
                    <a:pt x="1731213" y="1565275"/>
                  </a:lnTo>
                  <a:lnTo>
                    <a:pt x="1672018" y="1442491"/>
                  </a:lnTo>
                  <a:lnTo>
                    <a:pt x="1787220" y="1545348"/>
                  </a:lnTo>
                  <a:lnTo>
                    <a:pt x="1787220" y="1528318"/>
                  </a:lnTo>
                  <a:lnTo>
                    <a:pt x="1665363" y="1419555"/>
                  </a:lnTo>
                  <a:lnTo>
                    <a:pt x="1794408" y="1382318"/>
                  </a:lnTo>
                  <a:lnTo>
                    <a:pt x="1860753" y="1480718"/>
                  </a:lnTo>
                  <a:lnTo>
                    <a:pt x="1860753" y="1458150"/>
                  </a:lnTo>
                  <a:lnTo>
                    <a:pt x="1807146" y="1378648"/>
                  </a:lnTo>
                  <a:lnTo>
                    <a:pt x="2009025" y="1320380"/>
                  </a:lnTo>
                  <a:lnTo>
                    <a:pt x="2016734" y="1329156"/>
                  </a:lnTo>
                  <a:lnTo>
                    <a:pt x="2020049" y="1340662"/>
                  </a:lnTo>
                  <a:lnTo>
                    <a:pt x="2020049" y="1243634"/>
                  </a:lnTo>
                  <a:lnTo>
                    <a:pt x="2017382" y="1252423"/>
                  </a:lnTo>
                  <a:lnTo>
                    <a:pt x="2010473" y="1260170"/>
                  </a:lnTo>
                  <a:lnTo>
                    <a:pt x="2010473" y="1275232"/>
                  </a:lnTo>
                  <a:lnTo>
                    <a:pt x="2009711" y="1277747"/>
                  </a:lnTo>
                  <a:lnTo>
                    <a:pt x="2001520" y="1276223"/>
                  </a:lnTo>
                  <a:lnTo>
                    <a:pt x="2005736" y="1290904"/>
                  </a:lnTo>
                  <a:lnTo>
                    <a:pt x="2001266" y="1305687"/>
                  </a:lnTo>
                  <a:lnTo>
                    <a:pt x="2009571" y="1304264"/>
                  </a:lnTo>
                  <a:lnTo>
                    <a:pt x="2010308" y="1306791"/>
                  </a:lnTo>
                  <a:lnTo>
                    <a:pt x="1799691" y="1367574"/>
                  </a:lnTo>
                  <a:lnTo>
                    <a:pt x="1786940" y="1348676"/>
                  </a:lnTo>
                  <a:lnTo>
                    <a:pt x="1786940" y="1371257"/>
                  </a:lnTo>
                  <a:lnTo>
                    <a:pt x="1666887" y="1405902"/>
                  </a:lnTo>
                  <a:lnTo>
                    <a:pt x="1738922" y="1300060"/>
                  </a:lnTo>
                  <a:lnTo>
                    <a:pt x="1786940" y="1371257"/>
                  </a:lnTo>
                  <a:lnTo>
                    <a:pt x="1786940" y="1348676"/>
                  </a:lnTo>
                  <a:lnTo>
                    <a:pt x="1746567" y="1288808"/>
                  </a:lnTo>
                  <a:lnTo>
                    <a:pt x="1799221" y="1211453"/>
                  </a:lnTo>
                  <a:lnTo>
                    <a:pt x="2010473" y="1275232"/>
                  </a:lnTo>
                  <a:lnTo>
                    <a:pt x="2010473" y="1260170"/>
                  </a:lnTo>
                  <a:lnTo>
                    <a:pt x="2009216" y="1261567"/>
                  </a:lnTo>
                  <a:lnTo>
                    <a:pt x="1806714" y="1200442"/>
                  </a:lnTo>
                  <a:lnTo>
                    <a:pt x="1870100" y="1107287"/>
                  </a:lnTo>
                  <a:lnTo>
                    <a:pt x="2020646" y="1241653"/>
                  </a:lnTo>
                  <a:lnTo>
                    <a:pt x="2020646" y="1224546"/>
                  </a:lnTo>
                  <a:lnTo>
                    <a:pt x="1877326" y="1096670"/>
                  </a:lnTo>
                  <a:lnTo>
                    <a:pt x="2045411" y="849668"/>
                  </a:lnTo>
                  <a:lnTo>
                    <a:pt x="2053209" y="858520"/>
                  </a:lnTo>
                  <a:lnTo>
                    <a:pt x="2055914" y="851865"/>
                  </a:lnTo>
                  <a:lnTo>
                    <a:pt x="2073910" y="864108"/>
                  </a:lnTo>
                  <a:lnTo>
                    <a:pt x="2078710" y="828548"/>
                  </a:lnTo>
                  <a:lnTo>
                    <a:pt x="2085340" y="779653"/>
                  </a:lnTo>
                  <a:lnTo>
                    <a:pt x="2083904" y="779399"/>
                  </a:lnTo>
                  <a:lnTo>
                    <a:pt x="2085340" y="779145"/>
                  </a:lnTo>
                  <a:lnTo>
                    <a:pt x="2072297" y="766838"/>
                  </a:lnTo>
                  <a:lnTo>
                    <a:pt x="2036686" y="733196"/>
                  </a:lnTo>
                  <a:lnTo>
                    <a:pt x="2036686" y="839762"/>
                  </a:lnTo>
                  <a:lnTo>
                    <a:pt x="1867725" y="1088110"/>
                  </a:lnTo>
                  <a:lnTo>
                    <a:pt x="1860499" y="1081671"/>
                  </a:lnTo>
                  <a:lnTo>
                    <a:pt x="1860499" y="1098727"/>
                  </a:lnTo>
                  <a:lnTo>
                    <a:pt x="1793938" y="1196581"/>
                  </a:lnTo>
                  <a:lnTo>
                    <a:pt x="1786432" y="1194320"/>
                  </a:lnTo>
                  <a:lnTo>
                    <a:pt x="1786432" y="1207592"/>
                  </a:lnTo>
                  <a:lnTo>
                    <a:pt x="1738909" y="1277454"/>
                  </a:lnTo>
                  <a:lnTo>
                    <a:pt x="1731264" y="1266126"/>
                  </a:lnTo>
                  <a:lnTo>
                    <a:pt x="1731264" y="1288707"/>
                  </a:lnTo>
                  <a:lnTo>
                    <a:pt x="1653171" y="1403477"/>
                  </a:lnTo>
                  <a:lnTo>
                    <a:pt x="1639773" y="1375689"/>
                  </a:lnTo>
                  <a:lnTo>
                    <a:pt x="1639773" y="1413725"/>
                  </a:lnTo>
                  <a:lnTo>
                    <a:pt x="1636585" y="1414653"/>
                  </a:lnTo>
                  <a:lnTo>
                    <a:pt x="1636585" y="1427861"/>
                  </a:lnTo>
                  <a:lnTo>
                    <a:pt x="1565503" y="1532343"/>
                  </a:lnTo>
                  <a:lnTo>
                    <a:pt x="1557870" y="1521028"/>
                  </a:lnTo>
                  <a:lnTo>
                    <a:pt x="1557870" y="1543570"/>
                  </a:lnTo>
                  <a:lnTo>
                    <a:pt x="1504924" y="1621383"/>
                  </a:lnTo>
                  <a:lnTo>
                    <a:pt x="1497431" y="1619123"/>
                  </a:lnTo>
                  <a:lnTo>
                    <a:pt x="1497431" y="1632407"/>
                  </a:lnTo>
                  <a:lnTo>
                    <a:pt x="1434198" y="1725345"/>
                  </a:lnTo>
                  <a:lnTo>
                    <a:pt x="1427035" y="1718957"/>
                  </a:lnTo>
                  <a:lnTo>
                    <a:pt x="1427035" y="1735886"/>
                  </a:lnTo>
                  <a:lnTo>
                    <a:pt x="1261745" y="1978837"/>
                  </a:lnTo>
                  <a:lnTo>
                    <a:pt x="1393990" y="1706372"/>
                  </a:lnTo>
                  <a:lnTo>
                    <a:pt x="1427035" y="1735886"/>
                  </a:lnTo>
                  <a:lnTo>
                    <a:pt x="1427035" y="1718957"/>
                  </a:lnTo>
                  <a:lnTo>
                    <a:pt x="1399717" y="1694561"/>
                  </a:lnTo>
                  <a:lnTo>
                    <a:pt x="1438529" y="1614614"/>
                  </a:lnTo>
                  <a:lnTo>
                    <a:pt x="1497431" y="1632407"/>
                  </a:lnTo>
                  <a:lnTo>
                    <a:pt x="1497431" y="1619123"/>
                  </a:lnTo>
                  <a:lnTo>
                    <a:pt x="1444155" y="1603032"/>
                  </a:lnTo>
                  <a:lnTo>
                    <a:pt x="1508531" y="1470393"/>
                  </a:lnTo>
                  <a:lnTo>
                    <a:pt x="1557870" y="1543570"/>
                  </a:lnTo>
                  <a:lnTo>
                    <a:pt x="1557870" y="1521028"/>
                  </a:lnTo>
                  <a:lnTo>
                    <a:pt x="1518119" y="1462049"/>
                  </a:lnTo>
                  <a:lnTo>
                    <a:pt x="1636585" y="1427861"/>
                  </a:lnTo>
                  <a:lnTo>
                    <a:pt x="1636585" y="1414653"/>
                  </a:lnTo>
                  <a:lnTo>
                    <a:pt x="1519135" y="1448549"/>
                  </a:lnTo>
                  <a:lnTo>
                    <a:pt x="1567383" y="1349121"/>
                  </a:lnTo>
                  <a:lnTo>
                    <a:pt x="1639773" y="1413725"/>
                  </a:lnTo>
                  <a:lnTo>
                    <a:pt x="1639773" y="1375689"/>
                  </a:lnTo>
                  <a:lnTo>
                    <a:pt x="1632813" y="1361262"/>
                  </a:lnTo>
                  <a:lnTo>
                    <a:pt x="1632813" y="1390510"/>
                  </a:lnTo>
                  <a:lnTo>
                    <a:pt x="1573136" y="1337271"/>
                  </a:lnTo>
                  <a:lnTo>
                    <a:pt x="1590192" y="1302143"/>
                  </a:lnTo>
                  <a:lnTo>
                    <a:pt x="1632813" y="1390510"/>
                  </a:lnTo>
                  <a:lnTo>
                    <a:pt x="1632813" y="1361262"/>
                  </a:lnTo>
                  <a:lnTo>
                    <a:pt x="1597279" y="1287551"/>
                  </a:lnTo>
                  <a:lnTo>
                    <a:pt x="1653032" y="1172679"/>
                  </a:lnTo>
                  <a:lnTo>
                    <a:pt x="1731264" y="1288707"/>
                  </a:lnTo>
                  <a:lnTo>
                    <a:pt x="1731264" y="1266126"/>
                  </a:lnTo>
                  <a:lnTo>
                    <a:pt x="1667624" y="1171714"/>
                  </a:lnTo>
                  <a:lnTo>
                    <a:pt x="1786432" y="1207592"/>
                  </a:lnTo>
                  <a:lnTo>
                    <a:pt x="1786432" y="1194320"/>
                  </a:lnTo>
                  <a:lnTo>
                    <a:pt x="1664995" y="1157643"/>
                  </a:lnTo>
                  <a:lnTo>
                    <a:pt x="1796745" y="1041806"/>
                  </a:lnTo>
                  <a:lnTo>
                    <a:pt x="1860499" y="1098727"/>
                  </a:lnTo>
                  <a:lnTo>
                    <a:pt x="1860499" y="1081671"/>
                  </a:lnTo>
                  <a:lnTo>
                    <a:pt x="1806371" y="1033348"/>
                  </a:lnTo>
                  <a:lnTo>
                    <a:pt x="2031631" y="835317"/>
                  </a:lnTo>
                  <a:lnTo>
                    <a:pt x="2034489" y="837260"/>
                  </a:lnTo>
                  <a:lnTo>
                    <a:pt x="2036686" y="839762"/>
                  </a:lnTo>
                  <a:lnTo>
                    <a:pt x="2036686" y="733196"/>
                  </a:lnTo>
                  <a:lnTo>
                    <a:pt x="2023364" y="720598"/>
                  </a:lnTo>
                  <a:lnTo>
                    <a:pt x="2020049" y="731558"/>
                  </a:lnTo>
                  <a:lnTo>
                    <a:pt x="2020049" y="828598"/>
                  </a:lnTo>
                  <a:lnTo>
                    <a:pt x="1796834" y="1024839"/>
                  </a:lnTo>
                  <a:lnTo>
                    <a:pt x="1787207" y="1016254"/>
                  </a:lnTo>
                  <a:lnTo>
                    <a:pt x="1787207" y="1033297"/>
                  </a:lnTo>
                  <a:lnTo>
                    <a:pt x="1671167" y="1135316"/>
                  </a:lnTo>
                  <a:lnTo>
                    <a:pt x="1740789" y="991870"/>
                  </a:lnTo>
                  <a:lnTo>
                    <a:pt x="1787207" y="1033297"/>
                  </a:lnTo>
                  <a:lnTo>
                    <a:pt x="1787207" y="1016254"/>
                  </a:lnTo>
                  <a:lnTo>
                    <a:pt x="1746554" y="979982"/>
                  </a:lnTo>
                  <a:lnTo>
                    <a:pt x="1800694" y="868451"/>
                  </a:lnTo>
                  <a:lnTo>
                    <a:pt x="2009025" y="808316"/>
                  </a:lnTo>
                  <a:lnTo>
                    <a:pt x="2016734" y="817092"/>
                  </a:lnTo>
                  <a:lnTo>
                    <a:pt x="2016937" y="817829"/>
                  </a:lnTo>
                  <a:lnTo>
                    <a:pt x="2010918" y="821182"/>
                  </a:lnTo>
                  <a:lnTo>
                    <a:pt x="2019617" y="827125"/>
                  </a:lnTo>
                  <a:lnTo>
                    <a:pt x="2020049" y="828598"/>
                  </a:lnTo>
                  <a:lnTo>
                    <a:pt x="2020049" y="731558"/>
                  </a:lnTo>
                  <a:lnTo>
                    <a:pt x="2014169" y="750989"/>
                  </a:lnTo>
                  <a:lnTo>
                    <a:pt x="2010473" y="749884"/>
                  </a:lnTo>
                  <a:lnTo>
                    <a:pt x="2010473" y="763168"/>
                  </a:lnTo>
                  <a:lnTo>
                    <a:pt x="2009711" y="765683"/>
                  </a:lnTo>
                  <a:lnTo>
                    <a:pt x="2001520" y="764159"/>
                  </a:lnTo>
                  <a:lnTo>
                    <a:pt x="2005736" y="778840"/>
                  </a:lnTo>
                  <a:lnTo>
                    <a:pt x="2001266" y="793623"/>
                  </a:lnTo>
                  <a:lnTo>
                    <a:pt x="2009571" y="792200"/>
                  </a:lnTo>
                  <a:lnTo>
                    <a:pt x="2010308" y="794727"/>
                  </a:lnTo>
                  <a:lnTo>
                    <a:pt x="1808162" y="853071"/>
                  </a:lnTo>
                  <a:lnTo>
                    <a:pt x="1872068" y="721398"/>
                  </a:lnTo>
                  <a:lnTo>
                    <a:pt x="2010473" y="763168"/>
                  </a:lnTo>
                  <a:lnTo>
                    <a:pt x="2010473" y="749884"/>
                  </a:lnTo>
                  <a:lnTo>
                    <a:pt x="1877695" y="709803"/>
                  </a:lnTo>
                  <a:lnTo>
                    <a:pt x="2056942" y="340512"/>
                  </a:lnTo>
                  <a:lnTo>
                    <a:pt x="2073910" y="352044"/>
                  </a:lnTo>
                  <a:lnTo>
                    <a:pt x="2074570" y="347154"/>
                  </a:lnTo>
                  <a:lnTo>
                    <a:pt x="2086229" y="352806"/>
                  </a:lnTo>
                  <a:lnTo>
                    <a:pt x="2086076" y="338950"/>
                  </a:lnTo>
                  <a:lnTo>
                    <a:pt x="2085962" y="327533"/>
                  </a:lnTo>
                  <a:lnTo>
                    <a:pt x="2085898" y="321945"/>
                  </a:lnTo>
                  <a:lnTo>
                    <a:pt x="2085340" y="267589"/>
                  </a:lnTo>
                  <a:lnTo>
                    <a:pt x="2041232" y="259448"/>
                  </a:lnTo>
                  <a:lnTo>
                    <a:pt x="2041232" y="343738"/>
                  </a:lnTo>
                  <a:lnTo>
                    <a:pt x="1865376" y="706081"/>
                  </a:lnTo>
                  <a:lnTo>
                    <a:pt x="1859749" y="704392"/>
                  </a:lnTo>
                  <a:lnTo>
                    <a:pt x="1859749" y="717677"/>
                  </a:lnTo>
                  <a:lnTo>
                    <a:pt x="1791741" y="857808"/>
                  </a:lnTo>
                  <a:lnTo>
                    <a:pt x="1784273" y="859967"/>
                  </a:lnTo>
                  <a:lnTo>
                    <a:pt x="1784273" y="873188"/>
                  </a:lnTo>
                  <a:lnTo>
                    <a:pt x="1736712" y="971194"/>
                  </a:lnTo>
                  <a:lnTo>
                    <a:pt x="1730933" y="966038"/>
                  </a:lnTo>
                  <a:lnTo>
                    <a:pt x="1730933" y="983081"/>
                  </a:lnTo>
                  <a:lnTo>
                    <a:pt x="1651190" y="1147381"/>
                  </a:lnTo>
                  <a:lnTo>
                    <a:pt x="1639443" y="1129957"/>
                  </a:lnTo>
                  <a:lnTo>
                    <a:pt x="1639443" y="1163218"/>
                  </a:lnTo>
                  <a:lnTo>
                    <a:pt x="1632242" y="1169555"/>
                  </a:lnTo>
                  <a:lnTo>
                    <a:pt x="1632242" y="1186446"/>
                  </a:lnTo>
                  <a:lnTo>
                    <a:pt x="1590243" y="1272959"/>
                  </a:lnTo>
                  <a:lnTo>
                    <a:pt x="1583156" y="1258265"/>
                  </a:lnTo>
                  <a:lnTo>
                    <a:pt x="1583156" y="1287564"/>
                  </a:lnTo>
                  <a:lnTo>
                    <a:pt x="1563293" y="1328496"/>
                  </a:lnTo>
                  <a:lnTo>
                    <a:pt x="1557540" y="1323365"/>
                  </a:lnTo>
                  <a:lnTo>
                    <a:pt x="1557540" y="1340345"/>
                  </a:lnTo>
                  <a:lnTo>
                    <a:pt x="1506689" y="1445120"/>
                  </a:lnTo>
                  <a:lnTo>
                    <a:pt x="1497939" y="1432140"/>
                  </a:lnTo>
                  <a:lnTo>
                    <a:pt x="1497939" y="1454658"/>
                  </a:lnTo>
                  <a:lnTo>
                    <a:pt x="1495272" y="1455432"/>
                  </a:lnTo>
                  <a:lnTo>
                    <a:pt x="1495272" y="1468653"/>
                  </a:lnTo>
                  <a:lnTo>
                    <a:pt x="1431848" y="1599323"/>
                  </a:lnTo>
                  <a:lnTo>
                    <a:pt x="1426235" y="1597634"/>
                  </a:lnTo>
                  <a:lnTo>
                    <a:pt x="1426235" y="1610893"/>
                  </a:lnTo>
                  <a:lnTo>
                    <a:pt x="1389888" y="1685785"/>
                  </a:lnTo>
                  <a:lnTo>
                    <a:pt x="1244473" y="1556004"/>
                  </a:lnTo>
                  <a:lnTo>
                    <a:pt x="1426235" y="1610893"/>
                  </a:lnTo>
                  <a:lnTo>
                    <a:pt x="1426235" y="1597634"/>
                  </a:lnTo>
                  <a:lnTo>
                    <a:pt x="1241577" y="1541856"/>
                  </a:lnTo>
                  <a:lnTo>
                    <a:pt x="1495272" y="1468653"/>
                  </a:lnTo>
                  <a:lnTo>
                    <a:pt x="1495272" y="1455432"/>
                  </a:lnTo>
                  <a:lnTo>
                    <a:pt x="1243685" y="1528038"/>
                  </a:lnTo>
                  <a:lnTo>
                    <a:pt x="1434376" y="1360385"/>
                  </a:lnTo>
                  <a:lnTo>
                    <a:pt x="1497939" y="1454658"/>
                  </a:lnTo>
                  <a:lnTo>
                    <a:pt x="1497939" y="1432140"/>
                  </a:lnTo>
                  <a:lnTo>
                    <a:pt x="1443926" y="1352003"/>
                  </a:lnTo>
                  <a:lnTo>
                    <a:pt x="1507756" y="1295882"/>
                  </a:lnTo>
                  <a:lnTo>
                    <a:pt x="1557540" y="1340345"/>
                  </a:lnTo>
                  <a:lnTo>
                    <a:pt x="1557540" y="1323365"/>
                  </a:lnTo>
                  <a:lnTo>
                    <a:pt x="1517332" y="1287462"/>
                  </a:lnTo>
                  <a:lnTo>
                    <a:pt x="1563535" y="1246847"/>
                  </a:lnTo>
                  <a:lnTo>
                    <a:pt x="1583156" y="1287564"/>
                  </a:lnTo>
                  <a:lnTo>
                    <a:pt x="1583156" y="1258265"/>
                  </a:lnTo>
                  <a:lnTo>
                    <a:pt x="1573453" y="1238123"/>
                  </a:lnTo>
                  <a:lnTo>
                    <a:pt x="1632242" y="1186446"/>
                  </a:lnTo>
                  <a:lnTo>
                    <a:pt x="1632242" y="1169555"/>
                  </a:lnTo>
                  <a:lnTo>
                    <a:pt x="1567738" y="1226248"/>
                  </a:lnTo>
                  <a:lnTo>
                    <a:pt x="1557807" y="1205661"/>
                  </a:lnTo>
                  <a:lnTo>
                    <a:pt x="1557807" y="1234986"/>
                  </a:lnTo>
                  <a:lnTo>
                    <a:pt x="1507794" y="1278953"/>
                  </a:lnTo>
                  <a:lnTo>
                    <a:pt x="1498219" y="1270419"/>
                  </a:lnTo>
                  <a:lnTo>
                    <a:pt x="1498219" y="1287373"/>
                  </a:lnTo>
                  <a:lnTo>
                    <a:pt x="1436763" y="1341386"/>
                  </a:lnTo>
                  <a:lnTo>
                    <a:pt x="1427226" y="1327238"/>
                  </a:lnTo>
                  <a:lnTo>
                    <a:pt x="1427226" y="1349781"/>
                  </a:lnTo>
                  <a:lnTo>
                    <a:pt x="1251470" y="1504289"/>
                  </a:lnTo>
                  <a:lnTo>
                    <a:pt x="1392085" y="1297660"/>
                  </a:lnTo>
                  <a:lnTo>
                    <a:pt x="1427226" y="1349781"/>
                  </a:lnTo>
                  <a:lnTo>
                    <a:pt x="1427226" y="1327238"/>
                  </a:lnTo>
                  <a:lnTo>
                    <a:pt x="1399730" y="1286446"/>
                  </a:lnTo>
                  <a:lnTo>
                    <a:pt x="1436560" y="1232319"/>
                  </a:lnTo>
                  <a:lnTo>
                    <a:pt x="1498219" y="1287373"/>
                  </a:lnTo>
                  <a:lnTo>
                    <a:pt x="1498219" y="1270419"/>
                  </a:lnTo>
                  <a:lnTo>
                    <a:pt x="1443736" y="1221778"/>
                  </a:lnTo>
                  <a:lnTo>
                    <a:pt x="1506778" y="1129131"/>
                  </a:lnTo>
                  <a:lnTo>
                    <a:pt x="1557807" y="1234986"/>
                  </a:lnTo>
                  <a:lnTo>
                    <a:pt x="1557807" y="1205661"/>
                  </a:lnTo>
                  <a:lnTo>
                    <a:pt x="1519936" y="1127112"/>
                  </a:lnTo>
                  <a:lnTo>
                    <a:pt x="1639443" y="1163218"/>
                  </a:lnTo>
                  <a:lnTo>
                    <a:pt x="1639443" y="1129957"/>
                  </a:lnTo>
                  <a:lnTo>
                    <a:pt x="1637284" y="1126756"/>
                  </a:lnTo>
                  <a:lnTo>
                    <a:pt x="1637284" y="1149273"/>
                  </a:lnTo>
                  <a:lnTo>
                    <a:pt x="1517650" y="1113155"/>
                  </a:lnTo>
                  <a:lnTo>
                    <a:pt x="1565503" y="1042835"/>
                  </a:lnTo>
                  <a:lnTo>
                    <a:pt x="1637284" y="1149273"/>
                  </a:lnTo>
                  <a:lnTo>
                    <a:pt x="1637284" y="1126756"/>
                  </a:lnTo>
                  <a:lnTo>
                    <a:pt x="1573149" y="1031608"/>
                  </a:lnTo>
                  <a:lnTo>
                    <a:pt x="1653324" y="913777"/>
                  </a:lnTo>
                  <a:lnTo>
                    <a:pt x="1730933" y="983081"/>
                  </a:lnTo>
                  <a:lnTo>
                    <a:pt x="1730933" y="966038"/>
                  </a:lnTo>
                  <a:lnTo>
                    <a:pt x="1665351" y="907503"/>
                  </a:lnTo>
                  <a:lnTo>
                    <a:pt x="1784273" y="873188"/>
                  </a:lnTo>
                  <a:lnTo>
                    <a:pt x="1784273" y="859967"/>
                  </a:lnTo>
                  <a:lnTo>
                    <a:pt x="1666887" y="893838"/>
                  </a:lnTo>
                  <a:lnTo>
                    <a:pt x="1799221" y="699389"/>
                  </a:lnTo>
                  <a:lnTo>
                    <a:pt x="1859749" y="717677"/>
                  </a:lnTo>
                  <a:lnTo>
                    <a:pt x="1859749" y="704392"/>
                  </a:lnTo>
                  <a:lnTo>
                    <a:pt x="1806714" y="688365"/>
                  </a:lnTo>
                  <a:lnTo>
                    <a:pt x="2041232" y="343738"/>
                  </a:lnTo>
                  <a:lnTo>
                    <a:pt x="2041232" y="259448"/>
                  </a:lnTo>
                  <a:lnTo>
                    <a:pt x="2036152" y="258508"/>
                  </a:lnTo>
                  <a:lnTo>
                    <a:pt x="2036152" y="328485"/>
                  </a:lnTo>
                  <a:lnTo>
                    <a:pt x="1793938" y="684517"/>
                  </a:lnTo>
                  <a:lnTo>
                    <a:pt x="1786432" y="682256"/>
                  </a:lnTo>
                  <a:lnTo>
                    <a:pt x="1786432" y="695528"/>
                  </a:lnTo>
                  <a:lnTo>
                    <a:pt x="1650961" y="894664"/>
                  </a:lnTo>
                  <a:lnTo>
                    <a:pt x="1639773" y="884682"/>
                  </a:lnTo>
                  <a:lnTo>
                    <a:pt x="1639773" y="901661"/>
                  </a:lnTo>
                  <a:lnTo>
                    <a:pt x="1636572" y="902589"/>
                  </a:lnTo>
                  <a:lnTo>
                    <a:pt x="1636572" y="915809"/>
                  </a:lnTo>
                  <a:lnTo>
                    <a:pt x="1565503" y="1020279"/>
                  </a:lnTo>
                  <a:lnTo>
                    <a:pt x="1557870" y="1008964"/>
                  </a:lnTo>
                  <a:lnTo>
                    <a:pt x="1557870" y="1031506"/>
                  </a:lnTo>
                  <a:lnTo>
                    <a:pt x="1508683" y="1103795"/>
                  </a:lnTo>
                  <a:lnTo>
                    <a:pt x="1497444" y="1080490"/>
                  </a:lnTo>
                  <a:lnTo>
                    <a:pt x="1497444" y="1120330"/>
                  </a:lnTo>
                  <a:lnTo>
                    <a:pt x="1434198" y="1213269"/>
                  </a:lnTo>
                  <a:lnTo>
                    <a:pt x="1427035" y="1206881"/>
                  </a:lnTo>
                  <a:lnTo>
                    <a:pt x="1427035" y="1223810"/>
                  </a:lnTo>
                  <a:lnTo>
                    <a:pt x="1392110" y="1275143"/>
                  </a:lnTo>
                  <a:lnTo>
                    <a:pt x="1252347" y="1067854"/>
                  </a:lnTo>
                  <a:lnTo>
                    <a:pt x="1427035" y="1223810"/>
                  </a:lnTo>
                  <a:lnTo>
                    <a:pt x="1427035" y="1206881"/>
                  </a:lnTo>
                  <a:lnTo>
                    <a:pt x="1244473" y="1043940"/>
                  </a:lnTo>
                  <a:lnTo>
                    <a:pt x="1497444" y="1120330"/>
                  </a:lnTo>
                  <a:lnTo>
                    <a:pt x="1497444" y="1080490"/>
                  </a:lnTo>
                  <a:lnTo>
                    <a:pt x="1495907" y="1077302"/>
                  </a:lnTo>
                  <a:lnTo>
                    <a:pt x="1495907" y="1106589"/>
                  </a:lnTo>
                  <a:lnTo>
                    <a:pt x="1241577" y="1029792"/>
                  </a:lnTo>
                  <a:lnTo>
                    <a:pt x="1432344" y="974750"/>
                  </a:lnTo>
                  <a:lnTo>
                    <a:pt x="1495907" y="1106589"/>
                  </a:lnTo>
                  <a:lnTo>
                    <a:pt x="1495907" y="1077302"/>
                  </a:lnTo>
                  <a:lnTo>
                    <a:pt x="1444739" y="971169"/>
                  </a:lnTo>
                  <a:lnTo>
                    <a:pt x="1505394" y="953668"/>
                  </a:lnTo>
                  <a:lnTo>
                    <a:pt x="1557870" y="1031506"/>
                  </a:lnTo>
                  <a:lnTo>
                    <a:pt x="1557870" y="1008964"/>
                  </a:lnTo>
                  <a:lnTo>
                    <a:pt x="1518119" y="949985"/>
                  </a:lnTo>
                  <a:lnTo>
                    <a:pt x="1636572" y="915809"/>
                  </a:lnTo>
                  <a:lnTo>
                    <a:pt x="1636572" y="902589"/>
                  </a:lnTo>
                  <a:lnTo>
                    <a:pt x="1510665" y="938923"/>
                  </a:lnTo>
                  <a:lnTo>
                    <a:pt x="1497939" y="920051"/>
                  </a:lnTo>
                  <a:lnTo>
                    <a:pt x="1497939" y="942594"/>
                  </a:lnTo>
                  <a:lnTo>
                    <a:pt x="1439138" y="959561"/>
                  </a:lnTo>
                  <a:lnTo>
                    <a:pt x="1426743" y="933856"/>
                  </a:lnTo>
                  <a:lnTo>
                    <a:pt x="1426743" y="963142"/>
                  </a:lnTo>
                  <a:lnTo>
                    <a:pt x="1243685" y="1015974"/>
                  </a:lnTo>
                  <a:lnTo>
                    <a:pt x="1390142" y="887209"/>
                  </a:lnTo>
                  <a:lnTo>
                    <a:pt x="1426743" y="963142"/>
                  </a:lnTo>
                  <a:lnTo>
                    <a:pt x="1426743" y="933856"/>
                  </a:lnTo>
                  <a:lnTo>
                    <a:pt x="1400060" y="878497"/>
                  </a:lnTo>
                  <a:lnTo>
                    <a:pt x="1434376" y="848321"/>
                  </a:lnTo>
                  <a:lnTo>
                    <a:pt x="1497939" y="942594"/>
                  </a:lnTo>
                  <a:lnTo>
                    <a:pt x="1497939" y="920051"/>
                  </a:lnTo>
                  <a:lnTo>
                    <a:pt x="1443926" y="839939"/>
                  </a:lnTo>
                  <a:lnTo>
                    <a:pt x="1507756" y="783805"/>
                  </a:lnTo>
                  <a:lnTo>
                    <a:pt x="1639773" y="901661"/>
                  </a:lnTo>
                  <a:lnTo>
                    <a:pt x="1639773" y="884682"/>
                  </a:lnTo>
                  <a:lnTo>
                    <a:pt x="1517332" y="775398"/>
                  </a:lnTo>
                  <a:lnTo>
                    <a:pt x="1653743" y="655459"/>
                  </a:lnTo>
                  <a:lnTo>
                    <a:pt x="1786432" y="695528"/>
                  </a:lnTo>
                  <a:lnTo>
                    <a:pt x="1786432" y="682256"/>
                  </a:lnTo>
                  <a:lnTo>
                    <a:pt x="1664995" y="645579"/>
                  </a:lnTo>
                  <a:lnTo>
                    <a:pt x="2029409" y="325208"/>
                  </a:lnTo>
                  <a:lnTo>
                    <a:pt x="2036152" y="328485"/>
                  </a:lnTo>
                  <a:lnTo>
                    <a:pt x="2036152" y="258508"/>
                  </a:lnTo>
                  <a:lnTo>
                    <a:pt x="2020049" y="255524"/>
                  </a:lnTo>
                  <a:lnTo>
                    <a:pt x="2020049" y="316534"/>
                  </a:lnTo>
                  <a:lnTo>
                    <a:pt x="1650695" y="641261"/>
                  </a:lnTo>
                  <a:lnTo>
                    <a:pt x="1639443" y="637870"/>
                  </a:lnTo>
                  <a:lnTo>
                    <a:pt x="1639443" y="651141"/>
                  </a:lnTo>
                  <a:lnTo>
                    <a:pt x="1507794" y="766889"/>
                  </a:lnTo>
                  <a:lnTo>
                    <a:pt x="1498219" y="758355"/>
                  </a:lnTo>
                  <a:lnTo>
                    <a:pt x="1498219" y="775296"/>
                  </a:lnTo>
                  <a:lnTo>
                    <a:pt x="1436763" y="829322"/>
                  </a:lnTo>
                  <a:lnTo>
                    <a:pt x="1427226" y="815187"/>
                  </a:lnTo>
                  <a:lnTo>
                    <a:pt x="1427226" y="837717"/>
                  </a:lnTo>
                  <a:lnTo>
                    <a:pt x="1394333" y="866635"/>
                  </a:lnTo>
                  <a:lnTo>
                    <a:pt x="1262824" y="593890"/>
                  </a:lnTo>
                  <a:lnTo>
                    <a:pt x="1427226" y="837717"/>
                  </a:lnTo>
                  <a:lnTo>
                    <a:pt x="1427226" y="815187"/>
                  </a:lnTo>
                  <a:lnTo>
                    <a:pt x="1252334" y="555790"/>
                  </a:lnTo>
                  <a:lnTo>
                    <a:pt x="1498219" y="775296"/>
                  </a:lnTo>
                  <a:lnTo>
                    <a:pt x="1498219" y="758355"/>
                  </a:lnTo>
                  <a:lnTo>
                    <a:pt x="1244460" y="531876"/>
                  </a:lnTo>
                  <a:lnTo>
                    <a:pt x="1639443" y="651141"/>
                  </a:lnTo>
                  <a:lnTo>
                    <a:pt x="1639443" y="637870"/>
                  </a:lnTo>
                  <a:lnTo>
                    <a:pt x="1241577" y="517728"/>
                  </a:lnTo>
                  <a:lnTo>
                    <a:pt x="2009013" y="296252"/>
                  </a:lnTo>
                  <a:lnTo>
                    <a:pt x="2016734" y="305028"/>
                  </a:lnTo>
                  <a:lnTo>
                    <a:pt x="2016937" y="305765"/>
                  </a:lnTo>
                  <a:lnTo>
                    <a:pt x="2010918" y="309118"/>
                  </a:lnTo>
                  <a:lnTo>
                    <a:pt x="2019617" y="315061"/>
                  </a:lnTo>
                  <a:lnTo>
                    <a:pt x="2020049" y="316534"/>
                  </a:lnTo>
                  <a:lnTo>
                    <a:pt x="2020049" y="255524"/>
                  </a:lnTo>
                  <a:lnTo>
                    <a:pt x="2001520" y="252095"/>
                  </a:lnTo>
                  <a:lnTo>
                    <a:pt x="2010308" y="282663"/>
                  </a:lnTo>
                  <a:lnTo>
                    <a:pt x="1217168" y="511556"/>
                  </a:lnTo>
                  <a:lnTo>
                    <a:pt x="1218882" y="517563"/>
                  </a:lnTo>
                  <a:lnTo>
                    <a:pt x="1213231" y="520319"/>
                  </a:lnTo>
                  <a:lnTo>
                    <a:pt x="1384427" y="875347"/>
                  </a:lnTo>
                  <a:lnTo>
                    <a:pt x="1214755" y="1024509"/>
                  </a:lnTo>
                  <a:lnTo>
                    <a:pt x="1218742" y="1029055"/>
                  </a:lnTo>
                  <a:lnTo>
                    <a:pt x="1218882" y="1029627"/>
                  </a:lnTo>
                  <a:lnTo>
                    <a:pt x="1213739" y="1033145"/>
                  </a:lnTo>
                  <a:lnTo>
                    <a:pt x="1384477" y="1286370"/>
                  </a:lnTo>
                  <a:lnTo>
                    <a:pt x="1213739" y="1537335"/>
                  </a:lnTo>
                  <a:lnTo>
                    <a:pt x="1217955" y="1540230"/>
                  </a:lnTo>
                  <a:lnTo>
                    <a:pt x="1218755" y="1541145"/>
                  </a:lnTo>
                  <a:lnTo>
                    <a:pt x="1218907" y="1541703"/>
                  </a:lnTo>
                  <a:lnTo>
                    <a:pt x="1214755" y="1546352"/>
                  </a:lnTo>
                  <a:lnTo>
                    <a:pt x="1384160" y="1697596"/>
                  </a:lnTo>
                  <a:lnTo>
                    <a:pt x="1213231" y="2049780"/>
                  </a:lnTo>
                  <a:lnTo>
                    <a:pt x="1216774" y="2051481"/>
                  </a:lnTo>
                  <a:lnTo>
                    <a:pt x="1217980" y="2052307"/>
                  </a:lnTo>
                  <a:lnTo>
                    <a:pt x="1218742" y="2053196"/>
                  </a:lnTo>
                  <a:lnTo>
                    <a:pt x="1218920" y="2053805"/>
                  </a:lnTo>
                  <a:lnTo>
                    <a:pt x="1217168" y="2059813"/>
                  </a:lnTo>
                  <a:lnTo>
                    <a:pt x="2010473" y="2299360"/>
                  </a:lnTo>
                  <a:lnTo>
                    <a:pt x="2001266" y="2329815"/>
                  </a:lnTo>
                  <a:lnTo>
                    <a:pt x="2085340" y="2315337"/>
                  </a:lnTo>
                  <a:lnTo>
                    <a:pt x="2084578" y="2314625"/>
                  </a:lnTo>
                  <a:lnTo>
                    <a:pt x="2085340" y="2314829"/>
                  </a:lnTo>
                  <a:lnTo>
                    <a:pt x="2085136" y="2314346"/>
                  </a:lnTo>
                  <a:lnTo>
                    <a:pt x="2085340" y="2314448"/>
                  </a:lnTo>
                  <a:lnTo>
                    <a:pt x="2085263" y="2313889"/>
                  </a:lnTo>
                  <a:lnTo>
                    <a:pt x="2086038" y="2261870"/>
                  </a:lnTo>
                  <a:lnTo>
                    <a:pt x="2086063" y="2259584"/>
                  </a:lnTo>
                  <a:lnTo>
                    <a:pt x="2086483" y="2228850"/>
                  </a:lnTo>
                  <a:close/>
                </a:path>
                <a:path w="4320540" h="2571115">
                  <a:moveTo>
                    <a:pt x="3169158" y="599440"/>
                  </a:moveTo>
                  <a:lnTo>
                    <a:pt x="3167253" y="570611"/>
                  </a:lnTo>
                  <a:lnTo>
                    <a:pt x="3163570" y="514477"/>
                  </a:lnTo>
                  <a:lnTo>
                    <a:pt x="3160331" y="514070"/>
                  </a:lnTo>
                  <a:lnTo>
                    <a:pt x="3163570" y="513588"/>
                  </a:lnTo>
                  <a:lnTo>
                    <a:pt x="3149638" y="499872"/>
                  </a:lnTo>
                  <a:lnTo>
                    <a:pt x="3120720" y="471373"/>
                  </a:lnTo>
                  <a:lnTo>
                    <a:pt x="3120720" y="600075"/>
                  </a:lnTo>
                  <a:lnTo>
                    <a:pt x="3010433" y="862799"/>
                  </a:lnTo>
                  <a:lnTo>
                    <a:pt x="3005137" y="857504"/>
                  </a:lnTo>
                  <a:lnTo>
                    <a:pt x="3005137" y="875411"/>
                  </a:lnTo>
                  <a:lnTo>
                    <a:pt x="2971177" y="956310"/>
                  </a:lnTo>
                  <a:lnTo>
                    <a:pt x="2966237" y="954709"/>
                  </a:lnTo>
                  <a:lnTo>
                    <a:pt x="2966237" y="968057"/>
                  </a:lnTo>
                  <a:lnTo>
                    <a:pt x="2910814" y="1100099"/>
                  </a:lnTo>
                  <a:lnTo>
                    <a:pt x="2902801" y="1086650"/>
                  </a:lnTo>
                  <a:lnTo>
                    <a:pt x="2902801" y="1111491"/>
                  </a:lnTo>
                  <a:lnTo>
                    <a:pt x="2899956" y="1112494"/>
                  </a:lnTo>
                  <a:lnTo>
                    <a:pt x="2899956" y="1125943"/>
                  </a:lnTo>
                  <a:lnTo>
                    <a:pt x="2859113" y="1223225"/>
                  </a:lnTo>
                  <a:lnTo>
                    <a:pt x="2853842" y="1217942"/>
                  </a:lnTo>
                  <a:lnTo>
                    <a:pt x="2853842" y="1235798"/>
                  </a:lnTo>
                  <a:lnTo>
                    <a:pt x="2839732" y="1269403"/>
                  </a:lnTo>
                  <a:lnTo>
                    <a:pt x="2832836" y="1253147"/>
                  </a:lnTo>
                  <a:lnTo>
                    <a:pt x="2832836" y="1285824"/>
                  </a:lnTo>
                  <a:lnTo>
                    <a:pt x="2784716" y="1400454"/>
                  </a:lnTo>
                  <a:lnTo>
                    <a:pt x="2774315" y="1382991"/>
                  </a:lnTo>
                  <a:lnTo>
                    <a:pt x="2774315" y="1417701"/>
                  </a:lnTo>
                  <a:lnTo>
                    <a:pt x="2766453" y="1425790"/>
                  </a:lnTo>
                  <a:lnTo>
                    <a:pt x="2766453" y="1443951"/>
                  </a:lnTo>
                  <a:lnTo>
                    <a:pt x="2707805" y="1583651"/>
                  </a:lnTo>
                  <a:lnTo>
                    <a:pt x="2702534" y="1578368"/>
                  </a:lnTo>
                  <a:lnTo>
                    <a:pt x="2702534" y="1596224"/>
                  </a:lnTo>
                  <a:lnTo>
                    <a:pt x="2654414" y="1710855"/>
                  </a:lnTo>
                  <a:lnTo>
                    <a:pt x="2647785" y="1713191"/>
                  </a:lnTo>
                  <a:lnTo>
                    <a:pt x="2647785" y="1726641"/>
                  </a:lnTo>
                  <a:lnTo>
                    <a:pt x="2592908" y="1857349"/>
                  </a:lnTo>
                  <a:lnTo>
                    <a:pt x="2428278" y="1803781"/>
                  </a:lnTo>
                  <a:lnTo>
                    <a:pt x="2647785" y="1726641"/>
                  </a:lnTo>
                  <a:lnTo>
                    <a:pt x="2647785" y="1713191"/>
                  </a:lnTo>
                  <a:lnTo>
                    <a:pt x="2430361" y="1789595"/>
                  </a:lnTo>
                  <a:lnTo>
                    <a:pt x="2659926" y="1553502"/>
                  </a:lnTo>
                  <a:lnTo>
                    <a:pt x="2702534" y="1596224"/>
                  </a:lnTo>
                  <a:lnTo>
                    <a:pt x="2702534" y="1578368"/>
                  </a:lnTo>
                  <a:lnTo>
                    <a:pt x="2668714" y="1544459"/>
                  </a:lnTo>
                  <a:lnTo>
                    <a:pt x="2766453" y="1443951"/>
                  </a:lnTo>
                  <a:lnTo>
                    <a:pt x="2766453" y="1425790"/>
                  </a:lnTo>
                  <a:lnTo>
                    <a:pt x="2659773" y="1535493"/>
                  </a:lnTo>
                  <a:lnTo>
                    <a:pt x="2650985" y="1526692"/>
                  </a:lnTo>
                  <a:lnTo>
                    <a:pt x="2650985" y="1544535"/>
                  </a:lnTo>
                  <a:lnTo>
                    <a:pt x="2438882" y="1762658"/>
                  </a:lnTo>
                  <a:lnTo>
                    <a:pt x="2597975" y="1491386"/>
                  </a:lnTo>
                  <a:lnTo>
                    <a:pt x="2650985" y="1544535"/>
                  </a:lnTo>
                  <a:lnTo>
                    <a:pt x="2650985" y="1526692"/>
                  </a:lnTo>
                  <a:lnTo>
                    <a:pt x="2604566" y="1480159"/>
                  </a:lnTo>
                  <a:lnTo>
                    <a:pt x="2662517" y="1381340"/>
                  </a:lnTo>
                  <a:lnTo>
                    <a:pt x="2774315" y="1417701"/>
                  </a:lnTo>
                  <a:lnTo>
                    <a:pt x="2774315" y="1382991"/>
                  </a:lnTo>
                  <a:lnTo>
                    <a:pt x="2771737" y="1378661"/>
                  </a:lnTo>
                  <a:lnTo>
                    <a:pt x="2771737" y="1403464"/>
                  </a:lnTo>
                  <a:lnTo>
                    <a:pt x="2669121" y="1370088"/>
                  </a:lnTo>
                  <a:lnTo>
                    <a:pt x="2710167" y="1300099"/>
                  </a:lnTo>
                  <a:lnTo>
                    <a:pt x="2771737" y="1403464"/>
                  </a:lnTo>
                  <a:lnTo>
                    <a:pt x="2771737" y="1378661"/>
                  </a:lnTo>
                  <a:lnTo>
                    <a:pt x="2717508" y="1287576"/>
                  </a:lnTo>
                  <a:lnTo>
                    <a:pt x="2784856" y="1172743"/>
                  </a:lnTo>
                  <a:lnTo>
                    <a:pt x="2832836" y="1285824"/>
                  </a:lnTo>
                  <a:lnTo>
                    <a:pt x="2832836" y="1253147"/>
                  </a:lnTo>
                  <a:lnTo>
                    <a:pt x="2804477" y="1186294"/>
                  </a:lnTo>
                  <a:lnTo>
                    <a:pt x="2853842" y="1235798"/>
                  </a:lnTo>
                  <a:lnTo>
                    <a:pt x="2853842" y="1217942"/>
                  </a:lnTo>
                  <a:lnTo>
                    <a:pt x="2797860" y="1161821"/>
                  </a:lnTo>
                  <a:lnTo>
                    <a:pt x="2899956" y="1125943"/>
                  </a:lnTo>
                  <a:lnTo>
                    <a:pt x="2899956" y="1112494"/>
                  </a:lnTo>
                  <a:lnTo>
                    <a:pt x="2799499" y="1147787"/>
                  </a:lnTo>
                  <a:lnTo>
                    <a:pt x="2861475" y="1042111"/>
                  </a:lnTo>
                  <a:lnTo>
                    <a:pt x="2902801" y="1111491"/>
                  </a:lnTo>
                  <a:lnTo>
                    <a:pt x="2902801" y="1086650"/>
                  </a:lnTo>
                  <a:lnTo>
                    <a:pt x="2868828" y="1029576"/>
                  </a:lnTo>
                  <a:lnTo>
                    <a:pt x="2914726" y="951306"/>
                  </a:lnTo>
                  <a:lnTo>
                    <a:pt x="2966237" y="968057"/>
                  </a:lnTo>
                  <a:lnTo>
                    <a:pt x="2966237" y="954709"/>
                  </a:lnTo>
                  <a:lnTo>
                    <a:pt x="2921317" y="940079"/>
                  </a:lnTo>
                  <a:lnTo>
                    <a:pt x="2976232" y="846442"/>
                  </a:lnTo>
                  <a:lnTo>
                    <a:pt x="3005137" y="875411"/>
                  </a:lnTo>
                  <a:lnTo>
                    <a:pt x="3005137" y="857504"/>
                  </a:lnTo>
                  <a:lnTo>
                    <a:pt x="2982849" y="835152"/>
                  </a:lnTo>
                  <a:lnTo>
                    <a:pt x="3120720" y="600075"/>
                  </a:lnTo>
                  <a:lnTo>
                    <a:pt x="3120720" y="471373"/>
                  </a:lnTo>
                  <a:lnTo>
                    <a:pt x="3118764" y="469442"/>
                  </a:lnTo>
                  <a:lnTo>
                    <a:pt x="3118764" y="578319"/>
                  </a:lnTo>
                  <a:lnTo>
                    <a:pt x="2973590" y="825881"/>
                  </a:lnTo>
                  <a:lnTo>
                    <a:pt x="2966974" y="819251"/>
                  </a:lnTo>
                  <a:lnTo>
                    <a:pt x="2966974" y="837158"/>
                  </a:lnTo>
                  <a:lnTo>
                    <a:pt x="2908973" y="936066"/>
                  </a:lnTo>
                  <a:lnTo>
                    <a:pt x="2902394" y="933932"/>
                  </a:lnTo>
                  <a:lnTo>
                    <a:pt x="2902394" y="947293"/>
                  </a:lnTo>
                  <a:lnTo>
                    <a:pt x="2861424" y="1017155"/>
                  </a:lnTo>
                  <a:lnTo>
                    <a:pt x="2854071" y="1004811"/>
                  </a:lnTo>
                  <a:lnTo>
                    <a:pt x="2854071" y="1029690"/>
                  </a:lnTo>
                  <a:lnTo>
                    <a:pt x="2786723" y="1144536"/>
                  </a:lnTo>
                  <a:lnTo>
                    <a:pt x="2774734" y="1116291"/>
                  </a:lnTo>
                  <a:lnTo>
                    <a:pt x="2774734" y="1156500"/>
                  </a:lnTo>
                  <a:lnTo>
                    <a:pt x="2771063" y="1157795"/>
                  </a:lnTo>
                  <a:lnTo>
                    <a:pt x="2771063" y="1171232"/>
                  </a:lnTo>
                  <a:lnTo>
                    <a:pt x="2710116" y="1275156"/>
                  </a:lnTo>
                  <a:lnTo>
                    <a:pt x="2702776" y="1262837"/>
                  </a:lnTo>
                  <a:lnTo>
                    <a:pt x="2702776" y="1287678"/>
                  </a:lnTo>
                  <a:lnTo>
                    <a:pt x="2656802" y="1366075"/>
                  </a:lnTo>
                  <a:lnTo>
                    <a:pt x="2650198" y="1363929"/>
                  </a:lnTo>
                  <a:lnTo>
                    <a:pt x="2650198" y="1377327"/>
                  </a:lnTo>
                  <a:lnTo>
                    <a:pt x="2595321" y="1470914"/>
                  </a:lnTo>
                  <a:lnTo>
                    <a:pt x="2430729" y="1305941"/>
                  </a:lnTo>
                  <a:lnTo>
                    <a:pt x="2650198" y="1377327"/>
                  </a:lnTo>
                  <a:lnTo>
                    <a:pt x="2650198" y="1363929"/>
                  </a:lnTo>
                  <a:lnTo>
                    <a:pt x="2428278" y="1291717"/>
                  </a:lnTo>
                  <a:lnTo>
                    <a:pt x="2657259" y="1211237"/>
                  </a:lnTo>
                  <a:lnTo>
                    <a:pt x="2702776" y="1287678"/>
                  </a:lnTo>
                  <a:lnTo>
                    <a:pt x="2702776" y="1262837"/>
                  </a:lnTo>
                  <a:lnTo>
                    <a:pt x="2669502" y="1206931"/>
                  </a:lnTo>
                  <a:lnTo>
                    <a:pt x="2771063" y="1171232"/>
                  </a:lnTo>
                  <a:lnTo>
                    <a:pt x="2771063" y="1157795"/>
                  </a:lnTo>
                  <a:lnTo>
                    <a:pt x="2662872" y="1195806"/>
                  </a:lnTo>
                  <a:lnTo>
                    <a:pt x="2650629" y="1175245"/>
                  </a:lnTo>
                  <a:lnTo>
                    <a:pt x="2650629" y="1200111"/>
                  </a:lnTo>
                  <a:lnTo>
                    <a:pt x="2430361" y="1277531"/>
                  </a:lnTo>
                  <a:lnTo>
                    <a:pt x="2595562" y="1107630"/>
                  </a:lnTo>
                  <a:lnTo>
                    <a:pt x="2650629" y="1200111"/>
                  </a:lnTo>
                  <a:lnTo>
                    <a:pt x="2650629" y="1175245"/>
                  </a:lnTo>
                  <a:lnTo>
                    <a:pt x="2604744" y="1098181"/>
                  </a:lnTo>
                  <a:lnTo>
                    <a:pt x="2659938" y="1041438"/>
                  </a:lnTo>
                  <a:lnTo>
                    <a:pt x="2774734" y="1156500"/>
                  </a:lnTo>
                  <a:lnTo>
                    <a:pt x="2774734" y="1116291"/>
                  </a:lnTo>
                  <a:lnTo>
                    <a:pt x="2767203" y="1098537"/>
                  </a:lnTo>
                  <a:lnTo>
                    <a:pt x="2767203" y="1131087"/>
                  </a:lnTo>
                  <a:lnTo>
                    <a:pt x="2668714" y="1032395"/>
                  </a:lnTo>
                  <a:lnTo>
                    <a:pt x="2708110" y="991882"/>
                  </a:lnTo>
                  <a:lnTo>
                    <a:pt x="2767203" y="1131087"/>
                  </a:lnTo>
                  <a:lnTo>
                    <a:pt x="2767203" y="1098537"/>
                  </a:lnTo>
                  <a:lnTo>
                    <a:pt x="2717749" y="981976"/>
                  </a:lnTo>
                  <a:lnTo>
                    <a:pt x="2784678" y="913142"/>
                  </a:lnTo>
                  <a:lnTo>
                    <a:pt x="2854071" y="1029690"/>
                  </a:lnTo>
                  <a:lnTo>
                    <a:pt x="2854071" y="1004811"/>
                  </a:lnTo>
                  <a:lnTo>
                    <a:pt x="2800007" y="913993"/>
                  </a:lnTo>
                  <a:lnTo>
                    <a:pt x="2902394" y="947293"/>
                  </a:lnTo>
                  <a:lnTo>
                    <a:pt x="2902394" y="933932"/>
                  </a:lnTo>
                  <a:lnTo>
                    <a:pt x="2797619" y="899833"/>
                  </a:lnTo>
                  <a:lnTo>
                    <a:pt x="2912084" y="782129"/>
                  </a:lnTo>
                  <a:lnTo>
                    <a:pt x="2966974" y="837158"/>
                  </a:lnTo>
                  <a:lnTo>
                    <a:pt x="2966974" y="819251"/>
                  </a:lnTo>
                  <a:lnTo>
                    <a:pt x="2920898" y="773061"/>
                  </a:lnTo>
                  <a:lnTo>
                    <a:pt x="3112732" y="575779"/>
                  </a:lnTo>
                  <a:lnTo>
                    <a:pt x="3118764" y="578319"/>
                  </a:lnTo>
                  <a:lnTo>
                    <a:pt x="3118764" y="469442"/>
                  </a:lnTo>
                  <a:lnTo>
                    <a:pt x="3102864" y="453771"/>
                  </a:lnTo>
                  <a:lnTo>
                    <a:pt x="3101467" y="458050"/>
                  </a:lnTo>
                  <a:lnTo>
                    <a:pt x="3101467" y="567791"/>
                  </a:lnTo>
                  <a:lnTo>
                    <a:pt x="3098927" y="569976"/>
                  </a:lnTo>
                  <a:lnTo>
                    <a:pt x="3100184" y="570509"/>
                  </a:lnTo>
                  <a:lnTo>
                    <a:pt x="2911957" y="764095"/>
                  </a:lnTo>
                  <a:lnTo>
                    <a:pt x="2903143" y="755269"/>
                  </a:lnTo>
                  <a:lnTo>
                    <a:pt x="2903143" y="773163"/>
                  </a:lnTo>
                  <a:lnTo>
                    <a:pt x="2787154" y="892429"/>
                  </a:lnTo>
                  <a:lnTo>
                    <a:pt x="2774315" y="870864"/>
                  </a:lnTo>
                  <a:lnTo>
                    <a:pt x="2774315" y="905637"/>
                  </a:lnTo>
                  <a:lnTo>
                    <a:pt x="2712377" y="969327"/>
                  </a:lnTo>
                  <a:lnTo>
                    <a:pt x="2702750" y="946645"/>
                  </a:lnTo>
                  <a:lnTo>
                    <a:pt x="2702750" y="979233"/>
                  </a:lnTo>
                  <a:lnTo>
                    <a:pt x="2659773" y="1023442"/>
                  </a:lnTo>
                  <a:lnTo>
                    <a:pt x="2650985" y="1014641"/>
                  </a:lnTo>
                  <a:lnTo>
                    <a:pt x="2650985" y="1032471"/>
                  </a:lnTo>
                  <a:lnTo>
                    <a:pt x="2598039" y="1086916"/>
                  </a:lnTo>
                  <a:lnTo>
                    <a:pt x="2439212" y="820191"/>
                  </a:lnTo>
                  <a:lnTo>
                    <a:pt x="2650985" y="1032471"/>
                  </a:lnTo>
                  <a:lnTo>
                    <a:pt x="2650985" y="1014641"/>
                  </a:lnTo>
                  <a:lnTo>
                    <a:pt x="2430742" y="793902"/>
                  </a:lnTo>
                  <a:lnTo>
                    <a:pt x="2655062" y="866851"/>
                  </a:lnTo>
                  <a:lnTo>
                    <a:pt x="2702750" y="979233"/>
                  </a:lnTo>
                  <a:lnTo>
                    <a:pt x="2702750" y="946645"/>
                  </a:lnTo>
                  <a:lnTo>
                    <a:pt x="2671114" y="872070"/>
                  </a:lnTo>
                  <a:lnTo>
                    <a:pt x="2774315" y="905637"/>
                  </a:lnTo>
                  <a:lnTo>
                    <a:pt x="2774315" y="870864"/>
                  </a:lnTo>
                  <a:lnTo>
                    <a:pt x="2771737" y="866546"/>
                  </a:lnTo>
                  <a:lnTo>
                    <a:pt x="2771737" y="891400"/>
                  </a:lnTo>
                  <a:lnTo>
                    <a:pt x="2664510" y="856513"/>
                  </a:lnTo>
                  <a:lnTo>
                    <a:pt x="2648458" y="818692"/>
                  </a:lnTo>
                  <a:lnTo>
                    <a:pt x="2648458" y="851293"/>
                  </a:lnTo>
                  <a:lnTo>
                    <a:pt x="2428278" y="779653"/>
                  </a:lnTo>
                  <a:lnTo>
                    <a:pt x="2593429" y="721601"/>
                  </a:lnTo>
                  <a:lnTo>
                    <a:pt x="2648458" y="851293"/>
                  </a:lnTo>
                  <a:lnTo>
                    <a:pt x="2648458" y="818692"/>
                  </a:lnTo>
                  <a:lnTo>
                    <a:pt x="2605468" y="717372"/>
                  </a:lnTo>
                  <a:lnTo>
                    <a:pt x="2657259" y="699173"/>
                  </a:lnTo>
                  <a:lnTo>
                    <a:pt x="2771737" y="891400"/>
                  </a:lnTo>
                  <a:lnTo>
                    <a:pt x="2771737" y="866546"/>
                  </a:lnTo>
                  <a:lnTo>
                    <a:pt x="2669527" y="694867"/>
                  </a:lnTo>
                  <a:lnTo>
                    <a:pt x="2784665" y="654392"/>
                  </a:lnTo>
                  <a:lnTo>
                    <a:pt x="2903143" y="773163"/>
                  </a:lnTo>
                  <a:lnTo>
                    <a:pt x="2903143" y="755269"/>
                  </a:lnTo>
                  <a:lnTo>
                    <a:pt x="2797873" y="649757"/>
                  </a:lnTo>
                  <a:lnTo>
                    <a:pt x="3088322" y="547674"/>
                  </a:lnTo>
                  <a:lnTo>
                    <a:pt x="3097542" y="556615"/>
                  </a:lnTo>
                  <a:lnTo>
                    <a:pt x="3097758" y="557263"/>
                  </a:lnTo>
                  <a:lnTo>
                    <a:pt x="3092069" y="560959"/>
                  </a:lnTo>
                  <a:lnTo>
                    <a:pt x="3100882" y="566127"/>
                  </a:lnTo>
                  <a:lnTo>
                    <a:pt x="3101467" y="567791"/>
                  </a:lnTo>
                  <a:lnTo>
                    <a:pt x="3101467" y="458050"/>
                  </a:lnTo>
                  <a:lnTo>
                    <a:pt x="3093034" y="483870"/>
                  </a:lnTo>
                  <a:lnTo>
                    <a:pt x="3089516" y="482727"/>
                  </a:lnTo>
                  <a:lnTo>
                    <a:pt x="3089516" y="533793"/>
                  </a:lnTo>
                  <a:lnTo>
                    <a:pt x="2787929" y="639787"/>
                  </a:lnTo>
                  <a:lnTo>
                    <a:pt x="2774734" y="626567"/>
                  </a:lnTo>
                  <a:lnTo>
                    <a:pt x="2774734" y="644436"/>
                  </a:lnTo>
                  <a:lnTo>
                    <a:pt x="2662898" y="683729"/>
                  </a:lnTo>
                  <a:lnTo>
                    <a:pt x="2650629" y="663130"/>
                  </a:lnTo>
                  <a:lnTo>
                    <a:pt x="2650629" y="688047"/>
                  </a:lnTo>
                  <a:lnTo>
                    <a:pt x="2600490" y="705662"/>
                  </a:lnTo>
                  <a:lnTo>
                    <a:pt x="2450160" y="351434"/>
                  </a:lnTo>
                  <a:lnTo>
                    <a:pt x="2650629" y="688047"/>
                  </a:lnTo>
                  <a:lnTo>
                    <a:pt x="2650629" y="663130"/>
                  </a:lnTo>
                  <a:lnTo>
                    <a:pt x="2439238" y="308140"/>
                  </a:lnTo>
                  <a:lnTo>
                    <a:pt x="2774734" y="644436"/>
                  </a:lnTo>
                  <a:lnTo>
                    <a:pt x="2774734" y="626567"/>
                  </a:lnTo>
                  <a:lnTo>
                    <a:pt x="2430729" y="281813"/>
                  </a:lnTo>
                  <a:lnTo>
                    <a:pt x="3089097" y="495935"/>
                  </a:lnTo>
                  <a:lnTo>
                    <a:pt x="3086227" y="504723"/>
                  </a:lnTo>
                  <a:lnTo>
                    <a:pt x="3078988" y="503809"/>
                  </a:lnTo>
                  <a:lnTo>
                    <a:pt x="3082887" y="514946"/>
                  </a:lnTo>
                  <a:lnTo>
                    <a:pt x="3079242" y="526161"/>
                  </a:lnTo>
                  <a:lnTo>
                    <a:pt x="3086455" y="525094"/>
                  </a:lnTo>
                  <a:lnTo>
                    <a:pt x="3089516" y="533793"/>
                  </a:lnTo>
                  <a:lnTo>
                    <a:pt x="3089516" y="482727"/>
                  </a:lnTo>
                  <a:lnTo>
                    <a:pt x="2409571" y="261493"/>
                  </a:lnTo>
                  <a:lnTo>
                    <a:pt x="2407666" y="267589"/>
                  </a:lnTo>
                  <a:lnTo>
                    <a:pt x="2401824" y="270129"/>
                  </a:lnTo>
                  <a:lnTo>
                    <a:pt x="2588463" y="709891"/>
                  </a:lnTo>
                  <a:lnTo>
                    <a:pt x="2405507" y="774192"/>
                  </a:lnTo>
                  <a:lnTo>
                    <a:pt x="2407501" y="779754"/>
                  </a:lnTo>
                  <a:lnTo>
                    <a:pt x="2402205" y="782955"/>
                  </a:lnTo>
                  <a:lnTo>
                    <a:pt x="2588844" y="1096365"/>
                  </a:lnTo>
                  <a:lnTo>
                    <a:pt x="2403094" y="1287399"/>
                  </a:lnTo>
                  <a:lnTo>
                    <a:pt x="2407412" y="1291551"/>
                  </a:lnTo>
                  <a:lnTo>
                    <a:pt x="2407513" y="1291869"/>
                  </a:lnTo>
                  <a:lnTo>
                    <a:pt x="2403221" y="1296162"/>
                  </a:lnTo>
                  <a:lnTo>
                    <a:pt x="2588742" y="1482128"/>
                  </a:lnTo>
                  <a:lnTo>
                    <a:pt x="2402205" y="1800225"/>
                  </a:lnTo>
                  <a:lnTo>
                    <a:pt x="2406485" y="1802726"/>
                  </a:lnTo>
                  <a:lnTo>
                    <a:pt x="2407424" y="1803628"/>
                  </a:lnTo>
                  <a:lnTo>
                    <a:pt x="2407577" y="1804060"/>
                  </a:lnTo>
                  <a:lnTo>
                    <a:pt x="2405761" y="1809877"/>
                  </a:lnTo>
                  <a:lnTo>
                    <a:pt x="2587955" y="1869147"/>
                  </a:lnTo>
                  <a:lnTo>
                    <a:pt x="2401824" y="2312543"/>
                  </a:lnTo>
                  <a:lnTo>
                    <a:pt x="2404834" y="2313825"/>
                  </a:lnTo>
                  <a:lnTo>
                    <a:pt x="2406497" y="2314803"/>
                  </a:lnTo>
                  <a:lnTo>
                    <a:pt x="2407424" y="2315692"/>
                  </a:lnTo>
                  <a:lnTo>
                    <a:pt x="2409825" y="2322322"/>
                  </a:lnTo>
                  <a:lnTo>
                    <a:pt x="3093732" y="2081961"/>
                  </a:lnTo>
                  <a:lnTo>
                    <a:pt x="3104261" y="2111883"/>
                  </a:lnTo>
                  <a:lnTo>
                    <a:pt x="3148927" y="2065782"/>
                  </a:lnTo>
                  <a:lnTo>
                    <a:pt x="3163570" y="2050669"/>
                  </a:lnTo>
                  <a:lnTo>
                    <a:pt x="3160331" y="2050262"/>
                  </a:lnTo>
                  <a:lnTo>
                    <a:pt x="3163570" y="2049780"/>
                  </a:lnTo>
                  <a:lnTo>
                    <a:pt x="3162782" y="2049018"/>
                  </a:lnTo>
                  <a:lnTo>
                    <a:pt x="3163570" y="2049272"/>
                  </a:lnTo>
                  <a:lnTo>
                    <a:pt x="3163405" y="2048789"/>
                  </a:lnTo>
                  <a:lnTo>
                    <a:pt x="3163570" y="2048891"/>
                  </a:lnTo>
                  <a:lnTo>
                    <a:pt x="3163519" y="2048357"/>
                  </a:lnTo>
                  <a:lnTo>
                    <a:pt x="3166948" y="1993138"/>
                  </a:lnTo>
                  <a:lnTo>
                    <a:pt x="3166986" y="1992503"/>
                  </a:lnTo>
                  <a:lnTo>
                    <a:pt x="3168777" y="1963420"/>
                  </a:lnTo>
                  <a:lnTo>
                    <a:pt x="3157537" y="1968195"/>
                  </a:lnTo>
                  <a:lnTo>
                    <a:pt x="3157220" y="1963928"/>
                  </a:lnTo>
                  <a:lnTo>
                    <a:pt x="3139109" y="1974723"/>
                  </a:lnTo>
                  <a:lnTo>
                    <a:pt x="3137484" y="1970900"/>
                  </a:lnTo>
                  <a:lnTo>
                    <a:pt x="3136646" y="1968373"/>
                  </a:lnTo>
                  <a:lnTo>
                    <a:pt x="3136481" y="1968538"/>
                  </a:lnTo>
                  <a:lnTo>
                    <a:pt x="3121609" y="1933511"/>
                  </a:lnTo>
                  <a:lnTo>
                    <a:pt x="3121609" y="1966099"/>
                  </a:lnTo>
                  <a:lnTo>
                    <a:pt x="3118040" y="1960118"/>
                  </a:lnTo>
                  <a:lnTo>
                    <a:pt x="3118040" y="1984933"/>
                  </a:lnTo>
                  <a:lnTo>
                    <a:pt x="3111157" y="1987854"/>
                  </a:lnTo>
                  <a:lnTo>
                    <a:pt x="3101022" y="1977707"/>
                  </a:lnTo>
                  <a:lnTo>
                    <a:pt x="3101022" y="1995601"/>
                  </a:lnTo>
                  <a:lnTo>
                    <a:pt x="3100273" y="1997875"/>
                  </a:lnTo>
                  <a:lnTo>
                    <a:pt x="3091815" y="2002917"/>
                  </a:lnTo>
                  <a:lnTo>
                    <a:pt x="3097441" y="2006549"/>
                  </a:lnTo>
                  <a:lnTo>
                    <a:pt x="3096945" y="2008073"/>
                  </a:lnTo>
                  <a:lnTo>
                    <a:pt x="3089516" y="2015502"/>
                  </a:lnTo>
                  <a:lnTo>
                    <a:pt x="3089516" y="2069985"/>
                  </a:lnTo>
                  <a:lnTo>
                    <a:pt x="2430361" y="2301659"/>
                  </a:lnTo>
                  <a:lnTo>
                    <a:pt x="2787739" y="1934121"/>
                  </a:lnTo>
                  <a:lnTo>
                    <a:pt x="3089097" y="2032127"/>
                  </a:lnTo>
                  <a:lnTo>
                    <a:pt x="3086227" y="2040915"/>
                  </a:lnTo>
                  <a:lnTo>
                    <a:pt x="3078988" y="2040001"/>
                  </a:lnTo>
                  <a:lnTo>
                    <a:pt x="3082887" y="2051138"/>
                  </a:lnTo>
                  <a:lnTo>
                    <a:pt x="3079242" y="2062353"/>
                  </a:lnTo>
                  <a:lnTo>
                    <a:pt x="3086455" y="2061286"/>
                  </a:lnTo>
                  <a:lnTo>
                    <a:pt x="3089516" y="2069985"/>
                  </a:lnTo>
                  <a:lnTo>
                    <a:pt x="3089516" y="2015502"/>
                  </a:lnTo>
                  <a:lnTo>
                    <a:pt x="3086938" y="2018080"/>
                  </a:lnTo>
                  <a:lnTo>
                    <a:pt x="2797619" y="1923961"/>
                  </a:lnTo>
                  <a:lnTo>
                    <a:pt x="2912072" y="1806257"/>
                  </a:lnTo>
                  <a:lnTo>
                    <a:pt x="3101022" y="1995601"/>
                  </a:lnTo>
                  <a:lnTo>
                    <a:pt x="3101022" y="1977707"/>
                  </a:lnTo>
                  <a:lnTo>
                    <a:pt x="2920885" y="1797202"/>
                  </a:lnTo>
                  <a:lnTo>
                    <a:pt x="2973794" y="1742782"/>
                  </a:lnTo>
                  <a:lnTo>
                    <a:pt x="3118040" y="1984933"/>
                  </a:lnTo>
                  <a:lnTo>
                    <a:pt x="3118040" y="1960118"/>
                  </a:lnTo>
                  <a:lnTo>
                    <a:pt x="2982976" y="1733346"/>
                  </a:lnTo>
                  <a:lnTo>
                    <a:pt x="3010700" y="1704848"/>
                  </a:lnTo>
                  <a:lnTo>
                    <a:pt x="3121609" y="1966099"/>
                  </a:lnTo>
                  <a:lnTo>
                    <a:pt x="3121609" y="1933511"/>
                  </a:lnTo>
                  <a:lnTo>
                    <a:pt x="3020326" y="1694929"/>
                  </a:lnTo>
                  <a:lnTo>
                    <a:pt x="3114954" y="1597621"/>
                  </a:lnTo>
                  <a:lnTo>
                    <a:pt x="3137789" y="1619758"/>
                  </a:lnTo>
                  <a:lnTo>
                    <a:pt x="3150489" y="1579753"/>
                  </a:lnTo>
                  <a:lnTo>
                    <a:pt x="3163570" y="1538605"/>
                  </a:lnTo>
                  <a:lnTo>
                    <a:pt x="3160331" y="1538198"/>
                  </a:lnTo>
                  <a:lnTo>
                    <a:pt x="3163570" y="1537716"/>
                  </a:lnTo>
                  <a:lnTo>
                    <a:pt x="3162782" y="1536954"/>
                  </a:lnTo>
                  <a:lnTo>
                    <a:pt x="3163570" y="1537208"/>
                  </a:lnTo>
                  <a:lnTo>
                    <a:pt x="3163405" y="1536725"/>
                  </a:lnTo>
                  <a:lnTo>
                    <a:pt x="3163570" y="1536827"/>
                  </a:lnTo>
                  <a:lnTo>
                    <a:pt x="3159734" y="1485519"/>
                  </a:lnTo>
                  <a:lnTo>
                    <a:pt x="3157220" y="1451864"/>
                  </a:lnTo>
                  <a:lnTo>
                    <a:pt x="3138805" y="1462836"/>
                  </a:lnTo>
                  <a:lnTo>
                    <a:pt x="3136646" y="1456309"/>
                  </a:lnTo>
                  <a:lnTo>
                    <a:pt x="3128073" y="1464881"/>
                  </a:lnTo>
                  <a:lnTo>
                    <a:pt x="3118802" y="1449324"/>
                  </a:lnTo>
                  <a:lnTo>
                    <a:pt x="3118802" y="1474152"/>
                  </a:lnTo>
                  <a:lnTo>
                    <a:pt x="3117278" y="1475676"/>
                  </a:lnTo>
                  <a:lnTo>
                    <a:pt x="3113367" y="1478000"/>
                  </a:lnTo>
                  <a:lnTo>
                    <a:pt x="3101835" y="1466456"/>
                  </a:lnTo>
                  <a:lnTo>
                    <a:pt x="3101835" y="1592948"/>
                  </a:lnTo>
                  <a:lnTo>
                    <a:pt x="3014967" y="1682280"/>
                  </a:lnTo>
                  <a:lnTo>
                    <a:pt x="3005328" y="1659572"/>
                  </a:lnTo>
                  <a:lnTo>
                    <a:pt x="3005328" y="1692198"/>
                  </a:lnTo>
                  <a:lnTo>
                    <a:pt x="2976270" y="1722081"/>
                  </a:lnTo>
                  <a:lnTo>
                    <a:pt x="2967088" y="1706664"/>
                  </a:lnTo>
                  <a:lnTo>
                    <a:pt x="2967088" y="1731518"/>
                  </a:lnTo>
                  <a:lnTo>
                    <a:pt x="2911945" y="1788236"/>
                  </a:lnTo>
                  <a:lnTo>
                    <a:pt x="2903131" y="1779409"/>
                  </a:lnTo>
                  <a:lnTo>
                    <a:pt x="2903131" y="1797291"/>
                  </a:lnTo>
                  <a:lnTo>
                    <a:pt x="2784195" y="1919605"/>
                  </a:lnTo>
                  <a:lnTo>
                    <a:pt x="2774327" y="1916404"/>
                  </a:lnTo>
                  <a:lnTo>
                    <a:pt x="2774327" y="1929765"/>
                  </a:lnTo>
                  <a:lnTo>
                    <a:pt x="2438882" y="2274722"/>
                  </a:lnTo>
                  <a:lnTo>
                    <a:pt x="2662529" y="1893392"/>
                  </a:lnTo>
                  <a:lnTo>
                    <a:pt x="2774327" y="1929765"/>
                  </a:lnTo>
                  <a:lnTo>
                    <a:pt x="2774327" y="1916404"/>
                  </a:lnTo>
                  <a:lnTo>
                    <a:pt x="2669121" y="1882152"/>
                  </a:lnTo>
                  <a:lnTo>
                    <a:pt x="2787091" y="1680997"/>
                  </a:lnTo>
                  <a:lnTo>
                    <a:pt x="2903131" y="1797291"/>
                  </a:lnTo>
                  <a:lnTo>
                    <a:pt x="2903131" y="1779409"/>
                  </a:lnTo>
                  <a:lnTo>
                    <a:pt x="2797848" y="1673885"/>
                  </a:lnTo>
                  <a:lnTo>
                    <a:pt x="2909417" y="1634680"/>
                  </a:lnTo>
                  <a:lnTo>
                    <a:pt x="2967088" y="1731518"/>
                  </a:lnTo>
                  <a:lnTo>
                    <a:pt x="2967088" y="1706664"/>
                  </a:lnTo>
                  <a:lnTo>
                    <a:pt x="2921660" y="1630375"/>
                  </a:lnTo>
                  <a:lnTo>
                    <a:pt x="2971635" y="1612811"/>
                  </a:lnTo>
                  <a:lnTo>
                    <a:pt x="3005328" y="1692198"/>
                  </a:lnTo>
                  <a:lnTo>
                    <a:pt x="3005328" y="1659572"/>
                  </a:lnTo>
                  <a:lnTo>
                    <a:pt x="2983687" y="1608582"/>
                  </a:lnTo>
                  <a:lnTo>
                    <a:pt x="3088322" y="1571802"/>
                  </a:lnTo>
                  <a:lnTo>
                    <a:pt x="3097542" y="1580743"/>
                  </a:lnTo>
                  <a:lnTo>
                    <a:pt x="3101835" y="1592948"/>
                  </a:lnTo>
                  <a:lnTo>
                    <a:pt x="3101835" y="1466456"/>
                  </a:lnTo>
                  <a:lnTo>
                    <a:pt x="3101022" y="1465643"/>
                  </a:lnTo>
                  <a:lnTo>
                    <a:pt x="3101022" y="1483537"/>
                  </a:lnTo>
                  <a:lnTo>
                    <a:pt x="3100273" y="1485811"/>
                  </a:lnTo>
                  <a:lnTo>
                    <a:pt x="3091815" y="1490853"/>
                  </a:lnTo>
                  <a:lnTo>
                    <a:pt x="3097441" y="1494485"/>
                  </a:lnTo>
                  <a:lnTo>
                    <a:pt x="3096945" y="1496009"/>
                  </a:lnTo>
                  <a:lnTo>
                    <a:pt x="3089516" y="1503438"/>
                  </a:lnTo>
                  <a:lnTo>
                    <a:pt x="3089516" y="1557921"/>
                  </a:lnTo>
                  <a:lnTo>
                    <a:pt x="2978721" y="1596872"/>
                  </a:lnTo>
                  <a:lnTo>
                    <a:pt x="2966669" y="1568475"/>
                  </a:lnTo>
                  <a:lnTo>
                    <a:pt x="2966669" y="1601101"/>
                  </a:lnTo>
                  <a:lnTo>
                    <a:pt x="2915031" y="1619250"/>
                  </a:lnTo>
                  <a:lnTo>
                    <a:pt x="2902788" y="1598701"/>
                  </a:lnTo>
                  <a:lnTo>
                    <a:pt x="2902788" y="1623555"/>
                  </a:lnTo>
                  <a:lnTo>
                    <a:pt x="2799486" y="1659864"/>
                  </a:lnTo>
                  <a:lnTo>
                    <a:pt x="2861475" y="1554187"/>
                  </a:lnTo>
                  <a:lnTo>
                    <a:pt x="2902788" y="1623555"/>
                  </a:lnTo>
                  <a:lnTo>
                    <a:pt x="2902788" y="1598701"/>
                  </a:lnTo>
                  <a:lnTo>
                    <a:pt x="2868815" y="1541665"/>
                  </a:lnTo>
                  <a:lnTo>
                    <a:pt x="2910941" y="1469821"/>
                  </a:lnTo>
                  <a:lnTo>
                    <a:pt x="2966669" y="1601101"/>
                  </a:lnTo>
                  <a:lnTo>
                    <a:pt x="2966669" y="1568475"/>
                  </a:lnTo>
                  <a:lnTo>
                    <a:pt x="2923235" y="1466126"/>
                  </a:lnTo>
                  <a:lnTo>
                    <a:pt x="3089097" y="1520063"/>
                  </a:lnTo>
                  <a:lnTo>
                    <a:pt x="3086227" y="1528851"/>
                  </a:lnTo>
                  <a:lnTo>
                    <a:pt x="3078988" y="1527937"/>
                  </a:lnTo>
                  <a:lnTo>
                    <a:pt x="3082887" y="1539074"/>
                  </a:lnTo>
                  <a:lnTo>
                    <a:pt x="3079242" y="1550289"/>
                  </a:lnTo>
                  <a:lnTo>
                    <a:pt x="3086455" y="1549222"/>
                  </a:lnTo>
                  <a:lnTo>
                    <a:pt x="3089516" y="1557921"/>
                  </a:lnTo>
                  <a:lnTo>
                    <a:pt x="3089516" y="1503438"/>
                  </a:lnTo>
                  <a:lnTo>
                    <a:pt x="3086938" y="1506016"/>
                  </a:lnTo>
                  <a:lnTo>
                    <a:pt x="2921317" y="1452143"/>
                  </a:lnTo>
                  <a:lnTo>
                    <a:pt x="2976245" y="1358493"/>
                  </a:lnTo>
                  <a:lnTo>
                    <a:pt x="3101022" y="1483537"/>
                  </a:lnTo>
                  <a:lnTo>
                    <a:pt x="3101022" y="1465643"/>
                  </a:lnTo>
                  <a:lnTo>
                    <a:pt x="2982849" y="1347228"/>
                  </a:lnTo>
                  <a:lnTo>
                    <a:pt x="3012783" y="1296187"/>
                  </a:lnTo>
                  <a:lnTo>
                    <a:pt x="3118802" y="1474152"/>
                  </a:lnTo>
                  <a:lnTo>
                    <a:pt x="3118802" y="1449324"/>
                  </a:lnTo>
                  <a:lnTo>
                    <a:pt x="3020136" y="1283652"/>
                  </a:lnTo>
                  <a:lnTo>
                    <a:pt x="3128568" y="1098765"/>
                  </a:lnTo>
                  <a:lnTo>
                    <a:pt x="3137789" y="1107694"/>
                  </a:lnTo>
                  <a:lnTo>
                    <a:pt x="3139910" y="1101013"/>
                  </a:lnTo>
                  <a:lnTo>
                    <a:pt x="3157855" y="1111504"/>
                  </a:lnTo>
                  <a:lnTo>
                    <a:pt x="3160090" y="1078103"/>
                  </a:lnTo>
                  <a:lnTo>
                    <a:pt x="3163570" y="1026541"/>
                  </a:lnTo>
                  <a:lnTo>
                    <a:pt x="3160331" y="1026134"/>
                  </a:lnTo>
                  <a:lnTo>
                    <a:pt x="3163570" y="1025652"/>
                  </a:lnTo>
                  <a:lnTo>
                    <a:pt x="3162782" y="1024890"/>
                  </a:lnTo>
                  <a:lnTo>
                    <a:pt x="3163570" y="1025144"/>
                  </a:lnTo>
                  <a:lnTo>
                    <a:pt x="3150082" y="984631"/>
                  </a:lnTo>
                  <a:lnTo>
                    <a:pt x="3136646" y="944245"/>
                  </a:lnTo>
                  <a:lnTo>
                    <a:pt x="3119183" y="961707"/>
                  </a:lnTo>
                  <a:lnTo>
                    <a:pt x="3119183" y="1089672"/>
                  </a:lnTo>
                  <a:lnTo>
                    <a:pt x="3012719" y="1271219"/>
                  </a:lnTo>
                  <a:lnTo>
                    <a:pt x="3005378" y="1258887"/>
                  </a:lnTo>
                  <a:lnTo>
                    <a:pt x="3005378" y="1283754"/>
                  </a:lnTo>
                  <a:lnTo>
                    <a:pt x="2973590" y="1337945"/>
                  </a:lnTo>
                  <a:lnTo>
                    <a:pt x="2966986" y="1331328"/>
                  </a:lnTo>
                  <a:lnTo>
                    <a:pt x="2966986" y="1349209"/>
                  </a:lnTo>
                  <a:lnTo>
                    <a:pt x="2912808" y="1441589"/>
                  </a:lnTo>
                  <a:lnTo>
                    <a:pt x="2902394" y="1417053"/>
                  </a:lnTo>
                  <a:lnTo>
                    <a:pt x="2902394" y="1459357"/>
                  </a:lnTo>
                  <a:lnTo>
                    <a:pt x="2861411" y="1529232"/>
                  </a:lnTo>
                  <a:lnTo>
                    <a:pt x="2854071" y="1516913"/>
                  </a:lnTo>
                  <a:lnTo>
                    <a:pt x="2854071" y="1541754"/>
                  </a:lnTo>
                  <a:lnTo>
                    <a:pt x="2784449" y="1660474"/>
                  </a:lnTo>
                  <a:lnTo>
                    <a:pt x="2774721" y="1650733"/>
                  </a:lnTo>
                  <a:lnTo>
                    <a:pt x="2774721" y="1668564"/>
                  </a:lnTo>
                  <a:lnTo>
                    <a:pt x="2771051" y="1669859"/>
                  </a:lnTo>
                  <a:lnTo>
                    <a:pt x="2771051" y="1683321"/>
                  </a:lnTo>
                  <a:lnTo>
                    <a:pt x="2656802" y="1878139"/>
                  </a:lnTo>
                  <a:lnTo>
                    <a:pt x="2650210" y="1876005"/>
                  </a:lnTo>
                  <a:lnTo>
                    <a:pt x="2650210" y="1889391"/>
                  </a:lnTo>
                  <a:lnTo>
                    <a:pt x="2449652" y="2231364"/>
                  </a:lnTo>
                  <a:lnTo>
                    <a:pt x="2600058" y="1873072"/>
                  </a:lnTo>
                  <a:lnTo>
                    <a:pt x="2650210" y="1889391"/>
                  </a:lnTo>
                  <a:lnTo>
                    <a:pt x="2650210" y="1876005"/>
                  </a:lnTo>
                  <a:lnTo>
                    <a:pt x="2605011" y="1861286"/>
                  </a:lnTo>
                  <a:lnTo>
                    <a:pt x="2663901" y="1720977"/>
                  </a:lnTo>
                  <a:lnTo>
                    <a:pt x="2771051" y="1683321"/>
                  </a:lnTo>
                  <a:lnTo>
                    <a:pt x="2771051" y="1669859"/>
                  </a:lnTo>
                  <a:lnTo>
                    <a:pt x="2670530" y="1705190"/>
                  </a:lnTo>
                  <a:lnTo>
                    <a:pt x="2712199" y="1605915"/>
                  </a:lnTo>
                  <a:lnTo>
                    <a:pt x="2774721" y="1668564"/>
                  </a:lnTo>
                  <a:lnTo>
                    <a:pt x="2774721" y="1650733"/>
                  </a:lnTo>
                  <a:lnTo>
                    <a:pt x="2717482" y="1593342"/>
                  </a:lnTo>
                  <a:lnTo>
                    <a:pt x="2786659" y="1428546"/>
                  </a:lnTo>
                  <a:lnTo>
                    <a:pt x="2854071" y="1541754"/>
                  </a:lnTo>
                  <a:lnTo>
                    <a:pt x="2854071" y="1516913"/>
                  </a:lnTo>
                  <a:lnTo>
                    <a:pt x="2799969" y="1426032"/>
                  </a:lnTo>
                  <a:lnTo>
                    <a:pt x="2902394" y="1459357"/>
                  </a:lnTo>
                  <a:lnTo>
                    <a:pt x="2902394" y="1417053"/>
                  </a:lnTo>
                  <a:lnTo>
                    <a:pt x="2900591" y="1412798"/>
                  </a:lnTo>
                  <a:lnTo>
                    <a:pt x="2900591" y="1445387"/>
                  </a:lnTo>
                  <a:lnTo>
                    <a:pt x="2797632" y="1411897"/>
                  </a:lnTo>
                  <a:lnTo>
                    <a:pt x="2859405" y="1348371"/>
                  </a:lnTo>
                  <a:lnTo>
                    <a:pt x="2900591" y="1445387"/>
                  </a:lnTo>
                  <a:lnTo>
                    <a:pt x="2900591" y="1412798"/>
                  </a:lnTo>
                  <a:lnTo>
                    <a:pt x="2869044" y="1338453"/>
                  </a:lnTo>
                  <a:lnTo>
                    <a:pt x="2912097" y="1294180"/>
                  </a:lnTo>
                  <a:lnTo>
                    <a:pt x="2966986" y="1349209"/>
                  </a:lnTo>
                  <a:lnTo>
                    <a:pt x="2966986" y="1331328"/>
                  </a:lnTo>
                  <a:lnTo>
                    <a:pt x="2920898" y="1285125"/>
                  </a:lnTo>
                  <a:lnTo>
                    <a:pt x="2973794" y="1230718"/>
                  </a:lnTo>
                  <a:lnTo>
                    <a:pt x="3005378" y="1283754"/>
                  </a:lnTo>
                  <a:lnTo>
                    <a:pt x="3005378" y="1258887"/>
                  </a:lnTo>
                  <a:lnTo>
                    <a:pt x="2982988" y="1221270"/>
                  </a:lnTo>
                  <a:lnTo>
                    <a:pt x="3114408" y="1086116"/>
                  </a:lnTo>
                  <a:lnTo>
                    <a:pt x="3117202" y="1087755"/>
                  </a:lnTo>
                  <a:lnTo>
                    <a:pt x="3119183" y="1089672"/>
                  </a:lnTo>
                  <a:lnTo>
                    <a:pt x="3119183" y="961707"/>
                  </a:lnTo>
                  <a:lnTo>
                    <a:pt x="3114167" y="966724"/>
                  </a:lnTo>
                  <a:lnTo>
                    <a:pt x="3101835" y="954379"/>
                  </a:lnTo>
                  <a:lnTo>
                    <a:pt x="3101835" y="1080884"/>
                  </a:lnTo>
                  <a:lnTo>
                    <a:pt x="2976270" y="1210005"/>
                  </a:lnTo>
                  <a:lnTo>
                    <a:pt x="2967088" y="1194587"/>
                  </a:lnTo>
                  <a:lnTo>
                    <a:pt x="2967088" y="1219454"/>
                  </a:lnTo>
                  <a:lnTo>
                    <a:pt x="2911945" y="1276159"/>
                  </a:lnTo>
                  <a:lnTo>
                    <a:pt x="2903143" y="1267345"/>
                  </a:lnTo>
                  <a:lnTo>
                    <a:pt x="2903143" y="1285214"/>
                  </a:lnTo>
                  <a:lnTo>
                    <a:pt x="2863672" y="1325803"/>
                  </a:lnTo>
                  <a:lnTo>
                    <a:pt x="2854033" y="1303108"/>
                  </a:lnTo>
                  <a:lnTo>
                    <a:pt x="2854033" y="1335722"/>
                  </a:lnTo>
                  <a:lnTo>
                    <a:pt x="2804045" y="1387132"/>
                  </a:lnTo>
                  <a:lnTo>
                    <a:pt x="2839745" y="1302080"/>
                  </a:lnTo>
                  <a:lnTo>
                    <a:pt x="2854033" y="1335722"/>
                  </a:lnTo>
                  <a:lnTo>
                    <a:pt x="2854033" y="1303108"/>
                  </a:lnTo>
                  <a:lnTo>
                    <a:pt x="2846628" y="1285671"/>
                  </a:lnTo>
                  <a:lnTo>
                    <a:pt x="2863494" y="1245476"/>
                  </a:lnTo>
                  <a:lnTo>
                    <a:pt x="2903143" y="1285214"/>
                  </a:lnTo>
                  <a:lnTo>
                    <a:pt x="2903143" y="1267345"/>
                  </a:lnTo>
                  <a:lnTo>
                    <a:pt x="2868777" y="1232903"/>
                  </a:lnTo>
                  <a:lnTo>
                    <a:pt x="2912732" y="1128204"/>
                  </a:lnTo>
                  <a:lnTo>
                    <a:pt x="2967088" y="1219454"/>
                  </a:lnTo>
                  <a:lnTo>
                    <a:pt x="2967088" y="1194587"/>
                  </a:lnTo>
                  <a:lnTo>
                    <a:pt x="2921673" y="1118311"/>
                  </a:lnTo>
                  <a:lnTo>
                    <a:pt x="3088322" y="1059738"/>
                  </a:lnTo>
                  <a:lnTo>
                    <a:pt x="3097542" y="1068679"/>
                  </a:lnTo>
                  <a:lnTo>
                    <a:pt x="3097758" y="1069327"/>
                  </a:lnTo>
                  <a:lnTo>
                    <a:pt x="3092069" y="1073023"/>
                  </a:lnTo>
                  <a:lnTo>
                    <a:pt x="3100882" y="1078191"/>
                  </a:lnTo>
                  <a:lnTo>
                    <a:pt x="3101835" y="1080884"/>
                  </a:lnTo>
                  <a:lnTo>
                    <a:pt x="3101835" y="954379"/>
                  </a:lnTo>
                  <a:lnTo>
                    <a:pt x="3101009" y="953554"/>
                  </a:lnTo>
                  <a:lnTo>
                    <a:pt x="3101009" y="971486"/>
                  </a:lnTo>
                  <a:lnTo>
                    <a:pt x="3096945" y="983945"/>
                  </a:lnTo>
                  <a:lnTo>
                    <a:pt x="3089516" y="991374"/>
                  </a:lnTo>
                  <a:lnTo>
                    <a:pt x="3089516" y="1045857"/>
                  </a:lnTo>
                  <a:lnTo>
                    <a:pt x="2922676" y="1104506"/>
                  </a:lnTo>
                  <a:lnTo>
                    <a:pt x="2978302" y="971981"/>
                  </a:lnTo>
                  <a:lnTo>
                    <a:pt x="3089097" y="1007999"/>
                  </a:lnTo>
                  <a:lnTo>
                    <a:pt x="3086227" y="1016787"/>
                  </a:lnTo>
                  <a:lnTo>
                    <a:pt x="3078988" y="1015873"/>
                  </a:lnTo>
                  <a:lnTo>
                    <a:pt x="3082887" y="1027010"/>
                  </a:lnTo>
                  <a:lnTo>
                    <a:pt x="3079242" y="1038225"/>
                  </a:lnTo>
                  <a:lnTo>
                    <a:pt x="3086455" y="1037158"/>
                  </a:lnTo>
                  <a:lnTo>
                    <a:pt x="3089516" y="1045857"/>
                  </a:lnTo>
                  <a:lnTo>
                    <a:pt x="3089516" y="991374"/>
                  </a:lnTo>
                  <a:lnTo>
                    <a:pt x="3086938" y="993952"/>
                  </a:lnTo>
                  <a:lnTo>
                    <a:pt x="2983242" y="960234"/>
                  </a:lnTo>
                  <a:lnTo>
                    <a:pt x="3014776" y="885088"/>
                  </a:lnTo>
                  <a:lnTo>
                    <a:pt x="3101009" y="971486"/>
                  </a:lnTo>
                  <a:lnTo>
                    <a:pt x="3101009" y="953554"/>
                  </a:lnTo>
                  <a:lnTo>
                    <a:pt x="3020085" y="872464"/>
                  </a:lnTo>
                  <a:lnTo>
                    <a:pt x="3136722" y="594601"/>
                  </a:lnTo>
                  <a:lnTo>
                    <a:pt x="3137789" y="595630"/>
                  </a:lnTo>
                  <a:lnTo>
                    <a:pt x="3139910" y="588949"/>
                  </a:lnTo>
                  <a:lnTo>
                    <a:pt x="3157855" y="599440"/>
                  </a:lnTo>
                  <a:lnTo>
                    <a:pt x="3158159" y="594842"/>
                  </a:lnTo>
                  <a:lnTo>
                    <a:pt x="3169158" y="599440"/>
                  </a:lnTo>
                  <a:close/>
                </a:path>
                <a:path w="4320540" h="2571115">
                  <a:moveTo>
                    <a:pt x="4320159" y="1026160"/>
                  </a:moveTo>
                  <a:lnTo>
                    <a:pt x="4302836" y="998347"/>
                  </a:lnTo>
                  <a:lnTo>
                    <a:pt x="4275074" y="953770"/>
                  </a:lnTo>
                  <a:lnTo>
                    <a:pt x="4258526" y="980782"/>
                  </a:lnTo>
                  <a:lnTo>
                    <a:pt x="4251896" y="976718"/>
                  </a:lnTo>
                  <a:lnTo>
                    <a:pt x="4251896" y="1061021"/>
                  </a:lnTo>
                  <a:lnTo>
                    <a:pt x="4043972" y="1188643"/>
                  </a:lnTo>
                  <a:lnTo>
                    <a:pt x="4033012" y="1175194"/>
                  </a:lnTo>
                  <a:lnTo>
                    <a:pt x="4033012" y="1195374"/>
                  </a:lnTo>
                  <a:lnTo>
                    <a:pt x="3903446" y="1274902"/>
                  </a:lnTo>
                  <a:lnTo>
                    <a:pt x="3509200" y="1032891"/>
                  </a:lnTo>
                  <a:lnTo>
                    <a:pt x="3900665" y="1032891"/>
                  </a:lnTo>
                  <a:lnTo>
                    <a:pt x="4033012" y="1195374"/>
                  </a:lnTo>
                  <a:lnTo>
                    <a:pt x="4033012" y="1175194"/>
                  </a:lnTo>
                  <a:lnTo>
                    <a:pt x="3917124" y="1032891"/>
                  </a:lnTo>
                  <a:lnTo>
                    <a:pt x="4243959" y="1032891"/>
                  </a:lnTo>
                  <a:lnTo>
                    <a:pt x="4243959" y="1033157"/>
                  </a:lnTo>
                  <a:lnTo>
                    <a:pt x="4235323" y="1033907"/>
                  </a:lnTo>
                  <a:lnTo>
                    <a:pt x="4243959" y="1048042"/>
                  </a:lnTo>
                  <a:lnTo>
                    <a:pt x="4243959" y="1064641"/>
                  </a:lnTo>
                  <a:lnTo>
                    <a:pt x="4251731" y="1060754"/>
                  </a:lnTo>
                  <a:lnTo>
                    <a:pt x="4251896" y="1061021"/>
                  </a:lnTo>
                  <a:lnTo>
                    <a:pt x="4251896" y="976718"/>
                  </a:lnTo>
                  <a:lnTo>
                    <a:pt x="4251858" y="991666"/>
                  </a:lnTo>
                  <a:lnTo>
                    <a:pt x="4251515" y="992225"/>
                  </a:lnTo>
                  <a:lnTo>
                    <a:pt x="4243959" y="988441"/>
                  </a:lnTo>
                  <a:lnTo>
                    <a:pt x="4243959" y="1004570"/>
                  </a:lnTo>
                  <a:lnTo>
                    <a:pt x="4235323" y="1018667"/>
                  </a:lnTo>
                  <a:lnTo>
                    <a:pt x="4243959" y="1019441"/>
                  </a:lnTo>
                  <a:lnTo>
                    <a:pt x="4243959" y="1020191"/>
                  </a:lnTo>
                  <a:lnTo>
                    <a:pt x="3906786" y="1020191"/>
                  </a:lnTo>
                  <a:lnTo>
                    <a:pt x="3515372" y="539597"/>
                  </a:lnTo>
                  <a:lnTo>
                    <a:pt x="4251858" y="991666"/>
                  </a:lnTo>
                  <a:lnTo>
                    <a:pt x="4251858" y="976693"/>
                  </a:lnTo>
                  <a:lnTo>
                    <a:pt x="3489960" y="509016"/>
                  </a:lnTo>
                  <a:lnTo>
                    <a:pt x="3486658" y="514477"/>
                  </a:lnTo>
                  <a:lnTo>
                    <a:pt x="3481705" y="518541"/>
                  </a:lnTo>
                  <a:lnTo>
                    <a:pt x="3890327" y="1020191"/>
                  </a:lnTo>
                  <a:lnTo>
                    <a:pt x="3486658" y="1020191"/>
                  </a:lnTo>
                  <a:lnTo>
                    <a:pt x="3486658" y="1026541"/>
                  </a:lnTo>
                  <a:lnTo>
                    <a:pt x="3483356" y="1032002"/>
                  </a:lnTo>
                  <a:lnTo>
                    <a:pt x="3891242" y="1282395"/>
                  </a:lnTo>
                  <a:lnTo>
                    <a:pt x="3483356" y="1532763"/>
                  </a:lnTo>
                  <a:lnTo>
                    <a:pt x="3486658" y="1538160"/>
                  </a:lnTo>
                  <a:lnTo>
                    <a:pt x="3486658" y="1544955"/>
                  </a:lnTo>
                  <a:lnTo>
                    <a:pt x="4243959" y="1544955"/>
                  </a:lnTo>
                  <a:lnTo>
                    <a:pt x="4243959" y="1545221"/>
                  </a:lnTo>
                  <a:lnTo>
                    <a:pt x="4235323" y="1545971"/>
                  </a:lnTo>
                  <a:lnTo>
                    <a:pt x="4243959" y="1560106"/>
                  </a:lnTo>
                  <a:lnTo>
                    <a:pt x="4243959" y="1576705"/>
                  </a:lnTo>
                  <a:lnTo>
                    <a:pt x="4251731" y="1572818"/>
                  </a:lnTo>
                  <a:lnTo>
                    <a:pt x="4251896" y="1573085"/>
                  </a:lnTo>
                  <a:lnTo>
                    <a:pt x="3483356" y="2044827"/>
                  </a:lnTo>
                  <a:lnTo>
                    <a:pt x="3489960" y="2055622"/>
                  </a:lnTo>
                  <a:lnTo>
                    <a:pt x="4258488" y="1583880"/>
                  </a:lnTo>
                  <a:lnTo>
                    <a:pt x="4275074" y="1610995"/>
                  </a:lnTo>
                  <a:lnTo>
                    <a:pt x="4302836" y="1566418"/>
                  </a:lnTo>
                  <a:lnTo>
                    <a:pt x="4320159" y="1538605"/>
                  </a:lnTo>
                  <a:lnTo>
                    <a:pt x="4319232" y="1538147"/>
                  </a:lnTo>
                  <a:lnTo>
                    <a:pt x="4320159" y="1538224"/>
                  </a:lnTo>
                  <a:lnTo>
                    <a:pt x="4319714" y="1537525"/>
                  </a:lnTo>
                  <a:lnTo>
                    <a:pt x="4320159" y="1537716"/>
                  </a:lnTo>
                  <a:lnTo>
                    <a:pt x="4310011" y="1492504"/>
                  </a:lnTo>
                  <a:lnTo>
                    <a:pt x="4301490" y="1454531"/>
                  </a:lnTo>
                  <a:lnTo>
                    <a:pt x="4279290" y="1472628"/>
                  </a:lnTo>
                  <a:lnTo>
                    <a:pt x="4275074" y="1465834"/>
                  </a:lnTo>
                  <a:lnTo>
                    <a:pt x="4272788" y="1469567"/>
                  </a:lnTo>
                  <a:lnTo>
                    <a:pt x="4265739" y="1460919"/>
                  </a:lnTo>
                  <a:lnTo>
                    <a:pt x="4265739" y="1481061"/>
                  </a:lnTo>
                  <a:lnTo>
                    <a:pt x="4262552" y="1486268"/>
                  </a:lnTo>
                  <a:lnTo>
                    <a:pt x="4256214" y="1491437"/>
                  </a:lnTo>
                  <a:lnTo>
                    <a:pt x="4245724" y="1485011"/>
                  </a:lnTo>
                  <a:lnTo>
                    <a:pt x="4245724" y="1499984"/>
                  </a:lnTo>
                  <a:lnTo>
                    <a:pt x="4244645" y="1500860"/>
                  </a:lnTo>
                  <a:lnTo>
                    <a:pt x="4243959" y="1500505"/>
                  </a:lnTo>
                  <a:lnTo>
                    <a:pt x="4243959" y="1501432"/>
                  </a:lnTo>
                  <a:lnTo>
                    <a:pt x="4242435" y="1502664"/>
                  </a:lnTo>
                  <a:lnTo>
                    <a:pt x="4243959" y="1503362"/>
                  </a:lnTo>
                  <a:lnTo>
                    <a:pt x="4243959" y="1516634"/>
                  </a:lnTo>
                  <a:lnTo>
                    <a:pt x="4235323" y="1530731"/>
                  </a:lnTo>
                  <a:lnTo>
                    <a:pt x="4243959" y="1531505"/>
                  </a:lnTo>
                  <a:lnTo>
                    <a:pt x="4243959" y="1532255"/>
                  </a:lnTo>
                  <a:lnTo>
                    <a:pt x="3508362" y="1532255"/>
                  </a:lnTo>
                  <a:lnTo>
                    <a:pt x="3903332" y="1289824"/>
                  </a:lnTo>
                  <a:lnTo>
                    <a:pt x="4245724" y="1499984"/>
                  </a:lnTo>
                  <a:lnTo>
                    <a:pt x="4245724" y="1485011"/>
                  </a:lnTo>
                  <a:lnTo>
                    <a:pt x="3915537" y="1282331"/>
                  </a:lnTo>
                  <a:lnTo>
                    <a:pt x="4041076" y="1205268"/>
                  </a:lnTo>
                  <a:lnTo>
                    <a:pt x="4265739" y="1481061"/>
                  </a:lnTo>
                  <a:lnTo>
                    <a:pt x="4265739" y="1460919"/>
                  </a:lnTo>
                  <a:lnTo>
                    <a:pt x="4052036" y="1198549"/>
                  </a:lnTo>
                  <a:lnTo>
                    <a:pt x="4258488" y="1071816"/>
                  </a:lnTo>
                  <a:lnTo>
                    <a:pt x="4275074" y="1098931"/>
                  </a:lnTo>
                  <a:lnTo>
                    <a:pt x="4302836" y="1054354"/>
                  </a:lnTo>
                  <a:lnTo>
                    <a:pt x="4320159" y="1026541"/>
                  </a:lnTo>
                  <a:lnTo>
                    <a:pt x="4319232" y="1026083"/>
                  </a:lnTo>
                  <a:lnTo>
                    <a:pt x="4320159" y="102616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284595" y="3773423"/>
              <a:ext cx="1672589" cy="1067435"/>
            </a:xfrm>
            <a:custGeom>
              <a:avLst/>
              <a:gdLst/>
              <a:ahLst/>
              <a:cxnLst/>
              <a:rect l="l" t="t" r="r" b="b"/>
              <a:pathLst>
                <a:path w="1672590" h="1067435">
                  <a:moveTo>
                    <a:pt x="838454" y="38100"/>
                  </a:moveTo>
                  <a:lnTo>
                    <a:pt x="760730" y="73152"/>
                  </a:lnTo>
                  <a:lnTo>
                    <a:pt x="785317" y="93205"/>
                  </a:lnTo>
                  <a:lnTo>
                    <a:pt x="0" y="1057402"/>
                  </a:lnTo>
                  <a:lnTo>
                    <a:pt x="4483" y="1061034"/>
                  </a:lnTo>
                  <a:lnTo>
                    <a:pt x="8255" y="1067181"/>
                  </a:lnTo>
                  <a:lnTo>
                    <a:pt x="776782" y="595439"/>
                  </a:lnTo>
                  <a:lnTo>
                    <a:pt x="793369" y="622554"/>
                  </a:lnTo>
                  <a:lnTo>
                    <a:pt x="821131" y="577977"/>
                  </a:lnTo>
                  <a:lnTo>
                    <a:pt x="838454" y="550164"/>
                  </a:lnTo>
                  <a:lnTo>
                    <a:pt x="753618" y="557530"/>
                  </a:lnTo>
                  <a:lnTo>
                    <a:pt x="770191" y="584644"/>
                  </a:lnTo>
                  <a:lnTo>
                    <a:pt x="32842" y="1037247"/>
                  </a:lnTo>
                  <a:lnTo>
                    <a:pt x="795185" y="101244"/>
                  </a:lnTo>
                  <a:lnTo>
                    <a:pt x="819785" y="121285"/>
                  </a:lnTo>
                  <a:lnTo>
                    <a:pt x="828306" y="83312"/>
                  </a:lnTo>
                  <a:lnTo>
                    <a:pt x="838454" y="38100"/>
                  </a:lnTo>
                  <a:close/>
                </a:path>
                <a:path w="1672590" h="1067435">
                  <a:moveTo>
                    <a:pt x="1669542" y="550164"/>
                  </a:moveTo>
                  <a:lnTo>
                    <a:pt x="1656842" y="543814"/>
                  </a:lnTo>
                  <a:lnTo>
                    <a:pt x="1593342" y="512064"/>
                  </a:lnTo>
                  <a:lnTo>
                    <a:pt x="1593342" y="543814"/>
                  </a:lnTo>
                  <a:lnTo>
                    <a:pt x="1160145" y="543814"/>
                  </a:lnTo>
                  <a:lnTo>
                    <a:pt x="1160145" y="556514"/>
                  </a:lnTo>
                  <a:lnTo>
                    <a:pt x="1593342" y="556514"/>
                  </a:lnTo>
                  <a:lnTo>
                    <a:pt x="1593342" y="588264"/>
                  </a:lnTo>
                  <a:lnTo>
                    <a:pt x="1656842" y="556514"/>
                  </a:lnTo>
                  <a:lnTo>
                    <a:pt x="1669542" y="550164"/>
                  </a:lnTo>
                  <a:close/>
                </a:path>
                <a:path w="1672590" h="1067435">
                  <a:moveTo>
                    <a:pt x="1672590" y="38100"/>
                  </a:moveTo>
                  <a:lnTo>
                    <a:pt x="1659890" y="31750"/>
                  </a:lnTo>
                  <a:lnTo>
                    <a:pt x="1596390" y="0"/>
                  </a:lnTo>
                  <a:lnTo>
                    <a:pt x="1596390" y="31750"/>
                  </a:lnTo>
                  <a:lnTo>
                    <a:pt x="1163193" y="31750"/>
                  </a:lnTo>
                  <a:lnTo>
                    <a:pt x="1163193" y="44450"/>
                  </a:lnTo>
                  <a:lnTo>
                    <a:pt x="1596390" y="44450"/>
                  </a:lnTo>
                  <a:lnTo>
                    <a:pt x="1596390" y="76200"/>
                  </a:lnTo>
                  <a:lnTo>
                    <a:pt x="1659890" y="44450"/>
                  </a:lnTo>
                  <a:lnTo>
                    <a:pt x="1672590" y="3810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82112" y="5126735"/>
              <a:ext cx="384048" cy="20116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12336" y="5020055"/>
              <a:ext cx="381000" cy="201168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65064" y="5065775"/>
              <a:ext cx="381000" cy="201168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80632" y="4706111"/>
              <a:ext cx="381000" cy="201168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08831" y="2831591"/>
              <a:ext cx="615696" cy="21640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57927" y="2563367"/>
              <a:ext cx="612648" cy="21640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33871" y="2852927"/>
              <a:ext cx="612648" cy="216408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70776" y="3334511"/>
              <a:ext cx="615696" cy="216408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1325880" y="4750307"/>
              <a:ext cx="6021070" cy="1196340"/>
            </a:xfrm>
            <a:custGeom>
              <a:avLst/>
              <a:gdLst/>
              <a:ahLst/>
              <a:cxnLst/>
              <a:rect l="l" t="t" r="r" b="b"/>
              <a:pathLst>
                <a:path w="6021070" h="1196339">
                  <a:moveTo>
                    <a:pt x="44450" y="954481"/>
                  </a:moveTo>
                  <a:lnTo>
                    <a:pt x="31750" y="954481"/>
                  </a:lnTo>
                  <a:lnTo>
                    <a:pt x="31750" y="1005281"/>
                  </a:lnTo>
                  <a:lnTo>
                    <a:pt x="44450" y="1005281"/>
                  </a:lnTo>
                  <a:lnTo>
                    <a:pt x="44450" y="954481"/>
                  </a:lnTo>
                  <a:close/>
                </a:path>
                <a:path w="6021070" h="1196339">
                  <a:moveTo>
                    <a:pt x="44450" y="865581"/>
                  </a:moveTo>
                  <a:lnTo>
                    <a:pt x="31750" y="865581"/>
                  </a:lnTo>
                  <a:lnTo>
                    <a:pt x="31750" y="916381"/>
                  </a:lnTo>
                  <a:lnTo>
                    <a:pt x="44450" y="916381"/>
                  </a:lnTo>
                  <a:lnTo>
                    <a:pt x="44450" y="865581"/>
                  </a:lnTo>
                  <a:close/>
                </a:path>
                <a:path w="6021070" h="1196339">
                  <a:moveTo>
                    <a:pt x="44450" y="776732"/>
                  </a:moveTo>
                  <a:lnTo>
                    <a:pt x="31750" y="776732"/>
                  </a:lnTo>
                  <a:lnTo>
                    <a:pt x="31750" y="827532"/>
                  </a:lnTo>
                  <a:lnTo>
                    <a:pt x="44450" y="827532"/>
                  </a:lnTo>
                  <a:lnTo>
                    <a:pt x="44450" y="776732"/>
                  </a:lnTo>
                  <a:close/>
                </a:path>
                <a:path w="6021070" h="1196339">
                  <a:moveTo>
                    <a:pt x="44450" y="687832"/>
                  </a:moveTo>
                  <a:lnTo>
                    <a:pt x="31750" y="687832"/>
                  </a:lnTo>
                  <a:lnTo>
                    <a:pt x="31750" y="738632"/>
                  </a:lnTo>
                  <a:lnTo>
                    <a:pt x="44450" y="738632"/>
                  </a:lnTo>
                  <a:lnTo>
                    <a:pt x="44450" y="687832"/>
                  </a:lnTo>
                  <a:close/>
                </a:path>
                <a:path w="6021070" h="1196339">
                  <a:moveTo>
                    <a:pt x="44450" y="598932"/>
                  </a:moveTo>
                  <a:lnTo>
                    <a:pt x="31750" y="598932"/>
                  </a:lnTo>
                  <a:lnTo>
                    <a:pt x="31750" y="649732"/>
                  </a:lnTo>
                  <a:lnTo>
                    <a:pt x="44450" y="649732"/>
                  </a:lnTo>
                  <a:lnTo>
                    <a:pt x="44450" y="598932"/>
                  </a:lnTo>
                  <a:close/>
                </a:path>
                <a:path w="6021070" h="1196339">
                  <a:moveTo>
                    <a:pt x="76200" y="588264"/>
                  </a:moveTo>
                  <a:lnTo>
                    <a:pt x="38100" y="512064"/>
                  </a:lnTo>
                  <a:lnTo>
                    <a:pt x="0" y="588264"/>
                  </a:lnTo>
                  <a:lnTo>
                    <a:pt x="76200" y="588264"/>
                  </a:lnTo>
                  <a:close/>
                </a:path>
                <a:path w="6021070" h="1196339">
                  <a:moveTo>
                    <a:pt x="2537714" y="1116164"/>
                  </a:moveTo>
                  <a:lnTo>
                    <a:pt x="2525014" y="1116164"/>
                  </a:lnTo>
                  <a:lnTo>
                    <a:pt x="2525014" y="1166964"/>
                  </a:lnTo>
                  <a:lnTo>
                    <a:pt x="2537714" y="1166964"/>
                  </a:lnTo>
                  <a:lnTo>
                    <a:pt x="2537714" y="1116164"/>
                  </a:lnTo>
                  <a:close/>
                </a:path>
                <a:path w="6021070" h="1196339">
                  <a:moveTo>
                    <a:pt x="2537714" y="1027264"/>
                  </a:moveTo>
                  <a:lnTo>
                    <a:pt x="2525014" y="1027264"/>
                  </a:lnTo>
                  <a:lnTo>
                    <a:pt x="2525014" y="1078064"/>
                  </a:lnTo>
                  <a:lnTo>
                    <a:pt x="2537714" y="1078064"/>
                  </a:lnTo>
                  <a:lnTo>
                    <a:pt x="2537714" y="1027264"/>
                  </a:lnTo>
                  <a:close/>
                </a:path>
                <a:path w="6021070" h="1196339">
                  <a:moveTo>
                    <a:pt x="2537714" y="938364"/>
                  </a:moveTo>
                  <a:lnTo>
                    <a:pt x="2525014" y="938364"/>
                  </a:lnTo>
                  <a:lnTo>
                    <a:pt x="2525014" y="989164"/>
                  </a:lnTo>
                  <a:lnTo>
                    <a:pt x="2537714" y="989164"/>
                  </a:lnTo>
                  <a:lnTo>
                    <a:pt x="2537714" y="938364"/>
                  </a:lnTo>
                  <a:close/>
                </a:path>
                <a:path w="6021070" h="1196339">
                  <a:moveTo>
                    <a:pt x="2537714" y="849464"/>
                  </a:moveTo>
                  <a:lnTo>
                    <a:pt x="2525014" y="849464"/>
                  </a:lnTo>
                  <a:lnTo>
                    <a:pt x="2525014" y="900264"/>
                  </a:lnTo>
                  <a:lnTo>
                    <a:pt x="2537714" y="900264"/>
                  </a:lnTo>
                  <a:lnTo>
                    <a:pt x="2537714" y="849464"/>
                  </a:lnTo>
                  <a:close/>
                </a:path>
                <a:path w="6021070" h="1196339">
                  <a:moveTo>
                    <a:pt x="2537714" y="760603"/>
                  </a:moveTo>
                  <a:lnTo>
                    <a:pt x="2525014" y="760603"/>
                  </a:lnTo>
                  <a:lnTo>
                    <a:pt x="2525014" y="811403"/>
                  </a:lnTo>
                  <a:lnTo>
                    <a:pt x="2537714" y="811403"/>
                  </a:lnTo>
                  <a:lnTo>
                    <a:pt x="2537714" y="760603"/>
                  </a:lnTo>
                  <a:close/>
                </a:path>
                <a:path w="6021070" h="1196339">
                  <a:moveTo>
                    <a:pt x="2537714" y="671703"/>
                  </a:moveTo>
                  <a:lnTo>
                    <a:pt x="2525014" y="671703"/>
                  </a:lnTo>
                  <a:lnTo>
                    <a:pt x="2525014" y="722503"/>
                  </a:lnTo>
                  <a:lnTo>
                    <a:pt x="2537714" y="722503"/>
                  </a:lnTo>
                  <a:lnTo>
                    <a:pt x="2537714" y="671703"/>
                  </a:lnTo>
                  <a:close/>
                </a:path>
                <a:path w="6021070" h="1196339">
                  <a:moveTo>
                    <a:pt x="2569464" y="606552"/>
                  </a:moveTo>
                  <a:lnTo>
                    <a:pt x="2563114" y="593852"/>
                  </a:lnTo>
                  <a:lnTo>
                    <a:pt x="2531364" y="530352"/>
                  </a:lnTo>
                  <a:lnTo>
                    <a:pt x="2493264" y="606552"/>
                  </a:lnTo>
                  <a:lnTo>
                    <a:pt x="2525014" y="606552"/>
                  </a:lnTo>
                  <a:lnTo>
                    <a:pt x="2525014" y="633603"/>
                  </a:lnTo>
                  <a:lnTo>
                    <a:pt x="2537714" y="633603"/>
                  </a:lnTo>
                  <a:lnTo>
                    <a:pt x="2537714" y="606552"/>
                  </a:lnTo>
                  <a:lnTo>
                    <a:pt x="2569464" y="606552"/>
                  </a:lnTo>
                  <a:close/>
                </a:path>
                <a:path w="6021070" h="1196339">
                  <a:moveTo>
                    <a:pt x="3729482" y="1144943"/>
                  </a:moveTo>
                  <a:lnTo>
                    <a:pt x="3716782" y="1144943"/>
                  </a:lnTo>
                  <a:lnTo>
                    <a:pt x="3716782" y="1195743"/>
                  </a:lnTo>
                  <a:lnTo>
                    <a:pt x="3729482" y="1195743"/>
                  </a:lnTo>
                  <a:lnTo>
                    <a:pt x="3729482" y="1144943"/>
                  </a:lnTo>
                  <a:close/>
                </a:path>
                <a:path w="6021070" h="1196339">
                  <a:moveTo>
                    <a:pt x="3729482" y="1056043"/>
                  </a:moveTo>
                  <a:lnTo>
                    <a:pt x="3716782" y="1056043"/>
                  </a:lnTo>
                  <a:lnTo>
                    <a:pt x="3716782" y="1106843"/>
                  </a:lnTo>
                  <a:lnTo>
                    <a:pt x="3729482" y="1106843"/>
                  </a:lnTo>
                  <a:lnTo>
                    <a:pt x="3729482" y="1056043"/>
                  </a:lnTo>
                  <a:close/>
                </a:path>
                <a:path w="6021070" h="1196339">
                  <a:moveTo>
                    <a:pt x="3729482" y="967143"/>
                  </a:moveTo>
                  <a:lnTo>
                    <a:pt x="3716782" y="967143"/>
                  </a:lnTo>
                  <a:lnTo>
                    <a:pt x="3716782" y="1017943"/>
                  </a:lnTo>
                  <a:lnTo>
                    <a:pt x="3729482" y="1017943"/>
                  </a:lnTo>
                  <a:lnTo>
                    <a:pt x="3729482" y="967143"/>
                  </a:lnTo>
                  <a:close/>
                </a:path>
                <a:path w="6021070" h="1196339">
                  <a:moveTo>
                    <a:pt x="3729482" y="878243"/>
                  </a:moveTo>
                  <a:lnTo>
                    <a:pt x="3716782" y="878243"/>
                  </a:lnTo>
                  <a:lnTo>
                    <a:pt x="3716782" y="929043"/>
                  </a:lnTo>
                  <a:lnTo>
                    <a:pt x="3729482" y="929043"/>
                  </a:lnTo>
                  <a:lnTo>
                    <a:pt x="3729482" y="878243"/>
                  </a:lnTo>
                  <a:close/>
                </a:path>
                <a:path w="6021070" h="1196339">
                  <a:moveTo>
                    <a:pt x="3729482" y="789305"/>
                  </a:moveTo>
                  <a:lnTo>
                    <a:pt x="3716782" y="789305"/>
                  </a:lnTo>
                  <a:lnTo>
                    <a:pt x="3716782" y="840143"/>
                  </a:lnTo>
                  <a:lnTo>
                    <a:pt x="3729482" y="840143"/>
                  </a:lnTo>
                  <a:lnTo>
                    <a:pt x="3729482" y="789305"/>
                  </a:lnTo>
                  <a:close/>
                </a:path>
                <a:path w="6021070" h="1196339">
                  <a:moveTo>
                    <a:pt x="3761232" y="737616"/>
                  </a:moveTo>
                  <a:lnTo>
                    <a:pt x="3754882" y="724916"/>
                  </a:lnTo>
                  <a:lnTo>
                    <a:pt x="3723132" y="661416"/>
                  </a:lnTo>
                  <a:lnTo>
                    <a:pt x="3685032" y="737616"/>
                  </a:lnTo>
                  <a:lnTo>
                    <a:pt x="3716782" y="737616"/>
                  </a:lnTo>
                  <a:lnTo>
                    <a:pt x="3716782" y="751205"/>
                  </a:lnTo>
                  <a:lnTo>
                    <a:pt x="3729482" y="751205"/>
                  </a:lnTo>
                  <a:lnTo>
                    <a:pt x="3729482" y="737616"/>
                  </a:lnTo>
                  <a:lnTo>
                    <a:pt x="3761232" y="737616"/>
                  </a:lnTo>
                  <a:close/>
                </a:path>
                <a:path w="6021070" h="1196339">
                  <a:moveTo>
                    <a:pt x="4820666" y="1115263"/>
                  </a:moveTo>
                  <a:lnTo>
                    <a:pt x="4807966" y="1115263"/>
                  </a:lnTo>
                  <a:lnTo>
                    <a:pt x="4807966" y="1166063"/>
                  </a:lnTo>
                  <a:lnTo>
                    <a:pt x="4820666" y="1166063"/>
                  </a:lnTo>
                  <a:lnTo>
                    <a:pt x="4820666" y="1115263"/>
                  </a:lnTo>
                  <a:close/>
                </a:path>
                <a:path w="6021070" h="1196339">
                  <a:moveTo>
                    <a:pt x="4820666" y="1026363"/>
                  </a:moveTo>
                  <a:lnTo>
                    <a:pt x="4807966" y="1026363"/>
                  </a:lnTo>
                  <a:lnTo>
                    <a:pt x="4807966" y="1077163"/>
                  </a:lnTo>
                  <a:lnTo>
                    <a:pt x="4820666" y="1077163"/>
                  </a:lnTo>
                  <a:lnTo>
                    <a:pt x="4820666" y="1026363"/>
                  </a:lnTo>
                  <a:close/>
                </a:path>
                <a:path w="6021070" h="1196339">
                  <a:moveTo>
                    <a:pt x="4820666" y="937463"/>
                  </a:moveTo>
                  <a:lnTo>
                    <a:pt x="4807966" y="937463"/>
                  </a:lnTo>
                  <a:lnTo>
                    <a:pt x="4807966" y="988263"/>
                  </a:lnTo>
                  <a:lnTo>
                    <a:pt x="4820666" y="988263"/>
                  </a:lnTo>
                  <a:lnTo>
                    <a:pt x="4820666" y="937463"/>
                  </a:lnTo>
                  <a:close/>
                </a:path>
                <a:path w="6021070" h="1196339">
                  <a:moveTo>
                    <a:pt x="4820666" y="848563"/>
                  </a:moveTo>
                  <a:lnTo>
                    <a:pt x="4807966" y="848563"/>
                  </a:lnTo>
                  <a:lnTo>
                    <a:pt x="4807966" y="899363"/>
                  </a:lnTo>
                  <a:lnTo>
                    <a:pt x="4820666" y="899363"/>
                  </a:lnTo>
                  <a:lnTo>
                    <a:pt x="4820666" y="848563"/>
                  </a:lnTo>
                  <a:close/>
                </a:path>
                <a:path w="6021070" h="1196339">
                  <a:moveTo>
                    <a:pt x="4820666" y="759714"/>
                  </a:moveTo>
                  <a:lnTo>
                    <a:pt x="4807966" y="759714"/>
                  </a:lnTo>
                  <a:lnTo>
                    <a:pt x="4807966" y="810514"/>
                  </a:lnTo>
                  <a:lnTo>
                    <a:pt x="4820666" y="810514"/>
                  </a:lnTo>
                  <a:lnTo>
                    <a:pt x="4820666" y="759714"/>
                  </a:lnTo>
                  <a:close/>
                </a:path>
                <a:path w="6021070" h="1196339">
                  <a:moveTo>
                    <a:pt x="4820666" y="670814"/>
                  </a:moveTo>
                  <a:lnTo>
                    <a:pt x="4807966" y="670814"/>
                  </a:lnTo>
                  <a:lnTo>
                    <a:pt x="4807966" y="721614"/>
                  </a:lnTo>
                  <a:lnTo>
                    <a:pt x="4820666" y="721614"/>
                  </a:lnTo>
                  <a:lnTo>
                    <a:pt x="4820666" y="670814"/>
                  </a:lnTo>
                  <a:close/>
                </a:path>
                <a:path w="6021070" h="1196339">
                  <a:moveTo>
                    <a:pt x="4820666" y="581914"/>
                  </a:moveTo>
                  <a:lnTo>
                    <a:pt x="4807966" y="581914"/>
                  </a:lnTo>
                  <a:lnTo>
                    <a:pt x="4807966" y="632714"/>
                  </a:lnTo>
                  <a:lnTo>
                    <a:pt x="4820666" y="632714"/>
                  </a:lnTo>
                  <a:lnTo>
                    <a:pt x="4820666" y="581914"/>
                  </a:lnTo>
                  <a:close/>
                </a:path>
                <a:path w="6021070" h="1196339">
                  <a:moveTo>
                    <a:pt x="4852416" y="548640"/>
                  </a:moveTo>
                  <a:lnTo>
                    <a:pt x="4850003" y="543814"/>
                  </a:lnTo>
                  <a:lnTo>
                    <a:pt x="4846066" y="535940"/>
                  </a:lnTo>
                  <a:lnTo>
                    <a:pt x="4814316" y="472452"/>
                  </a:lnTo>
                  <a:lnTo>
                    <a:pt x="4776216" y="548640"/>
                  </a:lnTo>
                  <a:lnTo>
                    <a:pt x="4852416" y="548640"/>
                  </a:lnTo>
                  <a:close/>
                </a:path>
                <a:path w="6021070" h="1196339">
                  <a:moveTo>
                    <a:pt x="5985256" y="1030160"/>
                  </a:moveTo>
                  <a:lnTo>
                    <a:pt x="5972543" y="1030160"/>
                  </a:lnTo>
                  <a:lnTo>
                    <a:pt x="5972289" y="1080960"/>
                  </a:lnTo>
                  <a:lnTo>
                    <a:pt x="5985002" y="1080960"/>
                  </a:lnTo>
                  <a:lnTo>
                    <a:pt x="5985256" y="1030160"/>
                  </a:lnTo>
                  <a:close/>
                </a:path>
                <a:path w="6021070" h="1196339">
                  <a:moveTo>
                    <a:pt x="5985637" y="941260"/>
                  </a:moveTo>
                  <a:lnTo>
                    <a:pt x="5972924" y="941260"/>
                  </a:lnTo>
                  <a:lnTo>
                    <a:pt x="5972670" y="992060"/>
                  </a:lnTo>
                  <a:lnTo>
                    <a:pt x="5985383" y="992060"/>
                  </a:lnTo>
                  <a:lnTo>
                    <a:pt x="5985637" y="941260"/>
                  </a:lnTo>
                  <a:close/>
                </a:path>
                <a:path w="6021070" h="1196339">
                  <a:moveTo>
                    <a:pt x="5985891" y="852360"/>
                  </a:moveTo>
                  <a:lnTo>
                    <a:pt x="5973178" y="852360"/>
                  </a:lnTo>
                  <a:lnTo>
                    <a:pt x="5973051" y="903160"/>
                  </a:lnTo>
                  <a:lnTo>
                    <a:pt x="5985764" y="903160"/>
                  </a:lnTo>
                  <a:lnTo>
                    <a:pt x="5985891" y="852360"/>
                  </a:lnTo>
                  <a:close/>
                </a:path>
                <a:path w="6021070" h="1196339">
                  <a:moveTo>
                    <a:pt x="5986272" y="763524"/>
                  </a:moveTo>
                  <a:lnTo>
                    <a:pt x="5973559" y="763524"/>
                  </a:lnTo>
                  <a:lnTo>
                    <a:pt x="5973432" y="814324"/>
                  </a:lnTo>
                  <a:lnTo>
                    <a:pt x="5986145" y="814324"/>
                  </a:lnTo>
                  <a:lnTo>
                    <a:pt x="5986272" y="763524"/>
                  </a:lnTo>
                  <a:close/>
                </a:path>
                <a:path w="6021070" h="1196339">
                  <a:moveTo>
                    <a:pt x="5986653" y="674624"/>
                  </a:moveTo>
                  <a:lnTo>
                    <a:pt x="5973940" y="674624"/>
                  </a:lnTo>
                  <a:lnTo>
                    <a:pt x="5973813" y="725424"/>
                  </a:lnTo>
                  <a:lnTo>
                    <a:pt x="5986526" y="725424"/>
                  </a:lnTo>
                  <a:lnTo>
                    <a:pt x="5986653" y="674624"/>
                  </a:lnTo>
                  <a:close/>
                </a:path>
                <a:path w="6021070" h="1196339">
                  <a:moveTo>
                    <a:pt x="5987034" y="585724"/>
                  </a:moveTo>
                  <a:lnTo>
                    <a:pt x="5974321" y="585724"/>
                  </a:lnTo>
                  <a:lnTo>
                    <a:pt x="5974194" y="636524"/>
                  </a:lnTo>
                  <a:lnTo>
                    <a:pt x="5986907" y="636524"/>
                  </a:lnTo>
                  <a:lnTo>
                    <a:pt x="5987034" y="585724"/>
                  </a:lnTo>
                  <a:close/>
                </a:path>
                <a:path w="6021070" h="1196339">
                  <a:moveTo>
                    <a:pt x="5987415" y="496824"/>
                  </a:moveTo>
                  <a:lnTo>
                    <a:pt x="5974702" y="496824"/>
                  </a:lnTo>
                  <a:lnTo>
                    <a:pt x="5974448" y="547624"/>
                  </a:lnTo>
                  <a:lnTo>
                    <a:pt x="5987161" y="547624"/>
                  </a:lnTo>
                  <a:lnTo>
                    <a:pt x="5987415" y="496824"/>
                  </a:lnTo>
                  <a:close/>
                </a:path>
                <a:path w="6021070" h="1196339">
                  <a:moveTo>
                    <a:pt x="5987796" y="407924"/>
                  </a:moveTo>
                  <a:lnTo>
                    <a:pt x="5975083" y="407924"/>
                  </a:lnTo>
                  <a:lnTo>
                    <a:pt x="5974829" y="458724"/>
                  </a:lnTo>
                  <a:lnTo>
                    <a:pt x="5987542" y="458724"/>
                  </a:lnTo>
                  <a:lnTo>
                    <a:pt x="5987796" y="407924"/>
                  </a:lnTo>
                  <a:close/>
                </a:path>
                <a:path w="6021070" h="1196339">
                  <a:moveTo>
                    <a:pt x="5988177" y="319024"/>
                  </a:moveTo>
                  <a:lnTo>
                    <a:pt x="5975464" y="319024"/>
                  </a:lnTo>
                  <a:lnTo>
                    <a:pt x="5975210" y="369824"/>
                  </a:lnTo>
                  <a:lnTo>
                    <a:pt x="5987923" y="369824"/>
                  </a:lnTo>
                  <a:lnTo>
                    <a:pt x="5988177" y="319024"/>
                  </a:lnTo>
                  <a:close/>
                </a:path>
                <a:path w="6021070" h="1196339">
                  <a:moveTo>
                    <a:pt x="5988558" y="230124"/>
                  </a:moveTo>
                  <a:lnTo>
                    <a:pt x="5975845" y="230124"/>
                  </a:lnTo>
                  <a:lnTo>
                    <a:pt x="5975591" y="280924"/>
                  </a:lnTo>
                  <a:lnTo>
                    <a:pt x="5988304" y="280924"/>
                  </a:lnTo>
                  <a:lnTo>
                    <a:pt x="5988558" y="230124"/>
                  </a:lnTo>
                  <a:close/>
                </a:path>
                <a:path w="6021070" h="1196339">
                  <a:moveTo>
                    <a:pt x="5988939" y="141224"/>
                  </a:moveTo>
                  <a:lnTo>
                    <a:pt x="5976226" y="141224"/>
                  </a:lnTo>
                  <a:lnTo>
                    <a:pt x="5975972" y="192024"/>
                  </a:lnTo>
                  <a:lnTo>
                    <a:pt x="5988685" y="192024"/>
                  </a:lnTo>
                  <a:lnTo>
                    <a:pt x="5988939" y="141224"/>
                  </a:lnTo>
                  <a:close/>
                </a:path>
                <a:path w="6021070" h="1196339">
                  <a:moveTo>
                    <a:pt x="6020943" y="76327"/>
                  </a:moveTo>
                  <a:lnTo>
                    <a:pt x="6014580" y="63500"/>
                  </a:lnTo>
                  <a:lnTo>
                    <a:pt x="5983097" y="0"/>
                  </a:lnTo>
                  <a:lnTo>
                    <a:pt x="5944603" y="76327"/>
                  </a:lnTo>
                  <a:lnTo>
                    <a:pt x="5976442" y="76327"/>
                  </a:lnTo>
                  <a:lnTo>
                    <a:pt x="5976353" y="103124"/>
                  </a:lnTo>
                  <a:lnTo>
                    <a:pt x="5989066" y="103124"/>
                  </a:lnTo>
                  <a:lnTo>
                    <a:pt x="5989142" y="76327"/>
                  </a:lnTo>
                  <a:lnTo>
                    <a:pt x="6020943" y="76327"/>
                  </a:lnTo>
                  <a:close/>
                </a:path>
              </a:pathLst>
            </a:custGeom>
            <a:solidFill>
              <a:srgbClr val="97B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7760334" y="2463164"/>
            <a:ext cx="8286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i="1" dirty="0">
                <a:latin typeface="Times New Roman"/>
                <a:cs typeface="Times New Roman"/>
              </a:rPr>
              <a:t>L</a:t>
            </a:r>
            <a:r>
              <a:rPr sz="1400" i="1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5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capas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pic>
        <p:nvPicPr>
          <p:cNvPr id="97" name="Picture 4">
            <a:extLst>
              <a:ext uri="{FF2B5EF4-FFF2-40B4-BE49-F238E27FC236}">
                <a16:creationId xmlns:a16="http://schemas.microsoft.com/office/drawing/2014/main" id="{80CFB7D8-C92A-CD1A-9807-62E4B061F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6" descr="Ingeniería de Sistemas - UNCP">
            <a:extLst>
              <a:ext uri="{FF2B5EF4-FFF2-40B4-BE49-F238E27FC236}">
                <a16:creationId xmlns:a16="http://schemas.microsoft.com/office/drawing/2014/main" id="{FD0C3AC9-E79E-EA87-428A-A62ECFC15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30" dirty="0"/>
              <a:t> </a:t>
            </a:r>
            <a:r>
              <a:rPr dirty="0"/>
              <a:t>Neuronales</a:t>
            </a:r>
            <a:r>
              <a:rPr spc="-10" dirty="0"/>
              <a:t> Profundas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6994" y="936751"/>
            <a:ext cx="5547360" cy="326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6004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Elementos</a:t>
            </a:r>
            <a:r>
              <a:rPr sz="2000" b="1" spc="-5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y</a:t>
            </a:r>
            <a:r>
              <a:rPr sz="2000" b="1" spc="-4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Notación</a:t>
            </a:r>
            <a:endParaRPr sz="2000">
              <a:latin typeface="Arial"/>
              <a:cs typeface="Arial"/>
            </a:endParaRPr>
          </a:p>
          <a:p>
            <a:pPr marL="2565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56540" algn="l"/>
              </a:tabLst>
            </a:pPr>
            <a:r>
              <a:rPr sz="2000" spc="-10" dirty="0">
                <a:latin typeface="Arial MT"/>
                <a:cs typeface="Arial MT"/>
              </a:rPr>
              <a:t>Elementos:</a:t>
            </a:r>
            <a:endParaRPr sz="2000">
              <a:latin typeface="Arial MT"/>
              <a:cs typeface="Arial MT"/>
            </a:endParaRPr>
          </a:p>
          <a:p>
            <a:pPr marL="438150" lvl="1" indent="-158750">
              <a:lnSpc>
                <a:spcPct val="100000"/>
              </a:lnSpc>
              <a:spcBef>
                <a:spcPts val="1305"/>
              </a:spcBef>
              <a:buChar char="-"/>
              <a:tabLst>
                <a:tab pos="438150" algn="l"/>
              </a:tabLst>
            </a:pPr>
            <a:r>
              <a:rPr sz="1800" dirty="0">
                <a:latin typeface="Arial MT"/>
                <a:cs typeface="Arial MT"/>
              </a:rPr>
              <a:t>Entrada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(capa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entrada)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𝒂</a:t>
            </a:r>
            <a:r>
              <a:rPr sz="1950" baseline="27777" dirty="0">
                <a:latin typeface="Cambria Math"/>
                <a:cs typeface="Cambria Math"/>
              </a:rPr>
              <a:t>[0]</a:t>
            </a:r>
            <a:r>
              <a:rPr sz="1950" spc="397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ℝ</a:t>
            </a:r>
            <a:r>
              <a:rPr sz="1950" spc="-37" baseline="27777" dirty="0">
                <a:latin typeface="Cambria Math"/>
                <a:cs typeface="Cambria Math"/>
              </a:rPr>
              <a:t>𝑑</a:t>
            </a:r>
            <a:endParaRPr sz="1950" baseline="27777">
              <a:latin typeface="Cambria Math"/>
              <a:cs typeface="Cambria Math"/>
            </a:endParaRPr>
          </a:p>
          <a:p>
            <a:pPr marL="438150" lvl="1" indent="-158750">
              <a:lnSpc>
                <a:spcPct val="100000"/>
              </a:lnSpc>
              <a:spcBef>
                <a:spcPts val="1775"/>
              </a:spcBef>
              <a:buChar char="-"/>
              <a:tabLst>
                <a:tab pos="438150" algn="l"/>
              </a:tabLst>
            </a:pPr>
            <a:r>
              <a:rPr sz="1800" dirty="0">
                <a:latin typeface="Arial MT"/>
                <a:cs typeface="Arial MT"/>
              </a:rPr>
              <a:t>Capa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oculta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l</a:t>
            </a:r>
            <a:r>
              <a:rPr sz="1800" i="1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(en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total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hay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L</a:t>
            </a:r>
            <a:r>
              <a:rPr sz="1600" spc="-20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capas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ocultas)</a:t>
            </a:r>
            <a:endParaRPr sz="1600">
              <a:latin typeface="Arial MT"/>
              <a:cs typeface="Arial MT"/>
            </a:endParaRPr>
          </a:p>
          <a:p>
            <a:pPr marL="661035" lvl="2" indent="-222885">
              <a:lnSpc>
                <a:spcPct val="100000"/>
              </a:lnSpc>
              <a:spcBef>
                <a:spcPts val="994"/>
              </a:spcBef>
              <a:buChar char="•"/>
              <a:tabLst>
                <a:tab pos="661035" algn="l"/>
              </a:tabLst>
            </a:pPr>
            <a:r>
              <a:rPr sz="1600" dirty="0">
                <a:latin typeface="Arial MT"/>
                <a:cs typeface="Arial MT"/>
              </a:rPr>
              <a:t>Número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neuronas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capa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l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n</a:t>
            </a:r>
            <a:r>
              <a:rPr sz="1575" spc="-30" baseline="26455" dirty="0">
                <a:latin typeface="Times New Roman"/>
                <a:cs typeface="Times New Roman"/>
              </a:rPr>
              <a:t>[</a:t>
            </a:r>
            <a:r>
              <a:rPr sz="1575" i="1" spc="-30" baseline="26455" dirty="0">
                <a:latin typeface="Times New Roman"/>
                <a:cs typeface="Times New Roman"/>
              </a:rPr>
              <a:t>l</a:t>
            </a:r>
            <a:r>
              <a:rPr sz="1575" spc="-30" baseline="26455" dirty="0">
                <a:latin typeface="Times New Roman"/>
                <a:cs typeface="Times New Roman"/>
              </a:rPr>
              <a:t>]</a:t>
            </a:r>
            <a:endParaRPr sz="1575" baseline="26455">
              <a:latin typeface="Times New Roman"/>
              <a:cs typeface="Times New Roman"/>
            </a:endParaRPr>
          </a:p>
          <a:p>
            <a:pPr marL="661035" lvl="2" indent="-222885">
              <a:lnSpc>
                <a:spcPct val="100000"/>
              </a:lnSpc>
              <a:spcBef>
                <a:spcPts val="840"/>
              </a:spcBef>
              <a:buChar char="•"/>
              <a:tabLst>
                <a:tab pos="661035" algn="l"/>
              </a:tabLst>
            </a:pPr>
            <a:r>
              <a:rPr sz="1600" spc="10" dirty="0">
                <a:latin typeface="Arial MT"/>
                <a:cs typeface="Arial MT"/>
              </a:rPr>
              <a:t>Pesos </a:t>
            </a:r>
            <a:r>
              <a:rPr sz="1600" spc="50" dirty="0">
                <a:latin typeface="Cambria Math"/>
                <a:cs typeface="Cambria Math"/>
              </a:rPr>
              <a:t>𝑊</a:t>
            </a:r>
            <a:r>
              <a:rPr sz="1725" spc="75" baseline="28985" dirty="0">
                <a:latin typeface="Cambria Math"/>
                <a:cs typeface="Cambria Math"/>
              </a:rPr>
              <a:t>[𝑙]</a:t>
            </a:r>
            <a:r>
              <a:rPr sz="1725" spc="434" baseline="28985" dirty="0">
                <a:latin typeface="Cambria Math"/>
                <a:cs typeface="Cambria Math"/>
              </a:rPr>
              <a:t> </a:t>
            </a:r>
            <a:r>
              <a:rPr sz="1600" spc="10" dirty="0">
                <a:latin typeface="Cambria Math"/>
                <a:cs typeface="Cambria Math"/>
              </a:rPr>
              <a:t>∈</a:t>
            </a:r>
            <a:r>
              <a:rPr sz="1600" spc="145" dirty="0">
                <a:latin typeface="Cambria Math"/>
                <a:cs typeface="Cambria Math"/>
              </a:rPr>
              <a:t> </a:t>
            </a:r>
            <a:r>
              <a:rPr sz="1600" spc="10" dirty="0">
                <a:latin typeface="Cambria Math"/>
                <a:cs typeface="Cambria Math"/>
              </a:rPr>
              <a:t>ℝ</a:t>
            </a:r>
            <a:r>
              <a:rPr sz="1725" spc="15" baseline="28985" dirty="0">
                <a:latin typeface="Cambria Math"/>
                <a:cs typeface="Cambria Math"/>
              </a:rPr>
              <a:t>𝑛</a:t>
            </a:r>
            <a:r>
              <a:rPr sz="1425" spc="15" baseline="61403" dirty="0">
                <a:latin typeface="Cambria Math"/>
                <a:cs typeface="Cambria Math"/>
              </a:rPr>
              <a:t>[𝑙]</a:t>
            </a:r>
            <a:r>
              <a:rPr sz="1725" spc="15" baseline="28985" dirty="0">
                <a:latin typeface="Cambria Math"/>
                <a:cs typeface="Cambria Math"/>
              </a:rPr>
              <a:t>×𝑛</a:t>
            </a:r>
            <a:r>
              <a:rPr sz="1425" spc="15" baseline="61403" dirty="0">
                <a:latin typeface="Cambria Math"/>
                <a:cs typeface="Cambria Math"/>
              </a:rPr>
              <a:t>[𝑙−1]</a:t>
            </a:r>
            <a:r>
              <a:rPr sz="1600" spc="10" dirty="0">
                <a:latin typeface="Arial MT"/>
                <a:cs typeface="Arial MT"/>
              </a:rPr>
              <a:t>,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10" dirty="0">
                <a:latin typeface="Arial MT"/>
                <a:cs typeface="Arial MT"/>
              </a:rPr>
              <a:t>y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10" dirty="0">
                <a:latin typeface="Arial MT"/>
                <a:cs typeface="Arial MT"/>
              </a:rPr>
              <a:t>bias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10" dirty="0">
                <a:latin typeface="Cambria Math"/>
                <a:cs typeface="Cambria Math"/>
              </a:rPr>
              <a:t>𝑏</a:t>
            </a:r>
            <a:r>
              <a:rPr sz="1725" spc="15" baseline="28985" dirty="0">
                <a:latin typeface="Cambria Math"/>
                <a:cs typeface="Cambria Math"/>
              </a:rPr>
              <a:t>[𝑙]</a:t>
            </a:r>
            <a:r>
              <a:rPr sz="1725" spc="472" baseline="28985" dirty="0">
                <a:latin typeface="Cambria Math"/>
                <a:cs typeface="Cambria Math"/>
              </a:rPr>
              <a:t> </a:t>
            </a:r>
            <a:r>
              <a:rPr sz="1600" spc="10" dirty="0">
                <a:latin typeface="Cambria Math"/>
                <a:cs typeface="Cambria Math"/>
              </a:rPr>
              <a:t>∈</a:t>
            </a:r>
            <a:r>
              <a:rPr sz="1600" spc="12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ℝ</a:t>
            </a:r>
            <a:r>
              <a:rPr sz="1725" spc="-15" baseline="28985" dirty="0">
                <a:latin typeface="Cambria Math"/>
                <a:cs typeface="Cambria Math"/>
              </a:rPr>
              <a:t>𝑛</a:t>
            </a:r>
            <a:r>
              <a:rPr sz="1425" spc="-15" baseline="61403" dirty="0">
                <a:latin typeface="Cambria Math"/>
                <a:cs typeface="Cambria Math"/>
              </a:rPr>
              <a:t>[𝑙]</a:t>
            </a:r>
            <a:endParaRPr sz="1425" baseline="61403">
              <a:latin typeface="Cambria Math"/>
              <a:cs typeface="Cambria Math"/>
            </a:endParaRPr>
          </a:p>
          <a:p>
            <a:pPr marL="661035" lvl="2" indent="-222885">
              <a:lnSpc>
                <a:spcPct val="100000"/>
              </a:lnSpc>
              <a:spcBef>
                <a:spcPts val="819"/>
              </a:spcBef>
              <a:buChar char="•"/>
              <a:tabLst>
                <a:tab pos="661035" algn="l"/>
              </a:tabLst>
            </a:pPr>
            <a:r>
              <a:rPr sz="1600" dirty="0">
                <a:latin typeface="Arial MT"/>
                <a:cs typeface="Arial MT"/>
              </a:rPr>
              <a:t>Función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propagación: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Cambria Math"/>
                <a:cs typeface="Cambria Math"/>
              </a:rPr>
              <a:t>𝒛</a:t>
            </a:r>
            <a:r>
              <a:rPr sz="1725" baseline="28985" dirty="0">
                <a:latin typeface="Cambria Math"/>
                <a:cs typeface="Cambria Math"/>
              </a:rPr>
              <a:t>[𝑙]</a:t>
            </a:r>
            <a:r>
              <a:rPr sz="1725" spc="390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∈</a:t>
            </a:r>
            <a:r>
              <a:rPr sz="1600" spc="7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ℝ</a:t>
            </a:r>
            <a:r>
              <a:rPr sz="1725" spc="-30" baseline="28985" dirty="0">
                <a:latin typeface="Cambria Math"/>
                <a:cs typeface="Cambria Math"/>
              </a:rPr>
              <a:t>𝑛</a:t>
            </a:r>
            <a:r>
              <a:rPr sz="1425" spc="-30" baseline="61403" dirty="0">
                <a:latin typeface="Cambria Math"/>
                <a:cs typeface="Cambria Math"/>
              </a:rPr>
              <a:t>[𝑙]</a:t>
            </a:r>
            <a:endParaRPr sz="1425" baseline="61403">
              <a:latin typeface="Cambria Math"/>
              <a:cs typeface="Cambria Math"/>
            </a:endParaRPr>
          </a:p>
          <a:p>
            <a:pPr marL="661035" lvl="2" indent="-222885">
              <a:lnSpc>
                <a:spcPct val="100000"/>
              </a:lnSpc>
              <a:spcBef>
                <a:spcPts val="815"/>
              </a:spcBef>
              <a:buChar char="•"/>
              <a:tabLst>
                <a:tab pos="661035" algn="l"/>
              </a:tabLst>
            </a:pPr>
            <a:r>
              <a:rPr sz="1600" dirty="0">
                <a:latin typeface="Arial MT"/>
                <a:cs typeface="Arial MT"/>
              </a:rPr>
              <a:t>Activación: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Cambria Math"/>
                <a:cs typeface="Cambria Math"/>
              </a:rPr>
              <a:t>𝒂</a:t>
            </a:r>
            <a:r>
              <a:rPr sz="1725" baseline="28985" dirty="0">
                <a:latin typeface="Cambria Math"/>
                <a:cs typeface="Cambria Math"/>
              </a:rPr>
              <a:t>[𝑙]</a:t>
            </a:r>
            <a:r>
              <a:rPr sz="1725" spc="419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∈</a:t>
            </a:r>
            <a:r>
              <a:rPr sz="1600" spc="110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ℝ</a:t>
            </a:r>
            <a:r>
              <a:rPr sz="1725" spc="-30" baseline="28985" dirty="0">
                <a:latin typeface="Cambria Math"/>
                <a:cs typeface="Cambria Math"/>
              </a:rPr>
              <a:t>𝑛</a:t>
            </a:r>
            <a:r>
              <a:rPr sz="1425" spc="-30" baseline="61403" dirty="0">
                <a:latin typeface="Cambria Math"/>
                <a:cs typeface="Cambria Math"/>
              </a:rPr>
              <a:t>[𝑙]</a:t>
            </a:r>
            <a:endParaRPr sz="1425" baseline="61403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>
              <a:xfrm>
                <a:off x="628802" y="4260828"/>
                <a:ext cx="4354195" cy="1852295"/>
              </a:xfrm>
              <a:prstGeom prst="rect">
                <a:avLst/>
              </a:prstGeom>
            </p:spPr>
            <p:txBody>
              <a:bodyPr vert="horz" wrap="square" lIns="0" tIns="151765" rIns="0" bIns="0" rtlCol="0">
                <a:spAutoFit/>
              </a:bodyPr>
              <a:lstStyle/>
              <a:p>
                <a:pPr marL="196215" indent="-158115">
                  <a:lnSpc>
                    <a:spcPct val="100000"/>
                  </a:lnSpc>
                  <a:spcBef>
                    <a:spcPts val="1195"/>
                  </a:spcBef>
                  <a:buChar char="-"/>
                  <a:tabLst>
                    <a:tab pos="196215" algn="l"/>
                  </a:tabLst>
                </a:pPr>
                <a:r>
                  <a:rPr sz="1800" dirty="0">
                    <a:latin typeface="Arial MT"/>
                    <a:cs typeface="Arial MT"/>
                  </a:rPr>
                  <a:t>Capa</a:t>
                </a:r>
                <a:r>
                  <a:rPr sz="1800" spc="-30" dirty="0">
                    <a:latin typeface="Arial MT"/>
                    <a:cs typeface="Arial MT"/>
                  </a:rPr>
                  <a:t> </a:t>
                </a:r>
                <a:r>
                  <a:rPr sz="1800" dirty="0">
                    <a:latin typeface="Arial MT"/>
                    <a:cs typeface="Arial MT"/>
                  </a:rPr>
                  <a:t>de</a:t>
                </a:r>
                <a:r>
                  <a:rPr sz="1800" spc="-20" dirty="0">
                    <a:latin typeface="Arial MT"/>
                    <a:cs typeface="Arial MT"/>
                  </a:rPr>
                  <a:t> </a:t>
                </a:r>
                <a:r>
                  <a:rPr sz="1800" dirty="0">
                    <a:latin typeface="Arial MT"/>
                    <a:cs typeface="Arial MT"/>
                  </a:rPr>
                  <a:t>salida</a:t>
                </a:r>
                <a:r>
                  <a:rPr sz="1800" spc="-40" dirty="0">
                    <a:latin typeface="Arial MT"/>
                    <a:cs typeface="Arial MT"/>
                  </a:rPr>
                  <a:t> </a:t>
                </a:r>
                <a:r>
                  <a:rPr sz="1400" dirty="0">
                    <a:solidFill>
                      <a:srgbClr val="7E7E7E"/>
                    </a:solidFill>
                    <a:latin typeface="Arial MT"/>
                    <a:cs typeface="Arial MT"/>
                  </a:rPr>
                  <a:t>(capa </a:t>
                </a:r>
                <a:r>
                  <a:rPr sz="1400" i="1" spc="-25" dirty="0">
                    <a:solidFill>
                      <a:srgbClr val="7E7E7E"/>
                    </a:solidFill>
                    <a:latin typeface="Times New Roman"/>
                    <a:cs typeface="Times New Roman"/>
                  </a:rPr>
                  <a:t>L</a:t>
                </a:r>
                <a:r>
                  <a:rPr sz="1400" spc="-25" dirty="0">
                    <a:solidFill>
                      <a:srgbClr val="7E7E7E"/>
                    </a:solidFill>
                    <a:latin typeface="Arial MT"/>
                    <a:cs typeface="Arial MT"/>
                  </a:rPr>
                  <a:t>)</a:t>
                </a:r>
                <a:endParaRPr sz="1400" dirty="0">
                  <a:latin typeface="Arial MT"/>
                  <a:cs typeface="Arial MT"/>
                </a:endParaRPr>
              </a:p>
              <a:p>
                <a:pPr marL="419100" lvl="1" indent="-222250">
                  <a:lnSpc>
                    <a:spcPct val="100000"/>
                  </a:lnSpc>
                  <a:spcBef>
                    <a:spcPts val="995"/>
                  </a:spcBef>
                  <a:buChar char="•"/>
                  <a:tabLst>
                    <a:tab pos="419100" algn="l"/>
                  </a:tabLst>
                </a:pPr>
                <a:r>
                  <a:rPr sz="1600" dirty="0">
                    <a:latin typeface="Arial MT"/>
                    <a:cs typeface="Arial MT"/>
                  </a:rPr>
                  <a:t>Número</a:t>
                </a:r>
                <a:r>
                  <a:rPr sz="1600" spc="-60" dirty="0">
                    <a:latin typeface="Arial MT"/>
                    <a:cs typeface="Arial MT"/>
                  </a:rPr>
                  <a:t> </a:t>
                </a:r>
                <a:r>
                  <a:rPr sz="1600" dirty="0">
                    <a:latin typeface="Arial MT"/>
                    <a:cs typeface="Arial MT"/>
                  </a:rPr>
                  <a:t>de</a:t>
                </a:r>
                <a:r>
                  <a:rPr sz="1600" spc="-60" dirty="0">
                    <a:latin typeface="Arial MT"/>
                    <a:cs typeface="Arial MT"/>
                  </a:rPr>
                  <a:t> </a:t>
                </a:r>
                <a:r>
                  <a:rPr sz="1600" dirty="0">
                    <a:latin typeface="Arial MT"/>
                    <a:cs typeface="Arial MT"/>
                  </a:rPr>
                  <a:t>neuronas: </a:t>
                </a:r>
                <a:r>
                  <a:rPr sz="1600" i="1" spc="-20" dirty="0">
                    <a:latin typeface="Times New Roman"/>
                    <a:cs typeface="Times New Roman"/>
                  </a:rPr>
                  <a:t>n</a:t>
                </a:r>
                <a:r>
                  <a:rPr sz="1575" spc="-30" baseline="26455" dirty="0">
                    <a:latin typeface="Times New Roman"/>
                    <a:cs typeface="Times New Roman"/>
                  </a:rPr>
                  <a:t>[L]</a:t>
                </a:r>
                <a:endParaRPr sz="1575" baseline="26455" dirty="0">
                  <a:latin typeface="Times New Roman"/>
                  <a:cs typeface="Times New Roman"/>
                </a:endParaRPr>
              </a:p>
              <a:p>
                <a:pPr marL="419100" lvl="1" indent="-222250">
                  <a:lnSpc>
                    <a:spcPct val="100000"/>
                  </a:lnSpc>
                  <a:spcBef>
                    <a:spcPts val="815"/>
                  </a:spcBef>
                  <a:buChar char="•"/>
                  <a:tabLst>
                    <a:tab pos="419100" algn="l"/>
                  </a:tabLst>
                </a:pPr>
                <a:r>
                  <a:rPr sz="1600" spc="10" dirty="0">
                    <a:latin typeface="Arial MT"/>
                    <a:cs typeface="Arial MT"/>
                  </a:rPr>
                  <a:t>Pesos</a:t>
                </a:r>
                <a:r>
                  <a:rPr sz="1600" spc="35" dirty="0">
                    <a:latin typeface="Arial MT"/>
                    <a:cs typeface="Arial MT"/>
                  </a:rPr>
                  <a:t> </a:t>
                </a:r>
                <a:r>
                  <a:rPr sz="1600" spc="10" dirty="0">
                    <a:latin typeface="Cambria Math"/>
                    <a:cs typeface="Cambria Math"/>
                  </a:rPr>
                  <a:t>𝑊</a:t>
                </a:r>
                <a:r>
                  <a:rPr sz="1725" spc="15" baseline="28985" dirty="0">
                    <a:latin typeface="Cambria Math"/>
                    <a:cs typeface="Cambria Math"/>
                  </a:rPr>
                  <a:t>[𝐿]</a:t>
                </a:r>
                <a:r>
                  <a:rPr sz="1725" spc="457" baseline="28985" dirty="0">
                    <a:latin typeface="Cambria Math"/>
                    <a:cs typeface="Cambria Math"/>
                  </a:rPr>
                  <a:t> </a:t>
                </a:r>
                <a:r>
                  <a:rPr sz="1600" spc="10" dirty="0">
                    <a:latin typeface="Cambria Math"/>
                    <a:cs typeface="Cambria Math"/>
                  </a:rPr>
                  <a:t>∈</a:t>
                </a:r>
                <a:r>
                  <a:rPr sz="1600" spc="170" dirty="0">
                    <a:latin typeface="Cambria Math"/>
                    <a:cs typeface="Cambria Math"/>
                  </a:rPr>
                  <a:t> </a:t>
                </a:r>
                <a:r>
                  <a:rPr sz="1600" spc="10" dirty="0">
                    <a:latin typeface="Cambria Math"/>
                    <a:cs typeface="Cambria Math"/>
                  </a:rPr>
                  <a:t>ℝ</a:t>
                </a:r>
                <a:r>
                  <a:rPr sz="1725" spc="15" baseline="28985" dirty="0">
                    <a:latin typeface="Cambria Math"/>
                    <a:cs typeface="Cambria Math"/>
                  </a:rPr>
                  <a:t>𝑛</a:t>
                </a:r>
                <a:r>
                  <a:rPr sz="1425" spc="15" baseline="61403" dirty="0">
                    <a:latin typeface="Cambria Math"/>
                    <a:cs typeface="Cambria Math"/>
                  </a:rPr>
                  <a:t>[𝐿]</a:t>
                </a:r>
                <a:r>
                  <a:rPr sz="1725" spc="15" baseline="28985" dirty="0">
                    <a:latin typeface="Cambria Math"/>
                    <a:cs typeface="Cambria Math"/>
                  </a:rPr>
                  <a:t>×𝑛</a:t>
                </a:r>
                <a:r>
                  <a:rPr sz="1425" spc="15" baseline="61403" dirty="0">
                    <a:latin typeface="Cambria Math"/>
                    <a:cs typeface="Cambria Math"/>
                  </a:rPr>
                  <a:t>[𝐿−1]</a:t>
                </a:r>
                <a:r>
                  <a:rPr sz="1600" spc="10" dirty="0">
                    <a:latin typeface="Arial MT"/>
                    <a:cs typeface="Arial MT"/>
                  </a:rPr>
                  <a:t>,</a:t>
                </a:r>
                <a:r>
                  <a:rPr sz="1600" spc="55" dirty="0">
                    <a:latin typeface="Arial MT"/>
                    <a:cs typeface="Arial MT"/>
                  </a:rPr>
                  <a:t> </a:t>
                </a:r>
                <a:r>
                  <a:rPr sz="1600" spc="10" dirty="0">
                    <a:latin typeface="Arial MT"/>
                    <a:cs typeface="Arial MT"/>
                  </a:rPr>
                  <a:t>y</a:t>
                </a:r>
                <a:r>
                  <a:rPr sz="1600" spc="55" dirty="0">
                    <a:latin typeface="Arial MT"/>
                    <a:cs typeface="Arial MT"/>
                  </a:rPr>
                  <a:t> </a:t>
                </a:r>
                <a:r>
                  <a:rPr sz="1600" spc="10" dirty="0">
                    <a:latin typeface="Arial MT"/>
                    <a:cs typeface="Arial MT"/>
                  </a:rPr>
                  <a:t>bias</a:t>
                </a:r>
                <a:r>
                  <a:rPr sz="1600" spc="50" dirty="0">
                    <a:latin typeface="Arial MT"/>
                    <a:cs typeface="Arial MT"/>
                  </a:rPr>
                  <a:t> </a:t>
                </a:r>
                <a:r>
                  <a:rPr sz="1600" spc="10" dirty="0">
                    <a:latin typeface="Cambria Math"/>
                    <a:cs typeface="Cambria Math"/>
                  </a:rPr>
                  <a:t>𝑏</a:t>
                </a:r>
                <a:r>
                  <a:rPr sz="1725" spc="15" baseline="28985" dirty="0">
                    <a:latin typeface="Cambria Math"/>
                    <a:cs typeface="Cambria Math"/>
                  </a:rPr>
                  <a:t>[𝐿]</a:t>
                </a:r>
                <a:r>
                  <a:rPr sz="1725" spc="502" baseline="28985" dirty="0">
                    <a:latin typeface="Cambria Math"/>
                    <a:cs typeface="Cambria Math"/>
                  </a:rPr>
                  <a:t> </a:t>
                </a:r>
                <a:r>
                  <a:rPr sz="1600" spc="10" dirty="0">
                    <a:latin typeface="Cambria Math"/>
                    <a:cs typeface="Cambria Math"/>
                  </a:rPr>
                  <a:t>∈</a:t>
                </a:r>
                <a:r>
                  <a:rPr sz="1600" spc="140" dirty="0">
                    <a:latin typeface="Cambria Math"/>
                    <a:cs typeface="Cambria Math"/>
                  </a:rPr>
                  <a:t> </a:t>
                </a:r>
                <a:r>
                  <a:rPr sz="1600" spc="-10" dirty="0">
                    <a:latin typeface="Cambria Math"/>
                    <a:cs typeface="Cambria Math"/>
                  </a:rPr>
                  <a:t>ℝ</a:t>
                </a:r>
                <a:r>
                  <a:rPr sz="1725" spc="-15" baseline="28985" dirty="0">
                    <a:latin typeface="Cambria Math"/>
                    <a:cs typeface="Cambria Math"/>
                  </a:rPr>
                  <a:t>𝑛</a:t>
                </a:r>
                <a:r>
                  <a:rPr sz="1425" spc="-15" baseline="61403" dirty="0">
                    <a:latin typeface="Cambria Math"/>
                    <a:cs typeface="Cambria Math"/>
                  </a:rPr>
                  <a:t>[𝐿]</a:t>
                </a:r>
                <a:endParaRPr sz="1425" baseline="61403" dirty="0">
                  <a:latin typeface="Cambria Math"/>
                  <a:cs typeface="Cambria Math"/>
                </a:endParaRPr>
              </a:p>
              <a:p>
                <a:pPr marL="419100" lvl="1" indent="-222250">
                  <a:lnSpc>
                    <a:spcPct val="100000"/>
                  </a:lnSpc>
                  <a:spcBef>
                    <a:spcPts val="815"/>
                  </a:spcBef>
                  <a:buChar char="•"/>
                  <a:tabLst>
                    <a:tab pos="419100" algn="l"/>
                  </a:tabLst>
                </a:pPr>
                <a:r>
                  <a:rPr sz="1600" dirty="0">
                    <a:latin typeface="Arial MT"/>
                    <a:cs typeface="Arial MT"/>
                  </a:rPr>
                  <a:t>Función</a:t>
                </a:r>
                <a:r>
                  <a:rPr sz="1600" spc="-65" dirty="0">
                    <a:latin typeface="Arial MT"/>
                    <a:cs typeface="Arial MT"/>
                  </a:rPr>
                  <a:t> </a:t>
                </a:r>
                <a:r>
                  <a:rPr sz="1600" dirty="0">
                    <a:latin typeface="Arial MT"/>
                    <a:cs typeface="Arial MT"/>
                  </a:rPr>
                  <a:t>de</a:t>
                </a:r>
                <a:r>
                  <a:rPr sz="1600" spc="-15" dirty="0">
                    <a:latin typeface="Arial MT"/>
                    <a:cs typeface="Arial MT"/>
                  </a:rPr>
                  <a:t> </a:t>
                </a:r>
                <a:r>
                  <a:rPr sz="1600" dirty="0">
                    <a:latin typeface="Arial MT"/>
                    <a:cs typeface="Arial MT"/>
                  </a:rPr>
                  <a:t>propagación:</a:t>
                </a:r>
                <a:r>
                  <a:rPr sz="1600" spc="-10" dirty="0">
                    <a:latin typeface="Arial MT"/>
                    <a:cs typeface="Arial MT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𝒛</a:t>
                </a:r>
                <a:r>
                  <a:rPr sz="1725" baseline="28985" dirty="0">
                    <a:latin typeface="Cambria Math"/>
                    <a:cs typeface="Cambria Math"/>
                  </a:rPr>
                  <a:t>[𝑳]</a:t>
                </a:r>
                <a:r>
                  <a:rPr sz="1725" spc="345" baseline="28985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∈</a:t>
                </a:r>
                <a:r>
                  <a:rPr sz="1600" spc="65" dirty="0">
                    <a:latin typeface="Cambria Math"/>
                    <a:cs typeface="Cambria Math"/>
                  </a:rPr>
                  <a:t> </a:t>
                </a:r>
                <a:r>
                  <a:rPr sz="1600" spc="-20" dirty="0">
                    <a:latin typeface="Cambria Math"/>
                    <a:cs typeface="Cambria Math"/>
                  </a:rPr>
                  <a:t>ℝ</a:t>
                </a:r>
                <a:r>
                  <a:rPr sz="1725" spc="-30" baseline="28985" dirty="0">
                    <a:latin typeface="Cambria Math"/>
                    <a:cs typeface="Cambria Math"/>
                  </a:rPr>
                  <a:t>𝑛</a:t>
                </a:r>
                <a:r>
                  <a:rPr sz="1425" spc="-30" baseline="61403" dirty="0">
                    <a:latin typeface="Cambria Math"/>
                    <a:cs typeface="Cambria Math"/>
                  </a:rPr>
                  <a:t>[𝐿]</a:t>
                </a:r>
                <a:endParaRPr sz="1425" baseline="61403" dirty="0">
                  <a:latin typeface="Cambria Math"/>
                  <a:cs typeface="Cambria Math"/>
                </a:endParaRPr>
              </a:p>
              <a:p>
                <a:pPr marL="419100" lvl="1" indent="-222250">
                  <a:lnSpc>
                    <a:spcPct val="100000"/>
                  </a:lnSpc>
                  <a:spcBef>
                    <a:spcPts val="819"/>
                  </a:spcBef>
                  <a:buChar char="•"/>
                  <a:tabLst>
                    <a:tab pos="419100" algn="l"/>
                  </a:tabLst>
                </a:pPr>
                <a:r>
                  <a:rPr sz="1600" dirty="0">
                    <a:latin typeface="Arial MT"/>
                    <a:cs typeface="Arial MT"/>
                  </a:rPr>
                  <a:t>Activación</a:t>
                </a:r>
                <a:r>
                  <a:rPr sz="1600" spc="-75" dirty="0">
                    <a:latin typeface="Arial MT"/>
                    <a:cs typeface="Arial MT"/>
                  </a:rPr>
                  <a:t> </a:t>
                </a:r>
                <a:r>
                  <a:rPr sz="1400" dirty="0">
                    <a:solidFill>
                      <a:srgbClr val="7E7E7E"/>
                    </a:solidFill>
                    <a:latin typeface="Arial MT"/>
                    <a:cs typeface="Arial MT"/>
                  </a:rPr>
                  <a:t>(predicción)</a:t>
                </a:r>
                <a:r>
                  <a:rPr sz="1600" dirty="0">
                    <a:latin typeface="Arial MT"/>
                    <a:cs typeface="Arial MT"/>
                  </a:rPr>
                  <a:t>:</a:t>
                </a:r>
                <a:r>
                  <a:rPr sz="1600" spc="415" dirty="0">
                    <a:latin typeface="Arial MT"/>
                    <a:cs typeface="Arial MT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600" i="1" spc="-1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600" b="0" i="1" spc="-1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PE" sz="1600" b="0" i="1" spc="-1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600" dirty="0">
                    <a:latin typeface="Cambria Math"/>
                    <a:cs typeface="Cambria Math"/>
                  </a:rPr>
                  <a:t>=</a:t>
                </a:r>
                <a:r>
                  <a:rPr sz="1600" spc="70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𝒂</a:t>
                </a:r>
                <a:r>
                  <a:rPr sz="1725" baseline="28985" dirty="0">
                    <a:latin typeface="Cambria Math"/>
                    <a:cs typeface="Cambria Math"/>
                  </a:rPr>
                  <a:t>[𝐿]</a:t>
                </a:r>
                <a:r>
                  <a:rPr sz="1600" dirty="0">
                    <a:latin typeface="Cambria Math"/>
                    <a:cs typeface="Cambria Math"/>
                  </a:rPr>
                  <a:t>∈</a:t>
                </a:r>
                <a:r>
                  <a:rPr sz="1600" spc="80" dirty="0">
                    <a:latin typeface="Cambria Math"/>
                    <a:cs typeface="Cambria Math"/>
                  </a:rPr>
                  <a:t> </a:t>
                </a:r>
                <a:r>
                  <a:rPr sz="1600" spc="-10" dirty="0">
                    <a:latin typeface="Cambria Math"/>
                    <a:cs typeface="Cambria Math"/>
                  </a:rPr>
                  <a:t>ℝ</a:t>
                </a:r>
                <a:r>
                  <a:rPr sz="1725" spc="-15" baseline="28985" dirty="0">
                    <a:latin typeface="Cambria Math"/>
                    <a:cs typeface="Cambria Math"/>
                  </a:rPr>
                  <a:t>𝑛</a:t>
                </a:r>
                <a:r>
                  <a:rPr sz="1425" spc="-15" baseline="61403" dirty="0">
                    <a:latin typeface="Cambria Math"/>
                    <a:cs typeface="Cambria Math"/>
                  </a:rPr>
                  <a:t>[𝐿]</a:t>
                </a:r>
                <a:endParaRPr sz="1425" baseline="61403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02" y="4260828"/>
                <a:ext cx="4354195" cy="1852295"/>
              </a:xfrm>
              <a:prstGeom prst="rect">
                <a:avLst/>
              </a:prstGeom>
              <a:blipFill>
                <a:blip r:embed="rId2"/>
                <a:stretch>
                  <a:fillRect l="-2101" b="-559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6456679" y="5117033"/>
            <a:ext cx="21113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El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número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neuronas </a:t>
            </a:r>
            <a:r>
              <a:rPr sz="1400" spc="-25" dirty="0">
                <a:latin typeface="Arial MT"/>
                <a:cs typeface="Arial MT"/>
              </a:rPr>
              <a:t>de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capa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salida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indica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el </a:t>
            </a:r>
            <a:r>
              <a:rPr sz="1400" dirty="0">
                <a:latin typeface="Arial MT"/>
                <a:cs typeface="Arial MT"/>
              </a:rPr>
              <a:t>número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clases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se </a:t>
            </a:r>
            <a:r>
              <a:rPr sz="1400" dirty="0">
                <a:latin typeface="Arial MT"/>
                <a:cs typeface="Arial MT"/>
              </a:rPr>
              <a:t>desea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clasificar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6F0DE00-D5EE-0B50-4298-A19FC9DD3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46FCDC1E-135B-4381-4463-3437CC9AC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30" dirty="0"/>
              <a:t> </a:t>
            </a:r>
            <a:r>
              <a:rPr dirty="0"/>
              <a:t>Neuronales</a:t>
            </a:r>
            <a:r>
              <a:rPr spc="-10" dirty="0"/>
              <a:t> Profundas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5822950" cy="904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55545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Propagación</a:t>
            </a:r>
            <a:r>
              <a:rPr sz="2000" b="1" spc="-6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hacia</a:t>
            </a:r>
            <a:r>
              <a:rPr sz="2000" b="1" spc="-8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adelante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capa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l</a:t>
            </a:r>
            <a:r>
              <a:rPr sz="2000" spc="-25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5604764"/>
            <a:ext cx="8005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080" indent="-1593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cálculos)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propagan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“izquierda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derecha”: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propagación </a:t>
            </a:r>
            <a:r>
              <a:rPr sz="1800" dirty="0">
                <a:latin typeface="Arial MT"/>
                <a:cs typeface="Arial MT"/>
              </a:rPr>
              <a:t>hacia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adelante.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5303" y="1999488"/>
            <a:ext cx="2221992" cy="2468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5303" y="2456688"/>
            <a:ext cx="1438655" cy="29260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115055" y="4495609"/>
            <a:ext cx="2957195" cy="704850"/>
            <a:chOff x="3115055" y="4495609"/>
            <a:chExt cx="2957195" cy="704850"/>
          </a:xfrm>
        </p:grpSpPr>
        <p:sp>
          <p:nvSpPr>
            <p:cNvPr id="8" name="object 8"/>
            <p:cNvSpPr/>
            <p:nvPr/>
          </p:nvSpPr>
          <p:spPr>
            <a:xfrm>
              <a:off x="4050791" y="4507991"/>
              <a:ext cx="1511935" cy="680085"/>
            </a:xfrm>
            <a:custGeom>
              <a:avLst/>
              <a:gdLst/>
              <a:ahLst/>
              <a:cxnLst/>
              <a:rect l="l" t="t" r="r" b="b"/>
              <a:pathLst>
                <a:path w="1511935" h="680085">
                  <a:moveTo>
                    <a:pt x="0" y="113283"/>
                  </a:moveTo>
                  <a:lnTo>
                    <a:pt x="8895" y="69169"/>
                  </a:lnTo>
                  <a:lnTo>
                    <a:pt x="33162" y="33162"/>
                  </a:lnTo>
                  <a:lnTo>
                    <a:pt x="69169" y="8895"/>
                  </a:lnTo>
                  <a:lnTo>
                    <a:pt x="113284" y="0"/>
                  </a:lnTo>
                  <a:lnTo>
                    <a:pt x="1398524" y="0"/>
                  </a:lnTo>
                  <a:lnTo>
                    <a:pt x="1442638" y="8895"/>
                  </a:lnTo>
                  <a:lnTo>
                    <a:pt x="1478645" y="33162"/>
                  </a:lnTo>
                  <a:lnTo>
                    <a:pt x="1502912" y="69169"/>
                  </a:lnTo>
                  <a:lnTo>
                    <a:pt x="1511808" y="113283"/>
                  </a:lnTo>
                  <a:lnTo>
                    <a:pt x="1511808" y="566419"/>
                  </a:lnTo>
                  <a:lnTo>
                    <a:pt x="1502912" y="610534"/>
                  </a:lnTo>
                  <a:lnTo>
                    <a:pt x="1478645" y="646541"/>
                  </a:lnTo>
                  <a:lnTo>
                    <a:pt x="1442638" y="670808"/>
                  </a:lnTo>
                  <a:lnTo>
                    <a:pt x="1398524" y="679703"/>
                  </a:lnTo>
                  <a:lnTo>
                    <a:pt x="113284" y="679703"/>
                  </a:lnTo>
                  <a:lnTo>
                    <a:pt x="69169" y="670808"/>
                  </a:lnTo>
                  <a:lnTo>
                    <a:pt x="33162" y="646541"/>
                  </a:lnTo>
                  <a:lnTo>
                    <a:pt x="8895" y="610534"/>
                  </a:lnTo>
                  <a:lnTo>
                    <a:pt x="0" y="566419"/>
                  </a:lnTo>
                  <a:lnTo>
                    <a:pt x="0" y="113283"/>
                  </a:lnTo>
                  <a:close/>
                </a:path>
              </a:pathLst>
            </a:custGeom>
            <a:ln w="2438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41776" y="4789931"/>
              <a:ext cx="2530475" cy="76200"/>
            </a:xfrm>
            <a:custGeom>
              <a:avLst/>
              <a:gdLst/>
              <a:ahLst/>
              <a:cxnLst/>
              <a:rect l="l" t="t" r="r" b="b"/>
              <a:pathLst>
                <a:path w="2530475" h="76200">
                  <a:moveTo>
                    <a:pt x="509397" y="38100"/>
                  </a:moveTo>
                  <a:lnTo>
                    <a:pt x="485013" y="25908"/>
                  </a:lnTo>
                  <a:lnTo>
                    <a:pt x="433197" y="0"/>
                  </a:lnTo>
                  <a:lnTo>
                    <a:pt x="433197" y="25908"/>
                  </a:lnTo>
                  <a:lnTo>
                    <a:pt x="0" y="25908"/>
                  </a:lnTo>
                  <a:lnTo>
                    <a:pt x="0" y="50292"/>
                  </a:lnTo>
                  <a:lnTo>
                    <a:pt x="433197" y="50292"/>
                  </a:lnTo>
                  <a:lnTo>
                    <a:pt x="433197" y="76200"/>
                  </a:lnTo>
                  <a:lnTo>
                    <a:pt x="485013" y="50292"/>
                  </a:lnTo>
                  <a:lnTo>
                    <a:pt x="509397" y="38100"/>
                  </a:lnTo>
                  <a:close/>
                </a:path>
                <a:path w="2530475" h="76200">
                  <a:moveTo>
                    <a:pt x="2530221" y="38100"/>
                  </a:moveTo>
                  <a:lnTo>
                    <a:pt x="2505837" y="25908"/>
                  </a:lnTo>
                  <a:lnTo>
                    <a:pt x="2454021" y="0"/>
                  </a:lnTo>
                  <a:lnTo>
                    <a:pt x="2454021" y="25908"/>
                  </a:lnTo>
                  <a:lnTo>
                    <a:pt x="2020824" y="25908"/>
                  </a:lnTo>
                  <a:lnTo>
                    <a:pt x="2020824" y="50292"/>
                  </a:lnTo>
                  <a:lnTo>
                    <a:pt x="2454021" y="50292"/>
                  </a:lnTo>
                  <a:lnTo>
                    <a:pt x="2454021" y="76200"/>
                  </a:lnTo>
                  <a:lnTo>
                    <a:pt x="2505837" y="50292"/>
                  </a:lnTo>
                  <a:lnTo>
                    <a:pt x="2530221" y="3810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5055" y="4547615"/>
              <a:ext cx="533399" cy="23164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6102" y="2992411"/>
            <a:ext cx="7452995" cy="15062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08915" indent="-158115">
              <a:lnSpc>
                <a:spcPct val="100000"/>
              </a:lnSpc>
              <a:spcBef>
                <a:spcPts val="500"/>
              </a:spcBef>
              <a:buChar char="-"/>
              <a:tabLst>
                <a:tab pos="208915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calcula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parámetros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l</a:t>
            </a:r>
            <a:r>
              <a:rPr sz="1800" i="1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partir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 la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anterior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l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marL="431800" lvl="1" indent="-222250">
              <a:lnSpc>
                <a:spcPct val="100000"/>
              </a:lnSpc>
              <a:spcBef>
                <a:spcPts val="365"/>
              </a:spcBef>
              <a:buChar char="•"/>
              <a:tabLst>
                <a:tab pos="431800" algn="l"/>
              </a:tabLst>
            </a:pPr>
            <a:r>
              <a:rPr sz="1600" dirty="0">
                <a:latin typeface="Arial MT"/>
                <a:cs typeface="Arial MT"/>
              </a:rPr>
              <a:t>Entrada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capa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l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activación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</a:t>
            </a:r>
            <a:r>
              <a:rPr sz="1575" baseline="26455" dirty="0">
                <a:latin typeface="Times New Roman"/>
                <a:cs typeface="Times New Roman"/>
              </a:rPr>
              <a:t>[</a:t>
            </a:r>
            <a:r>
              <a:rPr sz="1575" i="1" baseline="26455" dirty="0">
                <a:latin typeface="Times New Roman"/>
                <a:cs typeface="Times New Roman"/>
              </a:rPr>
              <a:t>l</a:t>
            </a:r>
            <a:r>
              <a:rPr sz="1575" baseline="26455" dirty="0">
                <a:latin typeface="Times New Roman"/>
                <a:cs typeface="Times New Roman"/>
              </a:rPr>
              <a:t>-1]</a:t>
            </a:r>
            <a:r>
              <a:rPr sz="1575" spc="209" baseline="264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capa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anterior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l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1</a:t>
            </a:r>
            <a:r>
              <a:rPr sz="1600" spc="-25" dirty="0"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431800" lvl="1" indent="-222250">
              <a:lnSpc>
                <a:spcPct val="100000"/>
              </a:lnSpc>
              <a:spcBef>
                <a:spcPts val="390"/>
              </a:spcBef>
              <a:buChar char="•"/>
              <a:tabLst>
                <a:tab pos="431800" algn="l"/>
              </a:tabLst>
            </a:pPr>
            <a:r>
              <a:rPr sz="1600" dirty="0">
                <a:latin typeface="Arial MT"/>
                <a:cs typeface="Arial MT"/>
              </a:rPr>
              <a:t>Salida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capa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l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activación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</a:t>
            </a:r>
            <a:r>
              <a:rPr sz="1575" baseline="26455" dirty="0">
                <a:latin typeface="Times New Roman"/>
                <a:cs typeface="Times New Roman"/>
              </a:rPr>
              <a:t>[</a:t>
            </a:r>
            <a:r>
              <a:rPr sz="1575" i="1" baseline="26455" dirty="0">
                <a:latin typeface="Times New Roman"/>
                <a:cs typeface="Times New Roman"/>
              </a:rPr>
              <a:t>l</a:t>
            </a:r>
            <a:r>
              <a:rPr sz="1575" baseline="26455" dirty="0">
                <a:latin typeface="Times New Roman"/>
                <a:cs typeface="Times New Roman"/>
              </a:rPr>
              <a:t>]</a:t>
            </a:r>
            <a:r>
              <a:rPr sz="1575" spc="-30" baseline="264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capa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actual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(</a:t>
            </a:r>
            <a:r>
              <a:rPr sz="1600" i="1" spc="-25" dirty="0">
                <a:latin typeface="Times New Roman"/>
                <a:cs typeface="Times New Roman"/>
              </a:rPr>
              <a:t>l</a:t>
            </a:r>
            <a:r>
              <a:rPr sz="1600" spc="-25" dirty="0"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600">
              <a:latin typeface="Arial MT"/>
              <a:cs typeface="Arial MT"/>
            </a:endParaRPr>
          </a:p>
          <a:p>
            <a:pPr marL="922019" algn="ctr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capa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l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53911" y="4523232"/>
            <a:ext cx="283463" cy="2316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01311" y="4721352"/>
            <a:ext cx="807720" cy="28346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842375" y="6651686"/>
            <a:ext cx="165735" cy="16891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000" spc="-25" dirty="0">
                <a:solidFill>
                  <a:srgbClr val="585858"/>
                </a:solidFill>
                <a:latin typeface="Arial MT"/>
                <a:cs typeface="Arial MT"/>
              </a:rPr>
              <a:t>27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5EACF9C4-143B-E3E1-6273-ED5D74EC8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Ingeniería de Sistemas - UNCP">
            <a:extLst>
              <a:ext uri="{FF2B5EF4-FFF2-40B4-BE49-F238E27FC236}">
                <a16:creationId xmlns:a16="http://schemas.microsoft.com/office/drawing/2014/main" id="{1D6C48E7-4363-5EF5-B72A-2634F8BB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30" dirty="0"/>
              <a:t> </a:t>
            </a:r>
            <a:r>
              <a:rPr dirty="0"/>
              <a:t>Neuronales</a:t>
            </a:r>
            <a:r>
              <a:rPr spc="-10" dirty="0"/>
              <a:t> Profundas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6407785" cy="904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6197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Función</a:t>
            </a:r>
            <a:r>
              <a:rPr sz="2000" b="1" spc="-5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Costo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Con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salida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(1</a:t>
            </a:r>
            <a:r>
              <a:rPr sz="18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unidad</a:t>
            </a:r>
            <a:r>
              <a:rPr sz="18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neuronal</a:t>
            </a:r>
            <a:r>
              <a:rPr sz="18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18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la</a:t>
            </a:r>
            <a:r>
              <a:rPr sz="18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salida)</a:t>
            </a:r>
            <a:r>
              <a:rPr sz="2000" spc="-1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094" y="2619898"/>
            <a:ext cx="5370195" cy="15640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99415" indent="-158115">
              <a:lnSpc>
                <a:spcPct val="100000"/>
              </a:lnSpc>
              <a:spcBef>
                <a:spcPts val="484"/>
              </a:spcBef>
              <a:buFont typeface="Times New Roman"/>
              <a:buChar char="-"/>
              <a:tabLst>
                <a:tab pos="399415" algn="l"/>
              </a:tabLst>
            </a:pPr>
            <a:r>
              <a:rPr sz="1600" i="1" dirty="0">
                <a:latin typeface="Times New Roman"/>
                <a:cs typeface="Times New Roman"/>
              </a:rPr>
              <a:t>n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número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instancias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(de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entrenamiento)</a:t>
            </a:r>
            <a:endParaRPr sz="1400">
              <a:latin typeface="Arial MT"/>
              <a:cs typeface="Arial MT"/>
            </a:endParaRPr>
          </a:p>
          <a:p>
            <a:pPr marL="399415" indent="-158115">
              <a:lnSpc>
                <a:spcPct val="100000"/>
              </a:lnSpc>
              <a:spcBef>
                <a:spcPts val="385"/>
              </a:spcBef>
              <a:buFont typeface="Times New Roman"/>
              <a:buChar char="-"/>
              <a:tabLst>
                <a:tab pos="399415" algn="l"/>
              </a:tabLst>
            </a:pPr>
            <a:r>
              <a:rPr sz="1600" i="1" dirty="0">
                <a:latin typeface="Times New Roman"/>
                <a:cs typeface="Times New Roman"/>
              </a:rPr>
              <a:t>y</a:t>
            </a:r>
            <a:r>
              <a:rPr sz="1575" baseline="26455" dirty="0">
                <a:latin typeface="Times New Roman"/>
                <a:cs typeface="Times New Roman"/>
              </a:rPr>
              <a:t>(</a:t>
            </a:r>
            <a:r>
              <a:rPr sz="1575" i="1" baseline="26455" dirty="0">
                <a:latin typeface="Times New Roman"/>
                <a:cs typeface="Times New Roman"/>
              </a:rPr>
              <a:t>i</a:t>
            </a:r>
            <a:r>
              <a:rPr sz="1575" baseline="26455" dirty="0">
                <a:latin typeface="Times New Roman"/>
                <a:cs typeface="Times New Roman"/>
              </a:rPr>
              <a:t>)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clase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real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 muestra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i="1" spc="60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(0</a:t>
            </a:r>
            <a:r>
              <a:rPr sz="14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</a:t>
            </a:r>
            <a:r>
              <a:rPr sz="14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1)</a:t>
            </a:r>
            <a:endParaRPr sz="1400">
              <a:latin typeface="Arial MT"/>
              <a:cs typeface="Arial MT"/>
            </a:endParaRPr>
          </a:p>
          <a:p>
            <a:pPr marL="399415" indent="-158115">
              <a:lnSpc>
                <a:spcPct val="100000"/>
              </a:lnSpc>
              <a:spcBef>
                <a:spcPts val="385"/>
              </a:spcBef>
              <a:buFont typeface="Times New Roman"/>
              <a:buChar char="-"/>
              <a:tabLst>
                <a:tab pos="399415" algn="l"/>
              </a:tabLst>
            </a:pPr>
            <a:r>
              <a:rPr sz="1600" i="1" dirty="0">
                <a:latin typeface="Times New Roman"/>
                <a:cs typeface="Times New Roman"/>
              </a:rPr>
              <a:t>h</a:t>
            </a:r>
            <a:r>
              <a:rPr sz="1575" i="1" baseline="-21164" dirty="0">
                <a:latin typeface="Times New Roman"/>
                <a:cs typeface="Times New Roman"/>
              </a:rPr>
              <a:t>w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b="1" i="1" dirty="0">
                <a:latin typeface="Times New Roman"/>
                <a:cs typeface="Times New Roman"/>
              </a:rPr>
              <a:t>x</a:t>
            </a:r>
            <a:r>
              <a:rPr sz="1575" baseline="26455" dirty="0">
                <a:latin typeface="Times New Roman"/>
                <a:cs typeface="Times New Roman"/>
              </a:rPr>
              <a:t>(</a:t>
            </a:r>
            <a:r>
              <a:rPr sz="1575" i="1" baseline="26455" dirty="0">
                <a:latin typeface="Times New Roman"/>
                <a:cs typeface="Times New Roman"/>
              </a:rPr>
              <a:t>i</a:t>
            </a:r>
            <a:r>
              <a:rPr sz="1575" baseline="26455" dirty="0">
                <a:latin typeface="Times New Roman"/>
                <a:cs typeface="Times New Roman"/>
              </a:rPr>
              <a:t>)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predicción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muestra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</a:t>
            </a:r>
            <a:r>
              <a:rPr sz="1600" i="1" spc="35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(función</a:t>
            </a:r>
            <a:r>
              <a:rPr sz="14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4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hipótesis)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600">
              <a:latin typeface="Arial MT"/>
              <a:cs typeface="Arial MT"/>
            </a:endParaRPr>
          </a:p>
          <a:p>
            <a:pPr marL="218440" indent="-193040">
              <a:lnSpc>
                <a:spcPct val="100000"/>
              </a:lnSpc>
              <a:buChar char="•"/>
              <a:tabLst>
                <a:tab pos="218440" algn="l"/>
              </a:tabLst>
            </a:pPr>
            <a:r>
              <a:rPr sz="2000" dirty="0">
                <a:latin typeface="Arial MT"/>
                <a:cs typeface="Arial MT"/>
              </a:rPr>
              <a:t>Con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K</a:t>
            </a:r>
            <a:r>
              <a:rPr sz="2000" i="1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clases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salida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794" y="5025390"/>
            <a:ext cx="687641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90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minimiza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función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costo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usando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“</a:t>
            </a:r>
            <a:r>
              <a:rPr sz="2000" i="1" spc="-10" dirty="0">
                <a:latin typeface="Arial"/>
                <a:cs typeface="Arial"/>
              </a:rPr>
              <a:t>backpropagation</a:t>
            </a:r>
            <a:r>
              <a:rPr sz="2000" spc="-10" dirty="0">
                <a:latin typeface="Arial MT"/>
                <a:cs typeface="Arial MT"/>
              </a:rPr>
              <a:t>”: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571" y="4320118"/>
            <a:ext cx="6414013" cy="6206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8559" y="2005680"/>
            <a:ext cx="5212024" cy="54235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634811" y="5996410"/>
            <a:ext cx="356870" cy="0"/>
          </a:xfrm>
          <a:custGeom>
            <a:avLst/>
            <a:gdLst/>
            <a:ahLst/>
            <a:cxnLst/>
            <a:rect l="l" t="t" r="r" b="b"/>
            <a:pathLst>
              <a:path w="356870">
                <a:moveTo>
                  <a:pt x="0" y="0"/>
                </a:moveTo>
                <a:lnTo>
                  <a:pt x="356508" y="0"/>
                </a:lnTo>
              </a:path>
            </a:pathLst>
          </a:custGeom>
          <a:ln w="121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8802" y="5350755"/>
            <a:ext cx="6622415" cy="78613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96850" indent="-158750">
              <a:lnSpc>
                <a:spcPct val="100000"/>
              </a:lnSpc>
              <a:spcBef>
                <a:spcPts val="825"/>
              </a:spcBef>
              <a:buChar char="-"/>
              <a:tabLst>
                <a:tab pos="196850" algn="l"/>
              </a:tabLst>
            </a:pPr>
            <a:r>
              <a:rPr sz="1800" dirty="0">
                <a:latin typeface="Arial MT"/>
                <a:cs typeface="Arial MT"/>
              </a:rPr>
              <a:t>Obtiene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valores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derivadas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respecto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b="1" i="1" dirty="0">
                <a:latin typeface="Times New Roman"/>
                <a:cs typeface="Times New Roman"/>
              </a:rPr>
              <a:t>w</a:t>
            </a:r>
            <a:r>
              <a:rPr sz="1800" i="1" baseline="-20833" dirty="0">
                <a:latin typeface="Times New Roman"/>
                <a:cs typeface="Times New Roman"/>
              </a:rPr>
              <a:t>i</a:t>
            </a:r>
            <a:r>
              <a:rPr sz="1800" i="1" spc="307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b</a:t>
            </a:r>
            <a:r>
              <a:rPr sz="1800" i="1" spc="-37" baseline="-20833" dirty="0">
                <a:latin typeface="Times New Roman"/>
                <a:cs typeface="Times New Roman"/>
              </a:rPr>
              <a:t>i</a:t>
            </a:r>
            <a:endParaRPr sz="1800" baseline="-20833">
              <a:latin typeface="Times New Roman"/>
              <a:cs typeface="Times New Roman"/>
            </a:endParaRPr>
          </a:p>
          <a:p>
            <a:pPr marL="196215" indent="-158115">
              <a:lnSpc>
                <a:spcPct val="100000"/>
              </a:lnSpc>
              <a:spcBef>
                <a:spcPts val="815"/>
              </a:spcBef>
              <a:buChar char="-"/>
              <a:tabLst>
                <a:tab pos="196215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“gradient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descent”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encontrar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w</a:t>
            </a:r>
            <a:r>
              <a:rPr sz="1800" i="1" baseline="-20833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b</a:t>
            </a:r>
            <a:r>
              <a:rPr sz="1800" i="1" baseline="-20833" dirty="0">
                <a:latin typeface="Times New Roman"/>
                <a:cs typeface="Times New Roman"/>
              </a:rPr>
              <a:t>i</a:t>
            </a:r>
            <a:r>
              <a:rPr sz="1800" i="1" spc="284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óptimos: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2850" i="1" baseline="4385" dirty="0">
                <a:latin typeface="Times New Roman"/>
                <a:cs typeface="Times New Roman"/>
              </a:rPr>
              <a:t>w</a:t>
            </a:r>
            <a:r>
              <a:rPr sz="1650" i="1" baseline="-17676" dirty="0">
                <a:latin typeface="Times New Roman"/>
                <a:cs typeface="Times New Roman"/>
              </a:rPr>
              <a:t>i</a:t>
            </a:r>
            <a:r>
              <a:rPr sz="1650" i="1" spc="600" baseline="-17676" dirty="0">
                <a:latin typeface="Times New Roman"/>
                <a:cs typeface="Times New Roman"/>
              </a:rPr>
              <a:t> </a:t>
            </a:r>
            <a:r>
              <a:rPr sz="2850" baseline="4385" dirty="0">
                <a:latin typeface="Symbol"/>
                <a:cs typeface="Symbol"/>
              </a:rPr>
              <a:t></a:t>
            </a:r>
            <a:r>
              <a:rPr sz="2850" spc="-7" baseline="4385" dirty="0">
                <a:latin typeface="Times New Roman"/>
                <a:cs typeface="Times New Roman"/>
              </a:rPr>
              <a:t> </a:t>
            </a:r>
            <a:r>
              <a:rPr sz="2850" i="1" spc="-37" baseline="4385" dirty="0">
                <a:latin typeface="Times New Roman"/>
                <a:cs typeface="Times New Roman"/>
              </a:rPr>
              <a:t>w</a:t>
            </a:r>
            <a:r>
              <a:rPr sz="1650" i="1" spc="-37" baseline="-17676" dirty="0">
                <a:latin typeface="Times New Roman"/>
                <a:cs typeface="Times New Roman"/>
              </a:rPr>
              <a:t>i</a:t>
            </a:r>
            <a:endParaRPr sz="1650" baseline="-1767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672416" y="5644459"/>
            <a:ext cx="252729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25" dirty="0">
                <a:latin typeface="Symbol"/>
                <a:cs typeface="Symbol"/>
              </a:rPr>
              <a:t></a:t>
            </a:r>
            <a:r>
              <a:rPr sz="1900" i="1" spc="-25" dirty="0">
                <a:latin typeface="Times New Roman"/>
                <a:cs typeface="Times New Roman"/>
              </a:rPr>
              <a:t>J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47811" y="5785827"/>
            <a:ext cx="41910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25" dirty="0">
                <a:latin typeface="Symbol"/>
                <a:cs typeface="Symbol"/>
              </a:rPr>
              <a:t></a:t>
            </a:r>
            <a:r>
              <a:rPr sz="2050" spc="-25" dirty="0">
                <a:latin typeface="Symbol"/>
                <a:cs typeface="Symbol"/>
              </a:rPr>
              <a:t>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08165" y="5990726"/>
            <a:ext cx="38227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900" spc="-25" dirty="0">
                <a:latin typeface="Symbol"/>
                <a:cs typeface="Symbol"/>
              </a:rPr>
              <a:t></a:t>
            </a:r>
            <a:r>
              <a:rPr sz="1900" i="1" spc="-25" dirty="0">
                <a:latin typeface="Times New Roman"/>
                <a:cs typeface="Times New Roman"/>
              </a:rPr>
              <a:t>w</a:t>
            </a:r>
            <a:r>
              <a:rPr sz="1650" i="1" spc="-37" baseline="-25252" dirty="0">
                <a:latin typeface="Times New Roman"/>
                <a:cs typeface="Times New Roman"/>
              </a:rPr>
              <a:t>i</a:t>
            </a:r>
            <a:endParaRPr sz="1650" baseline="-25252">
              <a:latin typeface="Times New Roman"/>
              <a:cs typeface="Times New Roman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0E6DB921-A13A-85E2-AA9A-524E88CD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Ingeniería de Sistemas - UNCP">
            <a:extLst>
              <a:ext uri="{FF2B5EF4-FFF2-40B4-BE49-F238E27FC236}">
                <a16:creationId xmlns:a16="http://schemas.microsoft.com/office/drawing/2014/main" id="{AAF61603-5236-7995-4B47-BEC0540E7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30" dirty="0"/>
              <a:t> </a:t>
            </a:r>
            <a:r>
              <a:rPr dirty="0"/>
              <a:t>Neuronales</a:t>
            </a:r>
            <a:r>
              <a:rPr spc="-10" dirty="0"/>
              <a:t> Profundas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202" y="4067378"/>
            <a:ext cx="72091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calcula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derivadas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 capa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l-1</a:t>
            </a:r>
            <a:r>
              <a:rPr sz="1800" i="1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partir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posterior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(</a:t>
            </a:r>
            <a:r>
              <a:rPr sz="1800" i="1" spc="-25" dirty="0">
                <a:latin typeface="Times New Roman"/>
                <a:cs typeface="Times New Roman"/>
              </a:rPr>
              <a:t>l</a:t>
            </a:r>
            <a:r>
              <a:rPr sz="1800" spc="-25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7079" y="4660391"/>
            <a:ext cx="2325624" cy="3169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9920" y="5166359"/>
            <a:ext cx="1886711" cy="2377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0128" y="5647944"/>
            <a:ext cx="1152144" cy="2407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78479" y="6132576"/>
            <a:ext cx="2026920" cy="24079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700527" y="2160841"/>
            <a:ext cx="2957195" cy="704850"/>
            <a:chOff x="2700527" y="2160841"/>
            <a:chExt cx="2957195" cy="704850"/>
          </a:xfrm>
        </p:grpSpPr>
        <p:sp>
          <p:nvSpPr>
            <p:cNvPr id="9" name="object 9"/>
            <p:cNvSpPr/>
            <p:nvPr/>
          </p:nvSpPr>
          <p:spPr>
            <a:xfrm>
              <a:off x="3636263" y="2173224"/>
              <a:ext cx="1511935" cy="680085"/>
            </a:xfrm>
            <a:custGeom>
              <a:avLst/>
              <a:gdLst/>
              <a:ahLst/>
              <a:cxnLst/>
              <a:rect l="l" t="t" r="r" b="b"/>
              <a:pathLst>
                <a:path w="1511935" h="680085">
                  <a:moveTo>
                    <a:pt x="0" y="113284"/>
                  </a:moveTo>
                  <a:lnTo>
                    <a:pt x="8895" y="69169"/>
                  </a:lnTo>
                  <a:lnTo>
                    <a:pt x="33162" y="33162"/>
                  </a:lnTo>
                  <a:lnTo>
                    <a:pt x="69169" y="8895"/>
                  </a:lnTo>
                  <a:lnTo>
                    <a:pt x="113284" y="0"/>
                  </a:lnTo>
                  <a:lnTo>
                    <a:pt x="1398524" y="0"/>
                  </a:lnTo>
                  <a:lnTo>
                    <a:pt x="1442638" y="8895"/>
                  </a:lnTo>
                  <a:lnTo>
                    <a:pt x="1478645" y="33162"/>
                  </a:lnTo>
                  <a:lnTo>
                    <a:pt x="1502912" y="69169"/>
                  </a:lnTo>
                  <a:lnTo>
                    <a:pt x="1511808" y="113284"/>
                  </a:lnTo>
                  <a:lnTo>
                    <a:pt x="1511808" y="566420"/>
                  </a:lnTo>
                  <a:lnTo>
                    <a:pt x="1502912" y="610534"/>
                  </a:lnTo>
                  <a:lnTo>
                    <a:pt x="1478645" y="646541"/>
                  </a:lnTo>
                  <a:lnTo>
                    <a:pt x="1442638" y="670808"/>
                  </a:lnTo>
                  <a:lnTo>
                    <a:pt x="1398524" y="679703"/>
                  </a:lnTo>
                  <a:lnTo>
                    <a:pt x="113284" y="679703"/>
                  </a:lnTo>
                  <a:lnTo>
                    <a:pt x="69169" y="670808"/>
                  </a:lnTo>
                  <a:lnTo>
                    <a:pt x="33162" y="646541"/>
                  </a:lnTo>
                  <a:lnTo>
                    <a:pt x="8895" y="610534"/>
                  </a:lnTo>
                  <a:lnTo>
                    <a:pt x="0" y="566420"/>
                  </a:lnTo>
                  <a:lnTo>
                    <a:pt x="0" y="113284"/>
                  </a:lnTo>
                  <a:close/>
                </a:path>
              </a:pathLst>
            </a:custGeom>
            <a:ln w="2438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27248" y="2452115"/>
              <a:ext cx="2530475" cy="76200"/>
            </a:xfrm>
            <a:custGeom>
              <a:avLst/>
              <a:gdLst/>
              <a:ahLst/>
              <a:cxnLst/>
              <a:rect l="l" t="t" r="r" b="b"/>
              <a:pathLst>
                <a:path w="2530475" h="76200">
                  <a:moveTo>
                    <a:pt x="509397" y="25908"/>
                  </a:moveTo>
                  <a:lnTo>
                    <a:pt x="76200" y="25908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50292"/>
                  </a:lnTo>
                  <a:lnTo>
                    <a:pt x="509397" y="50292"/>
                  </a:lnTo>
                  <a:lnTo>
                    <a:pt x="509397" y="25908"/>
                  </a:lnTo>
                  <a:close/>
                </a:path>
                <a:path w="2530475" h="76200">
                  <a:moveTo>
                    <a:pt x="2530221" y="25908"/>
                  </a:moveTo>
                  <a:lnTo>
                    <a:pt x="2097024" y="25908"/>
                  </a:lnTo>
                  <a:lnTo>
                    <a:pt x="2097024" y="0"/>
                  </a:lnTo>
                  <a:lnTo>
                    <a:pt x="2020824" y="38100"/>
                  </a:lnTo>
                  <a:lnTo>
                    <a:pt x="2097024" y="76200"/>
                  </a:lnTo>
                  <a:lnTo>
                    <a:pt x="2097024" y="50292"/>
                  </a:lnTo>
                  <a:lnTo>
                    <a:pt x="2530221" y="50292"/>
                  </a:lnTo>
                  <a:lnTo>
                    <a:pt x="2530221" y="2590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0527" y="2212848"/>
              <a:ext cx="664463" cy="23469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37794" y="936751"/>
            <a:ext cx="5614035" cy="1225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68905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Propagación</a:t>
            </a:r>
            <a:r>
              <a:rPr sz="2000" b="1" spc="-6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hacia</a:t>
            </a:r>
            <a:r>
              <a:rPr sz="2000" b="1" spc="-8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atrás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capa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l</a:t>
            </a:r>
            <a:r>
              <a:rPr sz="2000" spc="-25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3640454">
              <a:lnSpc>
                <a:spcPct val="100000"/>
              </a:lnSpc>
              <a:spcBef>
                <a:spcPts val="360"/>
              </a:spcBef>
            </a:pPr>
            <a:r>
              <a:rPr sz="1800" dirty="0">
                <a:latin typeface="Arial MT"/>
                <a:cs typeface="Arial MT"/>
              </a:rPr>
              <a:t>capa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l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39384" y="2185416"/>
            <a:ext cx="414527" cy="23774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986784" y="2386583"/>
            <a:ext cx="810895" cy="989330"/>
            <a:chOff x="3986784" y="2386583"/>
            <a:chExt cx="810895" cy="98933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86784" y="2386583"/>
              <a:ext cx="810767" cy="2834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021836" y="2852927"/>
              <a:ext cx="661670" cy="523240"/>
            </a:xfrm>
            <a:custGeom>
              <a:avLst/>
              <a:gdLst/>
              <a:ahLst/>
              <a:cxnLst/>
              <a:rect l="l" t="t" r="r" b="b"/>
              <a:pathLst>
                <a:path w="661670" h="523239">
                  <a:moveTo>
                    <a:pt x="76200" y="446786"/>
                  </a:moveTo>
                  <a:lnTo>
                    <a:pt x="50292" y="446786"/>
                  </a:lnTo>
                  <a:lnTo>
                    <a:pt x="50292" y="0"/>
                  </a:lnTo>
                  <a:lnTo>
                    <a:pt x="25908" y="0"/>
                  </a:lnTo>
                  <a:lnTo>
                    <a:pt x="25908" y="446786"/>
                  </a:lnTo>
                  <a:lnTo>
                    <a:pt x="0" y="446786"/>
                  </a:lnTo>
                  <a:lnTo>
                    <a:pt x="38100" y="522986"/>
                  </a:lnTo>
                  <a:lnTo>
                    <a:pt x="69850" y="459486"/>
                  </a:lnTo>
                  <a:lnTo>
                    <a:pt x="76200" y="446786"/>
                  </a:lnTo>
                  <a:close/>
                </a:path>
                <a:path w="661670" h="523239">
                  <a:moveTo>
                    <a:pt x="661416" y="446786"/>
                  </a:moveTo>
                  <a:lnTo>
                    <a:pt x="635508" y="446786"/>
                  </a:lnTo>
                  <a:lnTo>
                    <a:pt x="635508" y="0"/>
                  </a:lnTo>
                  <a:lnTo>
                    <a:pt x="611124" y="0"/>
                  </a:lnTo>
                  <a:lnTo>
                    <a:pt x="611124" y="446786"/>
                  </a:lnTo>
                  <a:lnTo>
                    <a:pt x="585216" y="446786"/>
                  </a:lnTo>
                  <a:lnTo>
                    <a:pt x="623316" y="522986"/>
                  </a:lnTo>
                  <a:lnTo>
                    <a:pt x="655066" y="459486"/>
                  </a:lnTo>
                  <a:lnTo>
                    <a:pt x="661416" y="446786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09415" y="3480815"/>
            <a:ext cx="542543" cy="23774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72000" y="3483864"/>
            <a:ext cx="381000" cy="234696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6E8B6823-8D4A-8ED9-FBE3-3D7006AAE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Ingeniería de Sistemas - UNCP">
            <a:extLst>
              <a:ext uri="{FF2B5EF4-FFF2-40B4-BE49-F238E27FC236}">
                <a16:creationId xmlns:a16="http://schemas.microsoft.com/office/drawing/2014/main" id="{AC33F10A-EBD5-BE13-A673-C46567A41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30" dirty="0"/>
              <a:t> </a:t>
            </a:r>
            <a:r>
              <a:rPr dirty="0"/>
              <a:t>Neuronales</a:t>
            </a:r>
            <a:r>
              <a:rPr spc="-10" dirty="0"/>
              <a:t> Profundas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1512569"/>
            <a:ext cx="4302760" cy="8870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90"/>
              </a:spcBef>
              <a:buChar char="•"/>
              <a:tabLst>
                <a:tab pos="205740" algn="l"/>
              </a:tabLst>
            </a:pPr>
            <a:r>
              <a:rPr sz="2000" spc="-10" dirty="0">
                <a:latin typeface="Arial MT"/>
                <a:cs typeface="Arial MT"/>
              </a:rPr>
              <a:t>Entrada:</a:t>
            </a:r>
            <a:endParaRPr sz="2000">
              <a:latin typeface="Arial MT"/>
              <a:cs typeface="Arial MT"/>
            </a:endParaRPr>
          </a:p>
          <a:p>
            <a:pPr marL="205740" indent="-193040">
              <a:lnSpc>
                <a:spcPct val="100000"/>
              </a:lnSpc>
              <a:spcBef>
                <a:spcPts val="199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Propagación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hacia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adelante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(capa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l</a:t>
            </a:r>
            <a:r>
              <a:rPr sz="2000" spc="-2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3680586"/>
            <a:ext cx="389064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90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Propagación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hacia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atrás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(capa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l</a:t>
            </a:r>
            <a:r>
              <a:rPr sz="2000" spc="-2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1682" y="936751"/>
            <a:ext cx="204152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Con</a:t>
            </a:r>
            <a:r>
              <a:rPr sz="2000" b="1" spc="-2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2092FA"/>
                </a:solidFill>
                <a:latin typeface="Times New Roman"/>
                <a:cs typeface="Times New Roman"/>
              </a:rPr>
              <a:t>n</a:t>
            </a:r>
            <a:r>
              <a:rPr sz="2000" b="1" i="1" spc="45" dirty="0">
                <a:solidFill>
                  <a:srgbClr val="2092FA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Instancias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383" y="2639567"/>
            <a:ext cx="2371343" cy="2499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8383" y="3096767"/>
            <a:ext cx="1545336" cy="2956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1703" y="4236720"/>
            <a:ext cx="2481072" cy="31699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7591" y="4742688"/>
            <a:ext cx="2322576" cy="32613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7800" y="5257800"/>
            <a:ext cx="2014727" cy="3291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3000" y="5779008"/>
            <a:ext cx="2130552" cy="24079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91639" y="1557527"/>
            <a:ext cx="1801367" cy="24079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74920" y="2612135"/>
            <a:ext cx="3630168" cy="32003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74920" y="3108960"/>
            <a:ext cx="3669791" cy="320039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3781044" y="5370576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43243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432435" h="76200">
                <a:moveTo>
                  <a:pt x="432053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432053" y="44450"/>
                </a:lnTo>
                <a:lnTo>
                  <a:pt x="432053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87977" y="5280405"/>
            <a:ext cx="22237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En</a:t>
            </a:r>
            <a:r>
              <a:rPr sz="14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Python: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ourier New"/>
                <a:cs typeface="Courier New"/>
              </a:rPr>
              <a:t>1/n*np.sum(dZ,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6686651" y="5304790"/>
            <a:ext cx="6654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E7E7E"/>
                </a:solidFill>
                <a:latin typeface="Courier New"/>
                <a:cs typeface="Courier New"/>
              </a:rPr>
              <a:t>axis=1,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24673" y="5304790"/>
            <a:ext cx="1306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E7E7E"/>
                </a:solidFill>
                <a:latin typeface="Courier New"/>
                <a:cs typeface="Courier New"/>
              </a:rPr>
              <a:t>keepdims=True)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3448F1C8-E234-86FB-2A68-ACD01B5B8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Ingeniería de Sistemas - UNCP">
            <a:extLst>
              <a:ext uri="{FF2B5EF4-FFF2-40B4-BE49-F238E27FC236}">
                <a16:creationId xmlns:a16="http://schemas.microsoft.com/office/drawing/2014/main" id="{76AA1373-4697-D2C9-24B4-1939D0014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30" dirty="0"/>
              <a:t> </a:t>
            </a:r>
            <a:r>
              <a:rPr dirty="0"/>
              <a:t>Neuronales</a:t>
            </a:r>
            <a:r>
              <a:rPr spc="-10" dirty="0"/>
              <a:t> Profundas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6994" y="936751"/>
            <a:ext cx="8314055" cy="4754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6515" algn="ctr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Con</a:t>
            </a:r>
            <a:r>
              <a:rPr sz="2000" b="1" spc="-2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2092FA"/>
                </a:solidFill>
                <a:latin typeface="Times New Roman"/>
                <a:cs typeface="Times New Roman"/>
              </a:rPr>
              <a:t>n</a:t>
            </a:r>
            <a:r>
              <a:rPr sz="2000" b="1" i="1" spc="45" dirty="0">
                <a:solidFill>
                  <a:srgbClr val="2092FA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Instancias</a:t>
            </a:r>
            <a:endParaRPr sz="2000">
              <a:latin typeface="Arial"/>
              <a:cs typeface="Arial"/>
            </a:endParaRPr>
          </a:p>
          <a:p>
            <a:pPr marL="2565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56540" algn="l"/>
              </a:tabLst>
            </a:pP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Inicialización</a:t>
            </a:r>
            <a:endParaRPr sz="2000">
              <a:latin typeface="Arial MT"/>
              <a:cs typeface="Arial MT"/>
            </a:endParaRPr>
          </a:p>
          <a:p>
            <a:pPr marL="438150" lvl="1" indent="-158750">
              <a:lnSpc>
                <a:spcPct val="100000"/>
              </a:lnSpc>
              <a:spcBef>
                <a:spcPts val="440"/>
              </a:spcBef>
              <a:buChar char="-"/>
              <a:tabLst>
                <a:tab pos="438150" algn="l"/>
              </a:tabLst>
            </a:pP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pesos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W</a:t>
            </a:r>
            <a:r>
              <a:rPr sz="1800" baseline="25462" dirty="0">
                <a:latin typeface="Times New Roman"/>
                <a:cs typeface="Times New Roman"/>
              </a:rPr>
              <a:t>[</a:t>
            </a:r>
            <a:r>
              <a:rPr sz="1800" i="1" baseline="25462" dirty="0">
                <a:latin typeface="Times New Roman"/>
                <a:cs typeface="Times New Roman"/>
              </a:rPr>
              <a:t>l</a:t>
            </a:r>
            <a:r>
              <a:rPr sz="1800" baseline="25462" dirty="0">
                <a:latin typeface="Times New Roman"/>
                <a:cs typeface="Times New Roman"/>
              </a:rPr>
              <a:t>]</a:t>
            </a:r>
            <a:r>
              <a:rPr sz="1800" spc="277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deben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inicializarse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aleatoriamente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valores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pequeños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(si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se</a:t>
            </a:r>
            <a:endParaRPr sz="1600">
              <a:latin typeface="Arial MT"/>
              <a:cs typeface="Arial MT"/>
            </a:endParaRPr>
          </a:p>
          <a:p>
            <a:pPr marL="438150">
              <a:lnSpc>
                <a:spcPct val="100000"/>
              </a:lnSpc>
              <a:spcBef>
                <a:spcPts val="10"/>
              </a:spcBef>
            </a:pP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inicializan</a:t>
            </a:r>
            <a:r>
              <a:rPr sz="1600" spc="-8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con</a:t>
            </a:r>
            <a:r>
              <a:rPr sz="1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0, las</a:t>
            </a:r>
            <a:r>
              <a:rPr sz="16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neuronas</a:t>
            </a:r>
            <a:r>
              <a:rPr sz="16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tendrían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los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mismos</a:t>
            </a:r>
            <a:r>
              <a:rPr sz="1600" spc="-8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pesos: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“simetría”)</a:t>
            </a:r>
            <a:endParaRPr sz="1600">
              <a:latin typeface="Arial MT"/>
              <a:cs typeface="Arial MT"/>
            </a:endParaRPr>
          </a:p>
          <a:p>
            <a:pPr marL="437515" lvl="1" indent="-158115">
              <a:lnSpc>
                <a:spcPct val="100000"/>
              </a:lnSpc>
              <a:spcBef>
                <a:spcPts val="425"/>
              </a:spcBef>
              <a:buChar char="-"/>
              <a:tabLst>
                <a:tab pos="437515" algn="l"/>
              </a:tabLst>
            </a:pPr>
            <a:r>
              <a:rPr sz="1800" dirty="0">
                <a:latin typeface="Arial MT"/>
                <a:cs typeface="Arial MT"/>
              </a:rPr>
              <a:t>En la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propagación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hacia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adelante,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baseline="25462" dirty="0">
                <a:latin typeface="Times New Roman"/>
                <a:cs typeface="Times New Roman"/>
              </a:rPr>
              <a:t>[0]</a:t>
            </a:r>
            <a:r>
              <a:rPr sz="1800" spc="292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spc="60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(la</a:t>
            </a:r>
            <a:r>
              <a:rPr sz="1600" spc="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entrada)</a:t>
            </a:r>
            <a:endParaRPr sz="1600">
              <a:latin typeface="Arial MT"/>
              <a:cs typeface="Arial MT"/>
            </a:endParaRPr>
          </a:p>
          <a:p>
            <a:pPr marL="437515" lvl="1" indent="-158115">
              <a:lnSpc>
                <a:spcPct val="100000"/>
              </a:lnSpc>
              <a:spcBef>
                <a:spcPts val="434"/>
              </a:spcBef>
              <a:buChar char="-"/>
              <a:tabLst>
                <a:tab pos="437515" algn="l"/>
              </a:tabLst>
            </a:pPr>
            <a:r>
              <a:rPr sz="1800" dirty="0">
                <a:latin typeface="Arial MT"/>
                <a:cs typeface="Arial MT"/>
              </a:rPr>
              <a:t>En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propagación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hacia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atrás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dA</a:t>
            </a:r>
            <a:r>
              <a:rPr sz="1800" baseline="25462" dirty="0">
                <a:latin typeface="Times New Roman"/>
                <a:cs typeface="Times New Roman"/>
              </a:rPr>
              <a:t>[</a:t>
            </a:r>
            <a:r>
              <a:rPr sz="1800" i="1" baseline="25462" dirty="0">
                <a:latin typeface="Times New Roman"/>
                <a:cs typeface="Times New Roman"/>
              </a:rPr>
              <a:t>l</a:t>
            </a:r>
            <a:r>
              <a:rPr sz="1800" baseline="25462" dirty="0">
                <a:latin typeface="Times New Roman"/>
                <a:cs typeface="Times New Roman"/>
              </a:rPr>
              <a:t>]</a:t>
            </a:r>
            <a:r>
              <a:rPr sz="1800" spc="247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usa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derivada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directa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80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256540" indent="-193040">
              <a:lnSpc>
                <a:spcPct val="100000"/>
              </a:lnSpc>
              <a:spcBef>
                <a:spcPts val="5"/>
              </a:spcBef>
              <a:buChar char="•"/>
              <a:tabLst>
                <a:tab pos="25654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En</a:t>
            </a:r>
            <a:r>
              <a:rPr sz="20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cada</a:t>
            </a:r>
            <a:r>
              <a:rPr sz="20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iteración</a:t>
            </a:r>
            <a:endParaRPr sz="2000">
              <a:latin typeface="Arial MT"/>
              <a:cs typeface="Arial MT"/>
            </a:endParaRPr>
          </a:p>
          <a:p>
            <a:pPr marL="438150" lvl="1" indent="-158750">
              <a:lnSpc>
                <a:spcPct val="100000"/>
              </a:lnSpc>
              <a:spcBef>
                <a:spcPts val="1205"/>
              </a:spcBef>
              <a:buChar char="-"/>
              <a:tabLst>
                <a:tab pos="438150" algn="l"/>
              </a:tabLst>
            </a:pPr>
            <a:r>
              <a:rPr sz="1800" dirty="0">
                <a:latin typeface="Arial MT"/>
                <a:cs typeface="Arial MT"/>
              </a:rPr>
              <a:t>Propagación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hacia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adelante: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l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(capa</a:t>
            </a:r>
            <a:r>
              <a:rPr sz="14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1)</a:t>
            </a:r>
            <a:r>
              <a:rPr sz="1400" spc="1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hasta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l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L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(última</a:t>
            </a:r>
            <a:r>
              <a:rPr sz="14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capa)</a:t>
            </a:r>
            <a:endParaRPr sz="1400">
              <a:latin typeface="Arial MT"/>
              <a:cs typeface="Arial MT"/>
            </a:endParaRPr>
          </a:p>
          <a:p>
            <a:pPr marL="437515" lvl="1" indent="-158115">
              <a:lnSpc>
                <a:spcPct val="100000"/>
              </a:lnSpc>
              <a:spcBef>
                <a:spcPts val="890"/>
              </a:spcBef>
              <a:buChar char="-"/>
              <a:tabLst>
                <a:tab pos="437515" algn="l"/>
              </a:tabLst>
            </a:pPr>
            <a:r>
              <a:rPr sz="1800" dirty="0">
                <a:latin typeface="Arial MT"/>
                <a:cs typeface="Arial MT"/>
              </a:rPr>
              <a:t>Cálculo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 costo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J</a:t>
            </a:r>
            <a:endParaRPr sz="1800">
              <a:latin typeface="Times New Roman"/>
              <a:cs typeface="Times New Roman"/>
            </a:endParaRPr>
          </a:p>
          <a:p>
            <a:pPr marL="438150" lvl="1" indent="-158750">
              <a:lnSpc>
                <a:spcPct val="100000"/>
              </a:lnSpc>
              <a:spcBef>
                <a:spcPts val="915"/>
              </a:spcBef>
              <a:buChar char="-"/>
              <a:tabLst>
                <a:tab pos="438150" algn="l"/>
              </a:tabLst>
            </a:pPr>
            <a:r>
              <a:rPr sz="1800" dirty="0">
                <a:latin typeface="Arial MT"/>
                <a:cs typeface="Arial MT"/>
              </a:rPr>
              <a:t>Propagación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hacia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atrás: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l</a:t>
            </a:r>
            <a:r>
              <a:rPr sz="1800" i="1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L</a:t>
            </a:r>
            <a:r>
              <a:rPr sz="1800" i="1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hasta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l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661035" lvl="2" indent="-222885">
              <a:lnSpc>
                <a:spcPct val="100000"/>
              </a:lnSpc>
              <a:spcBef>
                <a:spcPts val="370"/>
              </a:spcBef>
              <a:buChar char="•"/>
              <a:tabLst>
                <a:tab pos="661035" algn="l"/>
              </a:tabLst>
            </a:pPr>
            <a:r>
              <a:rPr sz="1600" dirty="0">
                <a:latin typeface="Arial MT"/>
                <a:cs typeface="Arial MT"/>
              </a:rPr>
              <a:t>Calcula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dW</a:t>
            </a:r>
            <a:r>
              <a:rPr sz="1575" baseline="26455" dirty="0">
                <a:latin typeface="Times New Roman"/>
                <a:cs typeface="Times New Roman"/>
              </a:rPr>
              <a:t>[</a:t>
            </a:r>
            <a:r>
              <a:rPr sz="1575" i="1" baseline="26455" dirty="0">
                <a:latin typeface="Times New Roman"/>
                <a:cs typeface="Times New Roman"/>
              </a:rPr>
              <a:t>l</a:t>
            </a:r>
            <a:r>
              <a:rPr sz="1575" baseline="26455" dirty="0">
                <a:latin typeface="Times New Roman"/>
                <a:cs typeface="Times New Roman"/>
              </a:rPr>
              <a:t>]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db</a:t>
            </a:r>
            <a:r>
              <a:rPr sz="1575" baseline="26455" dirty="0">
                <a:latin typeface="Times New Roman"/>
                <a:cs typeface="Times New Roman"/>
              </a:rPr>
              <a:t>[</a:t>
            </a:r>
            <a:r>
              <a:rPr sz="1575" i="1" baseline="26455" dirty="0">
                <a:latin typeface="Times New Roman"/>
                <a:cs typeface="Times New Roman"/>
              </a:rPr>
              <a:t>l</a:t>
            </a:r>
            <a:r>
              <a:rPr sz="1575" baseline="26455" dirty="0">
                <a:latin typeface="Times New Roman"/>
                <a:cs typeface="Times New Roman"/>
              </a:rPr>
              <a:t>]</a:t>
            </a:r>
            <a:r>
              <a:rPr sz="1575" spc="217" baseline="264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para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cada</a:t>
            </a:r>
            <a:r>
              <a:rPr sz="1600" spc="-20" dirty="0">
                <a:latin typeface="Arial MT"/>
                <a:cs typeface="Arial MT"/>
              </a:rPr>
              <a:t> capa</a:t>
            </a:r>
            <a:endParaRPr sz="1600">
              <a:latin typeface="Arial MT"/>
              <a:cs typeface="Arial MT"/>
            </a:endParaRPr>
          </a:p>
          <a:p>
            <a:pPr marL="438150" lvl="1" indent="-158750">
              <a:lnSpc>
                <a:spcPct val="100000"/>
              </a:lnSpc>
              <a:spcBef>
                <a:spcPts val="900"/>
              </a:spcBef>
              <a:buChar char="-"/>
              <a:tabLst>
                <a:tab pos="438150" algn="l"/>
              </a:tabLst>
            </a:pPr>
            <a:r>
              <a:rPr sz="1800" dirty="0">
                <a:latin typeface="Arial MT"/>
                <a:cs typeface="Arial MT"/>
              </a:rPr>
              <a:t>Actualización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pesos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capa: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9079" y="6248400"/>
            <a:ext cx="1581912" cy="2682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2776" y="5836920"/>
            <a:ext cx="2011679" cy="2712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6356F7E3-6BE4-9A60-D3AD-0AC535B01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C5AF3330-7BD2-1235-D85A-E7000DD43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10795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</a:tabLst>
            </a:pPr>
            <a:r>
              <a:rPr i="0" dirty="0">
                <a:latin typeface="Calibri"/>
                <a:cs typeface="Calibri"/>
              </a:rPr>
              <a:t>Bishop,</a:t>
            </a:r>
            <a:r>
              <a:rPr i="0" spc="-9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C.</a:t>
            </a:r>
            <a:r>
              <a:rPr i="0" spc="-6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(2006)</a:t>
            </a:r>
            <a:r>
              <a:rPr i="0" spc="-90" dirty="0">
                <a:latin typeface="Calibri"/>
                <a:cs typeface="Calibri"/>
              </a:rPr>
              <a:t> </a:t>
            </a:r>
            <a:r>
              <a:rPr spc="-10" dirty="0"/>
              <a:t>Pattern</a:t>
            </a:r>
            <a:r>
              <a:rPr spc="-80" dirty="0"/>
              <a:t> </a:t>
            </a:r>
            <a:r>
              <a:rPr dirty="0"/>
              <a:t>recognition</a:t>
            </a:r>
            <a:r>
              <a:rPr spc="-2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machine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i="0" spc="-10" dirty="0">
                <a:latin typeface="Calibri"/>
                <a:cs typeface="Calibri"/>
              </a:rPr>
              <a:t>. Springer</a:t>
            </a:r>
          </a:p>
          <a:p>
            <a:pPr>
              <a:lnSpc>
                <a:spcPct val="100000"/>
              </a:lnSpc>
              <a:spcBef>
                <a:spcPts val="1105"/>
              </a:spcBef>
              <a:buFont typeface="Arial MT"/>
              <a:buChar char="•"/>
            </a:pPr>
            <a:endParaRPr i="0" spc="-10" dirty="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i="0" dirty="0">
                <a:latin typeface="Calibri"/>
                <a:cs typeface="Calibri"/>
              </a:rPr>
              <a:t>Hastie,</a:t>
            </a:r>
            <a:r>
              <a:rPr i="0" spc="-50" dirty="0">
                <a:latin typeface="Calibri"/>
                <a:cs typeface="Calibri"/>
              </a:rPr>
              <a:t> </a:t>
            </a:r>
            <a:r>
              <a:rPr i="0" spc="-70" dirty="0">
                <a:latin typeface="Calibri"/>
                <a:cs typeface="Calibri"/>
              </a:rPr>
              <a:t>T.,</a:t>
            </a:r>
            <a:r>
              <a:rPr i="0" spc="-55" dirty="0">
                <a:latin typeface="Calibri"/>
                <a:cs typeface="Calibri"/>
              </a:rPr>
              <a:t> </a:t>
            </a:r>
            <a:r>
              <a:rPr i="0" spc="-10" dirty="0">
                <a:latin typeface="Calibri"/>
                <a:cs typeface="Calibri"/>
              </a:rPr>
              <a:t>Tibshirani,</a:t>
            </a:r>
            <a:r>
              <a:rPr i="0" spc="-7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R.,</a:t>
            </a:r>
            <a:r>
              <a:rPr i="0" spc="-4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Friedman,</a:t>
            </a:r>
            <a:r>
              <a:rPr i="0" spc="-7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J.</a:t>
            </a:r>
            <a:r>
              <a:rPr i="0" spc="-6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(2009).</a:t>
            </a:r>
            <a:r>
              <a:rPr i="0" spc="-75" dirty="0">
                <a:latin typeface="Calibri"/>
                <a:cs typeface="Calibri"/>
              </a:rPr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elements</a:t>
            </a:r>
            <a:r>
              <a:rPr spc="-55" dirty="0"/>
              <a:t> </a:t>
            </a:r>
            <a:r>
              <a:rPr spc="-25" dirty="0"/>
              <a:t>of </a:t>
            </a:r>
            <a:r>
              <a:rPr spc="-10" dirty="0"/>
              <a:t>statistical</a:t>
            </a:r>
            <a:r>
              <a:rPr spc="-80" dirty="0"/>
              <a:t> </a:t>
            </a:r>
            <a:r>
              <a:rPr dirty="0"/>
              <a:t>learning</a:t>
            </a:r>
            <a:r>
              <a:rPr i="0" dirty="0">
                <a:latin typeface="Calibri"/>
                <a:cs typeface="Calibri"/>
              </a:rPr>
              <a:t>.</a:t>
            </a:r>
            <a:r>
              <a:rPr i="0" spc="-1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Springer</a:t>
            </a:r>
            <a:r>
              <a:rPr i="0" spc="-8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Science</a:t>
            </a:r>
            <a:r>
              <a:rPr i="0" spc="-6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&amp;</a:t>
            </a:r>
            <a:r>
              <a:rPr i="0" spc="-5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Business</a:t>
            </a:r>
            <a:r>
              <a:rPr i="0" spc="-85" dirty="0">
                <a:latin typeface="Calibri"/>
                <a:cs typeface="Calibri"/>
              </a:rPr>
              <a:t> </a:t>
            </a:r>
            <a:r>
              <a:rPr i="0" spc="-10" dirty="0">
                <a:latin typeface="Calibri"/>
                <a:cs typeface="Calibri"/>
              </a:rPr>
              <a:t>Media.</a:t>
            </a:r>
          </a:p>
          <a:p>
            <a:pPr>
              <a:lnSpc>
                <a:spcPct val="100000"/>
              </a:lnSpc>
              <a:spcBef>
                <a:spcPts val="1105"/>
              </a:spcBef>
              <a:buFont typeface="Arial MT"/>
              <a:buChar char="•"/>
            </a:pPr>
            <a:endParaRPr i="0" spc="-10" dirty="0">
              <a:latin typeface="Calibri"/>
              <a:cs typeface="Calibri"/>
            </a:endParaRPr>
          </a:p>
          <a:p>
            <a:pPr marL="356870" marR="996950" indent="-3448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</a:tabLst>
            </a:pPr>
            <a:r>
              <a:rPr i="0" spc="-30" dirty="0">
                <a:latin typeface="Calibri"/>
                <a:cs typeface="Calibri"/>
              </a:rPr>
              <a:t>Murphy,</a:t>
            </a:r>
            <a:r>
              <a:rPr i="0" spc="-8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K.</a:t>
            </a:r>
            <a:r>
              <a:rPr i="0" spc="-7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(2012).</a:t>
            </a:r>
            <a:r>
              <a:rPr i="0" spc="-75" dirty="0">
                <a:latin typeface="Calibri"/>
                <a:cs typeface="Calibri"/>
              </a:rPr>
              <a:t> </a:t>
            </a:r>
            <a:r>
              <a:rPr dirty="0"/>
              <a:t>Machine</a:t>
            </a:r>
            <a:r>
              <a:rPr spc="-35" dirty="0"/>
              <a:t> </a:t>
            </a:r>
            <a:r>
              <a:rPr dirty="0"/>
              <a:t>Learning,</a:t>
            </a:r>
            <a:r>
              <a:rPr spc="-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Probabilistic Perspective</a:t>
            </a:r>
            <a:r>
              <a:rPr i="0" spc="-10" dirty="0">
                <a:latin typeface="Calibri"/>
                <a:cs typeface="Calibri"/>
              </a:rPr>
              <a:t>.</a:t>
            </a:r>
            <a:r>
              <a:rPr i="0" spc="-5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The</a:t>
            </a:r>
            <a:r>
              <a:rPr i="0" spc="-2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MIT</a:t>
            </a:r>
            <a:r>
              <a:rPr i="0" spc="-25" dirty="0">
                <a:latin typeface="Calibri"/>
                <a:cs typeface="Calibri"/>
              </a:rPr>
              <a:t> </a:t>
            </a:r>
            <a:r>
              <a:rPr i="0" spc="-10" dirty="0">
                <a:latin typeface="Calibri"/>
                <a:cs typeface="Calibri"/>
              </a:rPr>
              <a:t>Press.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82670" y="829436"/>
            <a:ext cx="1977389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10" dirty="0"/>
              <a:t>Referencias</a:t>
            </a:r>
            <a:endParaRPr sz="270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0129A91-7F63-B90B-E6A9-F1EBFB0DB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ngeniería de Sistemas - UNCP">
            <a:extLst>
              <a:ext uri="{FF2B5EF4-FFF2-40B4-BE49-F238E27FC236}">
                <a16:creationId xmlns:a16="http://schemas.microsoft.com/office/drawing/2014/main" id="{AE9EFC0D-08BF-A3E9-00AB-F879ECFFD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Words>2336</Words>
  <Application>Microsoft Office PowerPoint</Application>
  <PresentationFormat>Presentación en pantalla (4:3)</PresentationFormat>
  <Paragraphs>411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0" baseType="lpstr">
      <vt:lpstr>Arial</vt:lpstr>
      <vt:lpstr>Arial MT</vt:lpstr>
      <vt:lpstr>Calibri</vt:lpstr>
      <vt:lpstr>Cambria Math</vt:lpstr>
      <vt:lpstr>Courier New</vt:lpstr>
      <vt:lpstr>Symbol</vt:lpstr>
      <vt:lpstr>Times New Roman</vt:lpstr>
      <vt:lpstr>Office Theme</vt:lpstr>
      <vt:lpstr>Redes Neuronales (I)</vt:lpstr>
      <vt:lpstr>Temas</vt:lpstr>
      <vt:lpstr>Redes Neuronales</vt:lpstr>
      <vt:lpstr>Redes Neuronales</vt:lpstr>
      <vt:lpstr>Redes Neuronales</vt:lpstr>
      <vt:lpstr>Redes Neuronales</vt:lpstr>
      <vt:lpstr>Redes Neuronales</vt:lpstr>
      <vt:lpstr>Temas</vt:lpstr>
      <vt:lpstr>Redes Neuronales Simples</vt:lpstr>
      <vt:lpstr>Redes Neuronales Simples</vt:lpstr>
      <vt:lpstr>Redes Neuronales Simples</vt:lpstr>
      <vt:lpstr>Redes Neuronales Simples</vt:lpstr>
      <vt:lpstr>Redes Neuronales Simples</vt:lpstr>
      <vt:lpstr>Redes Neuronales Simples</vt:lpstr>
      <vt:lpstr>Redes Neuronales Simples</vt:lpstr>
      <vt:lpstr>Redes Neuronales Simples</vt:lpstr>
      <vt:lpstr>Redes Neuronales Simples</vt:lpstr>
      <vt:lpstr>Redes Neuronales Simples</vt:lpstr>
      <vt:lpstr>Redes Neuronales Simples</vt:lpstr>
      <vt:lpstr>Temas</vt:lpstr>
      <vt:lpstr>Backpropagation</vt:lpstr>
      <vt:lpstr>Backpropagation</vt:lpstr>
      <vt:lpstr>Backpropagation</vt:lpstr>
      <vt:lpstr>Temas</vt:lpstr>
      <vt:lpstr>Redes Neuronales Profundas</vt:lpstr>
      <vt:lpstr>Redes Neuronales Profundas</vt:lpstr>
      <vt:lpstr>Redes Neuronales Profundas</vt:lpstr>
      <vt:lpstr>Redes Neuronales Profundas</vt:lpstr>
      <vt:lpstr>Redes Neuronales Profundas</vt:lpstr>
      <vt:lpstr>Redes Neuronales Profundas</vt:lpstr>
      <vt:lpstr>Redes Neuronales Profundas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JAIME ANTONIO HUAYTALLA PARIONA</cp:lastModifiedBy>
  <cp:revision>4</cp:revision>
  <dcterms:created xsi:type="dcterms:W3CDTF">2025-04-09T17:53:09Z</dcterms:created>
  <dcterms:modified xsi:type="dcterms:W3CDTF">2025-04-23T19:02:19Z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2025-04-09T00:00:00Z</vt:filetime>
  </property>
  <property fmtid="{D5CDD505-2E9C-101B-9397-08002B2CF9AE}" pid="5" name="Producer">
    <vt:lpwstr>Microsoft® PowerPoint® 2016</vt:lpwstr>
  </property>
</Properties>
</file>